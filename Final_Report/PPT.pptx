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1" r:id="rId4"/>
    <p:sldId id="281" r:id="rId5"/>
    <p:sldId id="280" r:id="rId6"/>
    <p:sldId id="279" r:id="rId7"/>
    <p:sldId id="287" r:id="rId8"/>
    <p:sldId id="278" r:id="rId9"/>
    <p:sldId id="290" r:id="rId10"/>
    <p:sldId id="288" r:id="rId11"/>
    <p:sldId id="277" r:id="rId12"/>
    <p:sldId id="304" r:id="rId13"/>
    <p:sldId id="305" r:id="rId14"/>
    <p:sldId id="295" r:id="rId15"/>
    <p:sldId id="296" r:id="rId16"/>
    <p:sldId id="297" r:id="rId17"/>
    <p:sldId id="289" r:id="rId18"/>
    <p:sldId id="301" r:id="rId19"/>
    <p:sldId id="302" r:id="rId20"/>
    <p:sldId id="291" r:id="rId21"/>
    <p:sldId id="286" r:id="rId22"/>
    <p:sldId id="275" r:id="rId23"/>
    <p:sldId id="265" r:id="rId24"/>
    <p:sldId id="283" r:id="rId25"/>
    <p:sldId id="284" r:id="rId26"/>
    <p:sldId id="306" r:id="rId27"/>
    <p:sldId id="308" r:id="rId28"/>
    <p:sldId id="285" r:id="rId29"/>
    <p:sldId id="272" r:id="rId30"/>
  </p:sldIdLst>
  <p:sldSz cx="18288000" cy="10287000"/>
  <p:notesSz cx="6858000" cy="9144000"/>
  <p:embeddedFontLst>
    <p:embeddedFont>
      <p:font typeface="Cambria Math" panose="02040503050406030204" pitchFamily="18" charset="0"/>
      <p:regular r:id="rId32"/>
    </p:embeddedFont>
    <p:embeddedFont>
      <p:font typeface="Helios" panose="020B0604020202020204" charset="0"/>
      <p:regular r:id="rId33"/>
    </p:embeddedFont>
    <p:embeddedFont>
      <p:font typeface="Helios Bold" panose="020B0604020202020204" charset="0"/>
      <p:regular r:id="rId34"/>
    </p:embeddedFont>
    <p:embeddedFont>
      <p:font typeface="Helvetica" panose="020B0604020202020204" pitchFamily="34" charset="0"/>
      <p:regular r:id="rId35"/>
      <p:bold r:id="rId36"/>
      <p:italic r:id="rId37"/>
      <p:boldItalic r:id="rId38"/>
    </p:embeddedFont>
    <p:embeddedFont>
      <p:font typeface="Klein Bold" panose="020B0604020202020204" charset="0"/>
      <p:regular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Nunito" pitchFamily="2" charset="0"/>
      <p:regular r:id="rId44"/>
      <p:bold r:id="rId45"/>
      <p:italic r:id="rId46"/>
      <p:boldItalic r:id="rId47"/>
    </p:embeddedFont>
    <p:embeddedFont>
      <p:font typeface="Open Sans" panose="020B0606030504020204" pitchFamily="34" charset="0"/>
      <p:regular r:id="rId48"/>
      <p:bold r:id="rId49"/>
      <p:italic r:id="rId50"/>
      <p:boldItalic r:id="rId51"/>
    </p:embeddedFont>
    <p:embeddedFont>
      <p:font typeface="Segoe UI" panose="020B0502040204020203" pitchFamily="34" charset="0"/>
      <p:regular r:id="rId52"/>
      <p:bold r:id="rId53"/>
      <p:italic r:id="rId54"/>
      <p:boldItalic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4476B-9C50-AFCC-0B70-EEF168078D6B}" v="4" dt="2025-10-14T05:03:10.867"/>
    <p1510:client id="{2C17EBC5-2CA9-F51E-7891-8C0E9E03FEE8}" v="1" dt="2025-10-14T08:59:58.555"/>
    <p1510:client id="{32B83345-C94C-88E3-25EA-501920735F82}" v="288" dt="2025-10-14T08:16:42.346"/>
    <p1510:client id="{782C34FE-A8BA-C108-EDC9-5EF67BF685F5}" v="489" dt="2025-10-14T09:24:13.218"/>
    <p1510:client id="{8D09841C-5F68-5B74-5BB1-5C52B42E876D}" v="47" dt="2025-10-14T08:13:09.490"/>
    <p1510:client id="{9597373B-4A20-419C-A782-A7253B1EAEB5}" v="491" dt="2025-10-14T09:28:13.897"/>
    <p1510:client id="{AA535346-ABEF-80C4-250E-1270F115BE14}" v="20" dt="2025-10-14T08:11:25.026"/>
    <p1510:client id="{C14FAC80-3B8F-A03E-EED0-14274177E2B7}" v="2" dt="2025-10-14T05:16:52.504"/>
    <p1510:client id="{C5349724-59F3-3C50-4F3A-43DA300E55AD}" v="33" dt="2025-10-14T08:17:59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font" Target="fonts/font2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font" Target="fonts/font22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Relationship Id="rId6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73A7D-0F8C-4E75-8BA1-4C5A027CE1FB}" type="datetimeFigureOut">
              <a:rPr lang="en-IN" smtClean="0"/>
              <a:t>15-10-2025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97B78-DB99-40FA-827D-0D9676A696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36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97B78-DB99-40FA-827D-0D9676A6961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281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97B78-DB99-40FA-827D-0D9676A6961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28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92C6-0FD9-0431-5A4D-513F5838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C843A2-AA2E-6368-6707-56719EE3E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2F7E7-7358-62BA-D152-51CE38D9C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9DEBF-9A84-801E-B1FF-9D2FAED05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97B78-DB99-40FA-827D-0D9676A6961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371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8248-1509-BEBB-96F5-36C147EE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7737-D18C-35F1-4C59-AB8C704AB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52DCE-79F3-402A-200C-453AF167F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D439A-BDFE-509F-8996-D578EE340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97B78-DB99-40FA-827D-0D9676A6961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283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7D93-5FD2-EEF9-3F31-F50546B6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BF825F-54B2-F131-7CC1-F17C586B5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18A8F-3186-51A3-9AD6-577AC4AC3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C420F-AC5B-E3A1-AE5A-F61D6BBB9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97B78-DB99-40FA-827D-0D9676A6961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88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37D3-7CA8-5D7D-C963-8335788CF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E7A75-F0B0-750D-ABB6-F5C75EDF2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3905F-CE62-A83B-33E4-2E6EDDB1A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B2371-15E7-93E0-E14B-6CA1DCF00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97B78-DB99-40FA-827D-0D9676A6961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284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67B28-1429-836D-40AB-95333471B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2FF4D-7A4B-96A5-5908-594E021F8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D6300-76FB-8743-B5A9-FA9FBDE54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94132-5A1C-D368-7F40-350BA36AE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97B78-DB99-40FA-827D-0D9676A6961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08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kaggle.com/datasets/anthonypino/melbourne-housing-marke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156339" y="-3692051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180156" y="4919524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18637" y="5817909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44000" y="2962881"/>
            <a:ext cx="811530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99"/>
              </a:lnSpc>
            </a:pPr>
            <a:endParaRPr lang="en-US" sz="12000" b="1">
              <a:latin typeface="Klein Bold"/>
              <a:ea typeface="Klein Bold"/>
              <a:cs typeface="Klein Bold"/>
              <a:sym typeface="Klein Bold"/>
            </a:endParaRPr>
          </a:p>
        </p:txBody>
      </p:sp>
      <p:pic>
        <p:nvPicPr>
          <p:cNvPr id="19" name="Picture 18" descr="A pink and black logo&#10;&#10;AI-generated content may be incorrect.">
            <a:extLst>
              <a:ext uri="{FF2B5EF4-FFF2-40B4-BE49-F238E27FC236}">
                <a16:creationId xmlns:a16="http://schemas.microsoft.com/office/drawing/2014/main" id="{6AC70A07-4929-4E43-AF46-7E25EE756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287" y="706807"/>
            <a:ext cx="7972425" cy="18002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97E311-5CD4-7DDF-DAEF-ADDA6C28B846}"/>
              </a:ext>
            </a:extLst>
          </p:cNvPr>
          <p:cNvSpPr txBox="1"/>
          <p:nvPr/>
        </p:nvSpPr>
        <p:spPr>
          <a:xfrm>
            <a:off x="4928273" y="3016465"/>
            <a:ext cx="11551622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300" b="1">
                <a:solidFill>
                  <a:srgbClr val="333333"/>
                </a:solidFill>
                <a:latin typeface="Open Sans"/>
                <a:ea typeface="+mn-lt"/>
                <a:cs typeface="+mn-lt"/>
              </a:rPr>
              <a:t>22MAT220         MATHEMATICS  FOR  COMPUTING  3 </a:t>
            </a:r>
            <a:endParaRPr lang="en-US" sz="3300" b="1">
              <a:latin typeface="Open Sans"/>
              <a:ea typeface="Calibri"/>
              <a:cs typeface="Calibri"/>
            </a:endParaRPr>
          </a:p>
          <a:p>
            <a:pPr algn="l"/>
            <a:endParaRPr lang="en-US" sz="3300">
              <a:ea typeface="Calibri"/>
              <a:cs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D4DC1-302A-4F05-8622-6998E575DB47}"/>
              </a:ext>
            </a:extLst>
          </p:cNvPr>
          <p:cNvSpPr txBox="1"/>
          <p:nvPr/>
        </p:nvSpPr>
        <p:spPr>
          <a:xfrm>
            <a:off x="3602118" y="4720017"/>
            <a:ext cx="12628117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Open Sans"/>
                <a:ea typeface="+mn-lt"/>
                <a:cs typeface="+mn-lt"/>
              </a:rPr>
              <a:t>Optimizing House Price Prediction Using Lasso and Ridge Regression with ADMM-Based Regularization</a:t>
            </a:r>
            <a:endParaRPr lang="en-US" sz="3200" b="1">
              <a:latin typeface="Open Sans"/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F49733-C1FE-FCAE-21AF-B904C328E4FC}"/>
              </a:ext>
            </a:extLst>
          </p:cNvPr>
          <p:cNvSpPr txBox="1"/>
          <p:nvPr/>
        </p:nvSpPr>
        <p:spPr>
          <a:xfrm>
            <a:off x="4145306" y="7794002"/>
            <a:ext cx="9769615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Open Sans"/>
                <a:ea typeface="Calibri"/>
                <a:cs typeface="Calibri"/>
              </a:rPr>
              <a:t>G Prajwal Priyadarshan  –  CB.SC.U4AIE24214</a:t>
            </a:r>
            <a:endParaRPr lang="en-US" sz="2800" b="1">
              <a:latin typeface="Open Sans"/>
              <a:ea typeface="Open Sans"/>
              <a:cs typeface="Open Sans"/>
            </a:endParaRPr>
          </a:p>
          <a:p>
            <a:r>
              <a:rPr lang="en-US" sz="2800" b="1">
                <a:latin typeface="Open Sans"/>
                <a:ea typeface="Calibri"/>
                <a:cs typeface="Calibri"/>
              </a:rPr>
              <a:t>Kabilan K                 –  CB.SC.U4AIE24224</a:t>
            </a:r>
            <a:endParaRPr lang="en-US" sz="2800" b="1">
              <a:latin typeface="Open Sans"/>
              <a:ea typeface="Open Sans"/>
              <a:cs typeface="Open Sans"/>
            </a:endParaRPr>
          </a:p>
          <a:p>
            <a:r>
              <a:rPr lang="en-US" sz="2800" b="1">
                <a:latin typeface="Open Sans"/>
                <a:ea typeface="Calibri"/>
                <a:cs typeface="Calibri"/>
              </a:rPr>
              <a:t>Kishore B                        </a:t>
            </a:r>
            <a:r>
              <a:rPr lang="en-US" sz="2800" b="1">
                <a:latin typeface="Calibri"/>
                <a:ea typeface="Calibri"/>
                <a:cs typeface="Calibri"/>
              </a:rPr>
              <a:t>     </a:t>
            </a:r>
            <a:r>
              <a:rPr lang="en-US" sz="2800" b="1">
                <a:latin typeface="Open Sans"/>
                <a:ea typeface="Open Sans"/>
                <a:cs typeface="Open Sans"/>
              </a:rPr>
              <a:t>–</a:t>
            </a:r>
            <a:r>
              <a:rPr lang="en-US" sz="2800" b="1">
                <a:latin typeface="Open Sans"/>
                <a:ea typeface="Calibri"/>
                <a:cs typeface="Calibri"/>
              </a:rPr>
              <a:t>  CB.SC.U4AIE24227</a:t>
            </a:r>
            <a:endParaRPr lang="en-US" sz="2800" b="1">
              <a:latin typeface="Open Sans"/>
              <a:ea typeface="Open Sans"/>
              <a:cs typeface="Open Sans"/>
            </a:endParaRPr>
          </a:p>
          <a:p>
            <a:r>
              <a:rPr lang="en-US" sz="2800" b="1">
                <a:latin typeface="Open Sans"/>
                <a:ea typeface="Calibri"/>
                <a:cs typeface="Calibri"/>
              </a:rPr>
              <a:t>Rahul LS                          </a:t>
            </a:r>
            <a:r>
              <a:rPr lang="en-US" sz="2800" b="1">
                <a:latin typeface="Calibri"/>
                <a:ea typeface="Calibri"/>
                <a:cs typeface="Calibri"/>
              </a:rPr>
              <a:t>     </a:t>
            </a:r>
            <a:r>
              <a:rPr lang="en-US" sz="2800" b="1">
                <a:latin typeface="Open Sans"/>
                <a:ea typeface="Open Sans"/>
                <a:cs typeface="Open Sans"/>
              </a:rPr>
              <a:t>–</a:t>
            </a:r>
            <a:r>
              <a:rPr lang="en-US" sz="2800" b="1">
                <a:latin typeface="Open Sans"/>
                <a:ea typeface="Calibri"/>
                <a:cs typeface="Calibri"/>
              </a:rPr>
              <a:t>  CB.SC.U4AIE24248</a:t>
            </a:r>
            <a:endParaRPr lang="en-US" sz="2800" b="1">
              <a:latin typeface="Open Sans"/>
            </a:endParaRPr>
          </a:p>
          <a:p>
            <a:endParaRPr lang="en-US" sz="16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CD1911-0A0D-8F09-DDB2-2FD61C998B17}"/>
              </a:ext>
            </a:extLst>
          </p:cNvPr>
          <p:cNvSpPr txBox="1"/>
          <p:nvPr/>
        </p:nvSpPr>
        <p:spPr>
          <a:xfrm>
            <a:off x="7326922" y="6330462"/>
            <a:ext cx="518746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latin typeface="Open Sans"/>
                <a:ea typeface="Open Sans"/>
                <a:cs typeface="Open Sans"/>
              </a:rPr>
              <a:t>AIE – C    Team – 7 </a:t>
            </a:r>
            <a:br>
              <a:rPr lang="en-US" sz="2800" b="1">
                <a:latin typeface="Open Sans"/>
                <a:ea typeface="Open Sans"/>
                <a:cs typeface="Open Sans"/>
              </a:rPr>
            </a:br>
            <a:endParaRPr lang="en-US" sz="2800"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-13447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8143" y="3519957"/>
            <a:ext cx="18288000" cy="6767043"/>
            <a:chOff x="0" y="-66675"/>
            <a:chExt cx="4816593" cy="17822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5591"/>
            </a:xfrm>
            <a:custGeom>
              <a:avLst/>
              <a:gdLst/>
              <a:ahLst/>
              <a:cxnLst/>
              <a:rect l="l" t="t" r="r" b="b"/>
              <a:pathLst>
                <a:path w="4816592" h="1715591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78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 b="1">
                <a:latin typeface="Open Sans"/>
                <a:ea typeface="Open Sans"/>
                <a:cs typeface="Open Sans"/>
              </a:endParaRPr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077609"/>
              </p:ext>
            </p:extLst>
          </p:nvPr>
        </p:nvGraphicFramePr>
        <p:xfrm>
          <a:off x="2104571" y="4644571"/>
          <a:ext cx="6532483" cy="4157103"/>
        </p:xfrm>
        <a:graphic>
          <a:graphicData uri="http://schemas.openxmlformats.org/drawingml/2006/table">
            <a:tbl>
              <a:tblPr/>
              <a:tblGrid>
                <a:gridCol w="5148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7611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50" b="1">
                          <a:solidFill>
                            <a:srgbClr val="2A2E3A"/>
                          </a:solidFill>
                          <a:latin typeface="Helios Bold"/>
                        </a:rPr>
                        <a:t>INTRODUCTION</a:t>
                      </a:r>
                      <a:endParaRPr lang="en-US" sz="1100" b="1">
                        <a:latin typeface="Helios Bold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3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50" b="1">
                          <a:solidFill>
                            <a:srgbClr val="2A2E3A"/>
                          </a:solidFill>
                          <a:latin typeface="Helios Bold"/>
                        </a:rPr>
                        <a:t>PROBLEM  STATEMENT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</a:rPr>
                        <a:t>5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50" b="1">
                          <a:solidFill>
                            <a:srgbClr val="2A2E3A"/>
                          </a:solidFill>
                          <a:latin typeface="Helios Bold"/>
                        </a:rPr>
                        <a:t>OPTIMIZATION  PROBLEM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</a:rPr>
                        <a:t>6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50" b="1">
                          <a:solidFill>
                            <a:srgbClr val="2A2E3A"/>
                          </a:solidFill>
                          <a:latin typeface="Helios Bold"/>
                        </a:rPr>
                        <a:t>LAGRANGIAN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6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50" b="1">
                          <a:solidFill>
                            <a:srgbClr val="2A2E3A"/>
                          </a:solidFill>
                          <a:latin typeface="Helios Bold"/>
                        </a:rPr>
                        <a:t>UPDATE  EQUATIONS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7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314569"/>
              </p:ext>
            </p:extLst>
          </p:nvPr>
        </p:nvGraphicFramePr>
        <p:xfrm>
          <a:off x="9647029" y="4645343"/>
          <a:ext cx="6604347" cy="4157103"/>
        </p:xfrm>
        <a:graphic>
          <a:graphicData uri="http://schemas.openxmlformats.org/drawingml/2006/table">
            <a:tbl>
              <a:tblPr/>
              <a:tblGrid>
                <a:gridCol w="521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50">
                          <a:solidFill>
                            <a:srgbClr val="2A2E3A"/>
                          </a:solidFill>
                          <a:latin typeface="Helios"/>
                        </a:rPr>
                        <a:t>DATASET DESCRIPTION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</a:rPr>
                        <a:t>21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</a:pPr>
                      <a:r>
                        <a:rPr lang="en-US" sz="2550">
                          <a:solidFill>
                            <a:srgbClr val="2A2E3A"/>
                          </a:solidFill>
                          <a:latin typeface="Helios"/>
                        </a:rPr>
                        <a:t>COMPUTATIONAL  DETAILS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</a:rPr>
                        <a:t>24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50">
                          <a:solidFill>
                            <a:srgbClr val="2A2E3A"/>
                          </a:solidFill>
                          <a:latin typeface="Helios"/>
                        </a:rPr>
                        <a:t>RESULTS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</a:rPr>
                        <a:t>25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50">
                          <a:solidFill>
                            <a:srgbClr val="2A2E3A"/>
                          </a:solidFill>
                          <a:latin typeface="Helios"/>
                        </a:rPr>
                        <a:t>REFERENCE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718BAB"/>
                          </a:solidFill>
                          <a:latin typeface="Helios Bold"/>
                        </a:rPr>
                        <a:t>27</a:t>
                      </a: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7611">
                <a:tc>
                  <a:txBody>
                    <a:bodyPr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endParaRPr lang="en-US" sz="2550">
                        <a:solidFill>
                          <a:srgbClr val="2A2E3A"/>
                        </a:solidFill>
                        <a:latin typeface="Helios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640"/>
                        </a:lnSpc>
                        <a:defRPr/>
                      </a:pPr>
                      <a:endParaRPr lang="en-US" sz="2600" b="1">
                        <a:solidFill>
                          <a:srgbClr val="718BAB"/>
                        </a:solidFill>
                        <a:latin typeface="Helios Bold"/>
                      </a:endParaRPr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4639504" y="1391465"/>
            <a:ext cx="9008992" cy="102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4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INDEX</a:t>
            </a:r>
            <a:endParaRPr lang="en-US" sz="4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8333203" y="-1109791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333203" y="967874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INTRODUCTION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DB1CFA-83F0-04F4-0553-C495C1675F22}"/>
              </a:ext>
            </a:extLst>
          </p:cNvPr>
          <p:cNvSpPr txBox="1"/>
          <p:nvPr/>
        </p:nvSpPr>
        <p:spPr>
          <a:xfrm>
            <a:off x="1042696" y="2357401"/>
            <a:ext cx="16705815" cy="7294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§"/>
            </a:pPr>
            <a:r>
              <a:rPr lang="en-US" sz="3600">
                <a:ea typeface="+mn-lt"/>
                <a:cs typeface="+mn-lt"/>
              </a:rPr>
              <a:t>Convex optimization has several applications, including communication networks, data analytics, economics, and statistics. This technique emerged as the most efficient method of optimization</a:t>
            </a:r>
          </a:p>
          <a:p>
            <a:pPr marL="571500" indent="-571500">
              <a:buFont typeface="Wingdings"/>
              <a:buChar char="§"/>
            </a:pPr>
            <a:endParaRPr lang="en-US" sz="3600">
              <a:ea typeface="+mn-lt"/>
              <a:cs typeface="+mn-lt"/>
            </a:endParaRPr>
          </a:p>
          <a:p>
            <a:pPr marL="571500" indent="-571500">
              <a:buFont typeface="Wingdings"/>
              <a:buChar char="§"/>
            </a:pPr>
            <a:r>
              <a:rPr lang="en-US" sz="3600">
                <a:ea typeface="+mn-lt"/>
                <a:cs typeface="+mn-lt"/>
              </a:rPr>
              <a:t>It can be performed using a variety of algorithms like gradient descent, penalties, augmented </a:t>
            </a:r>
            <a:r>
              <a:rPr lang="en-US" sz="3600" err="1">
                <a:ea typeface="+mn-lt"/>
                <a:cs typeface="+mn-lt"/>
              </a:rPr>
              <a:t>Lagrangians</a:t>
            </a:r>
            <a:r>
              <a:rPr lang="en-US" sz="3600">
                <a:ea typeface="+mn-lt"/>
                <a:cs typeface="+mn-lt"/>
              </a:rPr>
              <a:t>, etc.</a:t>
            </a:r>
          </a:p>
          <a:p>
            <a:pPr marL="571500" indent="-571500">
              <a:buFont typeface="Wingdings"/>
              <a:buChar char="§"/>
            </a:pPr>
            <a:endParaRPr lang="en-US" sz="3600">
              <a:ea typeface="Calibri"/>
              <a:cs typeface="Calibri"/>
            </a:endParaRPr>
          </a:p>
          <a:p>
            <a:pPr marL="571500" indent="-571500">
              <a:buFont typeface="Wingdings"/>
              <a:buChar char="§"/>
            </a:pPr>
            <a:r>
              <a:rPr lang="en-US" sz="3600">
                <a:ea typeface="Calibri"/>
                <a:cs typeface="Calibri"/>
              </a:rPr>
              <a:t>Predicting house sale prices using supervised regression.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§"/>
            </a:pPr>
            <a:endParaRPr lang="en-US" sz="3600">
              <a:ea typeface="+mn-lt"/>
              <a:cs typeface="+mn-lt"/>
            </a:endParaRPr>
          </a:p>
          <a:p>
            <a:pPr marL="571500" indent="-571500">
              <a:buFont typeface="Wingdings"/>
              <a:buChar char="§"/>
            </a:pPr>
            <a:r>
              <a:rPr lang="en-US" sz="3600">
                <a:ea typeface="+mn-lt"/>
                <a:cs typeface="+mn-lt"/>
              </a:rPr>
              <a:t>Linear regression is a method used to find the best-fit line that predicts a target variable based on input features, but it can overfit when there are too many features or when they are highly correlated. </a:t>
            </a:r>
          </a:p>
          <a:p>
            <a:pPr marL="571500" indent="-571500">
              <a:buFont typeface="Wingdings"/>
              <a:buChar char="§"/>
            </a:pPr>
            <a:endParaRPr lang="en-US" sz="3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7588-2A55-7F2A-DE99-08FE9A45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2DA68AD-A5B6-E28B-C3CA-127B5136EBF3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F23E234-6CF5-5131-8C39-9F4B390C1E2A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INTRODUCTION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CAF254-CC3D-5200-2DFD-01E17980CB16}"/>
              </a:ext>
            </a:extLst>
          </p:cNvPr>
          <p:cNvSpPr txBox="1"/>
          <p:nvPr/>
        </p:nvSpPr>
        <p:spPr>
          <a:xfrm>
            <a:off x="884651" y="2148223"/>
            <a:ext cx="15979753" cy="84023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,Sans-Serif"/>
              <a:buChar char="§"/>
            </a:pPr>
            <a:r>
              <a:rPr lang="en-US" sz="3600" b="1">
                <a:solidFill>
                  <a:srgbClr val="273239"/>
                </a:solidFill>
                <a:latin typeface="Nunito"/>
                <a:ea typeface="+mn-lt"/>
                <a:cs typeface="+mn-lt"/>
              </a:rPr>
              <a:t>Ridge</a:t>
            </a:r>
            <a:r>
              <a:rPr lang="en-US" sz="3600">
                <a:solidFill>
                  <a:srgbClr val="273239"/>
                </a:solidFill>
                <a:latin typeface="Nunito"/>
                <a:ea typeface="+mn-lt"/>
                <a:cs typeface="+mn-lt"/>
              </a:rPr>
              <a:t> and </a:t>
            </a:r>
            <a:r>
              <a:rPr lang="en-US" sz="3600" b="1">
                <a:solidFill>
                  <a:srgbClr val="273239"/>
                </a:solidFill>
                <a:latin typeface="Nunito"/>
                <a:ea typeface="+mn-lt"/>
                <a:cs typeface="+mn-lt"/>
              </a:rPr>
              <a:t>Lasso</a:t>
            </a:r>
            <a:r>
              <a:rPr lang="en-US" sz="3600">
                <a:solidFill>
                  <a:srgbClr val="273239"/>
                </a:solidFill>
                <a:latin typeface="Nunito"/>
                <a:ea typeface="+mn-lt"/>
                <a:cs typeface="+mn-lt"/>
              </a:rPr>
              <a:t> Regression are two popular techniques in machine learning used for </a:t>
            </a:r>
            <a:r>
              <a:rPr lang="en-US" sz="3600" b="1">
                <a:solidFill>
                  <a:srgbClr val="273239"/>
                </a:solidFill>
                <a:latin typeface="Nunito"/>
                <a:ea typeface="+mn-lt"/>
                <a:cs typeface="+mn-lt"/>
              </a:rPr>
              <a:t>regularizing linear models to avoid overfitting and improve predictive performance</a:t>
            </a:r>
            <a:r>
              <a:rPr lang="en-US" sz="3600">
                <a:solidFill>
                  <a:srgbClr val="273239"/>
                </a:solidFill>
                <a:latin typeface="Nunito"/>
                <a:ea typeface="+mn-lt"/>
                <a:cs typeface="+mn-lt"/>
              </a:rPr>
              <a:t>.</a:t>
            </a:r>
            <a:endParaRPr lang="en-US" sz="3600">
              <a:latin typeface="Nunito"/>
              <a:ea typeface="+mn-lt"/>
              <a:cs typeface="+mn-lt"/>
            </a:endParaRPr>
          </a:p>
          <a:p>
            <a:pPr marL="571500" indent="-571500">
              <a:buFont typeface="Wingdings,Sans-Serif"/>
              <a:buChar char="§"/>
            </a:pPr>
            <a:endParaRPr lang="en-US" sz="3600">
              <a:solidFill>
                <a:srgbClr val="273239"/>
              </a:solidFill>
              <a:latin typeface="Nunito"/>
              <a:ea typeface="+mn-lt"/>
              <a:cs typeface="+mn-lt"/>
            </a:endParaRPr>
          </a:p>
          <a:p>
            <a:pPr marL="571500" indent="-571500">
              <a:buFont typeface="Wingdings,Sans-Serif"/>
              <a:buChar char="§"/>
            </a:pPr>
            <a:r>
              <a:rPr lang="en-US" sz="3600">
                <a:solidFill>
                  <a:srgbClr val="273239"/>
                </a:solidFill>
                <a:latin typeface="Nunito"/>
                <a:ea typeface="+mn-lt"/>
                <a:cs typeface="+mn-lt"/>
              </a:rPr>
              <a:t>Ridge Regression, also known as L2 regularization, adds the squared magnitude of the coefficients as a penalty.</a:t>
            </a:r>
            <a:endParaRPr lang="en-US" sz="3600">
              <a:latin typeface="Nunito"/>
              <a:ea typeface="+mn-lt"/>
              <a:cs typeface="+mn-lt"/>
            </a:endParaRPr>
          </a:p>
          <a:p>
            <a:pPr marL="571500" indent="-571500">
              <a:buFont typeface="Wingdings,Sans-Serif"/>
              <a:buChar char="§"/>
            </a:pPr>
            <a:endParaRPr lang="en-US" sz="3600">
              <a:solidFill>
                <a:srgbClr val="273239"/>
              </a:solidFill>
              <a:latin typeface="Nunito"/>
              <a:ea typeface="+mn-lt"/>
              <a:cs typeface="+mn-lt"/>
            </a:endParaRPr>
          </a:p>
          <a:p>
            <a:pPr marL="571500" indent="-571500">
              <a:buFont typeface="Wingdings,Sans-Serif"/>
              <a:buChar char="§"/>
            </a:pPr>
            <a:r>
              <a:rPr lang="en-US" sz="3600">
                <a:solidFill>
                  <a:srgbClr val="273239"/>
                </a:solidFill>
                <a:latin typeface="Nunito"/>
                <a:ea typeface="+mn-lt"/>
                <a:cs typeface="+mn-lt"/>
              </a:rPr>
              <a:t>Lasso Regression, or L1 regularization, introduces a penalty based on the absolute value of the coefficients.</a:t>
            </a:r>
            <a:endParaRPr lang="en-US" sz="3600">
              <a:latin typeface="Nunito"/>
              <a:ea typeface="+mn-lt"/>
              <a:cs typeface="+mn-lt"/>
            </a:endParaRPr>
          </a:p>
          <a:p>
            <a:pPr marL="571500" indent="-571500">
              <a:buFont typeface="Wingdings"/>
              <a:buChar char="§"/>
            </a:pPr>
            <a:endParaRPr lang="en-US" sz="3600" b="1">
              <a:ea typeface="+mn-lt"/>
              <a:cs typeface="+mn-lt"/>
            </a:endParaRPr>
          </a:p>
          <a:p>
            <a:pPr marL="571500" indent="-571500">
              <a:buFont typeface="Wingdings"/>
              <a:buChar char="§"/>
            </a:pPr>
            <a:r>
              <a:rPr lang="en-US" sz="3600" b="1">
                <a:ea typeface="+mn-lt"/>
                <a:cs typeface="+mn-lt"/>
              </a:rPr>
              <a:t>ADMM</a:t>
            </a:r>
            <a:r>
              <a:rPr lang="en-US" sz="3600">
                <a:ea typeface="+mn-lt"/>
                <a:cs typeface="+mn-lt"/>
              </a:rPr>
              <a:t> splits the problem into smaller subproblems that are easier to solve individually, especially when the objective has separable components</a:t>
            </a:r>
            <a:endParaRPr lang="en-US" sz="3600">
              <a:ea typeface="Calibri"/>
              <a:cs typeface="Calibri"/>
            </a:endParaRPr>
          </a:p>
          <a:p>
            <a:pPr marL="571500" indent="-571500">
              <a:buFont typeface="Wingdings"/>
              <a:buChar char="§"/>
            </a:pPr>
            <a:endParaRPr lang="en-US" sz="3600">
              <a:ea typeface="+mn-lt"/>
              <a:cs typeface="+mn-lt"/>
            </a:endParaRPr>
          </a:p>
          <a:p>
            <a:pPr marL="571500" indent="-571500">
              <a:buFont typeface="Arial"/>
              <a:buChar char="•"/>
            </a:pPr>
            <a:r>
              <a:rPr lang="en-US" sz="3600" b="1">
                <a:ea typeface="+mn-lt"/>
                <a:cs typeface="+mn-lt"/>
              </a:rPr>
              <a:t>Methods compared:</a:t>
            </a:r>
            <a:r>
              <a:rPr lang="en-US" sz="3600">
                <a:ea typeface="+mn-lt"/>
                <a:cs typeface="+mn-lt"/>
              </a:rPr>
              <a:t> </a:t>
            </a:r>
            <a:r>
              <a:rPr lang="en-US" sz="3600" b="1">
                <a:ea typeface="+mn-lt"/>
                <a:cs typeface="+mn-lt"/>
              </a:rPr>
              <a:t>Lasso (L1)</a:t>
            </a:r>
            <a:r>
              <a:rPr lang="en-US" sz="3600">
                <a:ea typeface="+mn-lt"/>
                <a:cs typeface="+mn-lt"/>
              </a:rPr>
              <a:t> and </a:t>
            </a:r>
            <a:r>
              <a:rPr lang="en-US" sz="3600" b="1">
                <a:ea typeface="+mn-lt"/>
                <a:cs typeface="+mn-lt"/>
              </a:rPr>
              <a:t>Ridge (L2)</a:t>
            </a:r>
            <a:r>
              <a:rPr lang="en-US" sz="3600">
                <a:ea typeface="+mn-lt"/>
                <a:cs typeface="+mn-lt"/>
              </a:rPr>
              <a:t> regression solved with </a:t>
            </a:r>
            <a:r>
              <a:rPr lang="en-US" sz="3600" b="1">
                <a:ea typeface="+mn-lt"/>
                <a:cs typeface="+mn-lt"/>
              </a:rPr>
              <a:t>ADMM.</a:t>
            </a:r>
          </a:p>
          <a:p>
            <a:pPr marL="571500" indent="-571500">
              <a:buFont typeface="Arial"/>
              <a:buChar char="•"/>
            </a:pPr>
            <a:endParaRPr lang="en-US" sz="36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525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BB444-6A03-4D2B-18D0-FD3800FA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C1E6171-6A39-5CF3-C373-CC94F58E6715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4E5AAD-25D8-87FB-507E-2348B56FA549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PROBLEM  STATEMENT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11DAB8-8F8E-FB1C-6666-B54C1A4C8905}"/>
              </a:ext>
            </a:extLst>
          </p:cNvPr>
          <p:cNvSpPr txBox="1"/>
          <p:nvPr/>
        </p:nvSpPr>
        <p:spPr>
          <a:xfrm>
            <a:off x="1682349" y="2836519"/>
            <a:ext cx="14006541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§"/>
            </a:pPr>
            <a:r>
              <a:rPr lang="en-US" sz="3600">
                <a:ea typeface="Calibri"/>
                <a:cs typeface="Calibri"/>
              </a:rPr>
              <a:t>To </a:t>
            </a:r>
            <a:r>
              <a:rPr lang="en-US" sz="3600">
                <a:ea typeface="+mn-lt"/>
                <a:cs typeface="+mn-lt"/>
              </a:rPr>
              <a:t>build models that predict Melbourne house prices from features with minimized error and controlled model complexity.</a:t>
            </a:r>
          </a:p>
          <a:p>
            <a:pPr marL="571500" indent="-571500">
              <a:buFont typeface="Wingdings"/>
              <a:buChar char="§"/>
            </a:pPr>
            <a:endParaRPr lang="en-US" sz="3600">
              <a:ea typeface="+mn-lt"/>
              <a:cs typeface="+mn-lt"/>
            </a:endParaRPr>
          </a:p>
          <a:p>
            <a:pPr marL="571500" indent="-571500">
              <a:buFont typeface="Wingdings"/>
              <a:buChar char="§"/>
            </a:pPr>
            <a:r>
              <a:rPr lang="en-US" sz="3600">
                <a:ea typeface="+mn-lt"/>
                <a:cs typeface="+mn-lt"/>
              </a:rPr>
              <a:t>Regularization methods are used to cope with overfitting and huge datasets. We know that there are two types of regularization techniques: Ridge and Lasso, which penalize the regression function.</a:t>
            </a:r>
          </a:p>
          <a:p>
            <a:pPr marL="571500" indent="-571500">
              <a:buFont typeface="Wingdings"/>
              <a:buChar char="§"/>
            </a:pPr>
            <a:endParaRPr lang="en-US" sz="3600">
              <a:ea typeface="+mn-lt"/>
              <a:cs typeface="+mn-lt"/>
            </a:endParaRPr>
          </a:p>
          <a:p>
            <a:pPr marL="571500" indent="-571500">
              <a:buFont typeface="Wingdings"/>
              <a:buChar char="§"/>
            </a:pPr>
            <a:r>
              <a:rPr lang="en-US" sz="3600">
                <a:ea typeface="+mn-lt"/>
                <a:cs typeface="+mn-lt"/>
              </a:rPr>
              <a:t>We compare problems based on the ADMM technique</a:t>
            </a:r>
          </a:p>
          <a:p>
            <a:pPr marL="571500" indent="-571500">
              <a:buFont typeface="Wingdings"/>
              <a:buChar char="§"/>
            </a:pPr>
            <a:endParaRPr lang="en-US" sz="3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596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4D94-3F06-E1F4-B471-7B05A60C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CAD13E7-17D1-BD80-A570-02490856DD30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1DA40D9-AF79-CA0C-764B-0F4795558D24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</a:rPr>
              <a:t>OPTIMIZTION PROBLEM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EB7214-402F-32F6-C7CA-81111B5E4693}"/>
              </a:ext>
            </a:extLst>
          </p:cNvPr>
          <p:cNvSpPr txBox="1"/>
          <p:nvPr/>
        </p:nvSpPr>
        <p:spPr>
          <a:xfrm>
            <a:off x="976764" y="5885795"/>
            <a:ext cx="16795043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>
                <a:latin typeface="Arial"/>
                <a:cs typeface="Arial"/>
              </a:rPr>
              <a:t>(A) is the feature matrix,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3200">
                <a:latin typeface="Arial"/>
                <a:cs typeface="Arial"/>
              </a:rPr>
              <a:t>(x) is the coefficient vector,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3200">
                <a:latin typeface="Arial"/>
                <a:cs typeface="Arial"/>
              </a:rPr>
              <a:t>(b) is the output vector,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3200">
                <a:latin typeface="Arial"/>
                <a:cs typeface="Arial"/>
              </a:rPr>
              <a:t>(λ) is the </a:t>
            </a:r>
            <a:r>
              <a:rPr lang="en-US" sz="3200" b="1">
                <a:latin typeface="Arial"/>
                <a:cs typeface="Arial"/>
              </a:rPr>
              <a:t>regularization parameter</a:t>
            </a:r>
            <a:r>
              <a:rPr lang="en-US" sz="3200">
                <a:latin typeface="Arial"/>
                <a:cs typeface="Arial"/>
              </a:rPr>
              <a:t> controlling sparsity.</a:t>
            </a:r>
            <a:endParaRPr lang="en-US"/>
          </a:p>
          <a:p>
            <a:endParaRPr lang="en-US" sz="3200">
              <a:latin typeface="Arial"/>
              <a:ea typeface="Calibri"/>
              <a:cs typeface="Arial"/>
            </a:endParaRPr>
          </a:p>
          <a:p>
            <a:r>
              <a:rPr lang="en-US" sz="3400">
                <a:latin typeface="Arial"/>
                <a:ea typeface="Calibri"/>
                <a:cs typeface="Arial"/>
              </a:rPr>
              <a:t>Both Lasso and Ridge are unconstrained optimization problems in their basic form. However, to apply ADMM, these problems are reformulated with equality constraints by introducing auxiliary variables [</a:t>
            </a:r>
            <a:r>
              <a:rPr lang="en-US" sz="3400" b="1">
                <a:latin typeface="Arial"/>
                <a:ea typeface="Calibri"/>
                <a:cs typeface="Arial"/>
              </a:rPr>
              <a:t>z</a:t>
            </a:r>
            <a:r>
              <a:rPr lang="en-US" sz="3400">
                <a:latin typeface="Arial"/>
                <a:ea typeface="Calibri"/>
                <a:cs typeface="Arial"/>
              </a:rPr>
              <a:t>] , subject to the condition x – z = 0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05531-898F-5E0B-D584-B990846303D1}"/>
              </a:ext>
            </a:extLst>
          </p:cNvPr>
          <p:cNvSpPr txBox="1"/>
          <p:nvPr/>
        </p:nvSpPr>
        <p:spPr>
          <a:xfrm>
            <a:off x="1109243" y="2875370"/>
            <a:ext cx="294675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Calibri"/>
                <a:cs typeface="Calibri"/>
              </a:rPr>
              <a:t>LASSO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EDE70-4EAA-34AA-224B-14945A1CEF39}"/>
              </a:ext>
            </a:extLst>
          </p:cNvPr>
          <p:cNvSpPr txBox="1"/>
          <p:nvPr/>
        </p:nvSpPr>
        <p:spPr>
          <a:xfrm>
            <a:off x="10163037" y="2869116"/>
            <a:ext cx="19720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ea typeface="Calibri"/>
                <a:cs typeface="Calibri"/>
              </a:rPr>
              <a:t>RIDGE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FB8FD3-721A-ACF8-5F1F-8A8DB8BC2FCF}"/>
                  </a:ext>
                </a:extLst>
              </p:cNvPr>
              <p:cNvSpPr txBox="1"/>
              <p:nvPr/>
            </p:nvSpPr>
            <p:spPr>
              <a:xfrm>
                <a:off x="2799253" y="2718573"/>
                <a:ext cx="4907724" cy="13990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lit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lit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GB" sz="2800" b="0"/>
              </a:p>
              <a:p>
                <a:endParaRPr lang="en-IN" sz="28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FB8FD3-721A-ACF8-5F1F-8A8DB8BC2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253" y="2718573"/>
                <a:ext cx="4907724" cy="1399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0FBCAE3-2EC5-A684-D591-85E9E34B704E}"/>
              </a:ext>
            </a:extLst>
          </p:cNvPr>
          <p:cNvSpPr txBox="1"/>
          <p:nvPr/>
        </p:nvSpPr>
        <p:spPr>
          <a:xfrm>
            <a:off x="8672050" y="4689987"/>
            <a:ext cx="710872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CEAEB0-D8A0-E104-D597-DAAD1C9ED407}"/>
                  </a:ext>
                </a:extLst>
              </p:cNvPr>
              <p:cNvSpPr txBox="1"/>
              <p:nvPr/>
            </p:nvSpPr>
            <p:spPr>
              <a:xfrm>
                <a:off x="11459498" y="2718573"/>
                <a:ext cx="5501148" cy="18299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28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lit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m:rPr>
                                  <m:lit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GB" sz="2800" b="0" i="1">
                  <a:latin typeface="Cambria Math" panose="02040503050406030204" pitchFamily="18" charset="0"/>
                </a:endParaRPr>
              </a:p>
              <a:p>
                <a:endParaRPr lang="en-GB" sz="2800" b="0" i="1">
                  <a:latin typeface="Cambria Math" panose="02040503050406030204" pitchFamily="18" charset="0"/>
                </a:endParaRPr>
              </a:p>
              <a:p>
                <a:endParaRPr lang="en-IN" sz="28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CEAEB0-D8A0-E104-D597-DAAD1C9ED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9498" y="2718573"/>
                <a:ext cx="5501148" cy="18299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D6F32B-D877-3010-A215-7F2E6526D4B3}"/>
                  </a:ext>
                </a:extLst>
              </p:cNvPr>
              <p:cNvSpPr txBox="1"/>
              <p:nvPr/>
            </p:nvSpPr>
            <p:spPr>
              <a:xfrm>
                <a:off x="3775586" y="4141830"/>
                <a:ext cx="6652077" cy="13990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IN" sz="2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GB" sz="2800" b="0" i="0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IN" sz="28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lit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sz="2800" b="0" i="1" smtClean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lit/>
                                </m:rPr>
                                <a:rPr lang="en-IN" sz="28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Sup>
                                <m:sSubSup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GB" sz="2800"/>
              </a:p>
              <a:p>
                <a:endParaRPr lang="en-IN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D6F32B-D877-3010-A215-7F2E6526D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586" y="4141830"/>
                <a:ext cx="6652077" cy="13990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9EFE913-0204-B720-8E8B-F9EAF68EEC76}"/>
              </a:ext>
            </a:extLst>
          </p:cNvPr>
          <p:cNvSpPr txBox="1"/>
          <p:nvPr/>
        </p:nvSpPr>
        <p:spPr>
          <a:xfrm>
            <a:off x="976764" y="4305266"/>
            <a:ext cx="332976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Calibri"/>
                <a:cs typeface="Calibri"/>
              </a:rPr>
              <a:t>ELASTIC NET  :</a:t>
            </a:r>
          </a:p>
        </p:txBody>
      </p:sp>
    </p:spTree>
    <p:extLst>
      <p:ext uri="{BB962C8B-B14F-4D97-AF65-F5344CB8AC3E}">
        <p14:creationId xmlns:p14="http://schemas.microsoft.com/office/powerpoint/2010/main" val="2907826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FDEE-2FA5-C7A8-2BEB-E263652B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A25CD11-9766-5A8B-D70C-2E3F2A7D5F8B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1D674C-15C2-3B7A-576E-14ECE2C694A7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</a:rPr>
              <a:t>OPTIMIZTION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ACF824-27E0-52F5-0F27-76C3F46D6DEC}"/>
                  </a:ext>
                </a:extLst>
              </p:cNvPr>
              <p:cNvSpPr txBox="1"/>
              <p:nvPr/>
            </p:nvSpPr>
            <p:spPr>
              <a:xfrm>
                <a:off x="966168" y="2666404"/>
                <a:ext cx="16355663" cy="54277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/>
                  <a:t>LASSO REGRESSION :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2800"/>
                  <a:t>Optimization problem 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80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lit/>
                              </m:rPr>
                              <a:rPr lang="en-IN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m:rPr>
                                <m:lit/>
                              </m:rPr>
                              <a:rPr lang="en-IN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lit/>
                                  </m:r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GB" sz="2800" b="0"/>
                  <a:t>    (unconstrained)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/>
                  <a:t>ADMM reformulation introduce z, (equality constraint) 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lit/>
                              </m:rPr>
                              <a:rPr lang="en-IN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m:rPr>
                                <m:lit/>
                              </m:rPr>
                              <a:rPr lang="en-IN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lit/>
                                  </m:r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IN" sz="2800" i="1">
                        <a:latin typeface="Cambria Math" panose="020405030504060302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en-IN" sz="280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IN" sz="280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IN" sz="280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IN" sz="2800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 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2800" i="1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2800" i="1">
                  <a:latin typeface="Cambria Math" panose="02040503050406030204" pitchFamily="18" charset="0"/>
                </a:endParaRPr>
              </a:p>
              <a:p>
                <a:r>
                  <a:rPr lang="en-GB" sz="2800">
                    <a:latin typeface="+mj-lt"/>
                  </a:rPr>
                  <a:t>RIDGE REGRESSION :</a:t>
                </a:r>
              </a:p>
              <a:p>
                <a:endParaRPr lang="en-GB" sz="2800">
                  <a:latin typeface="+mj-lt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>
                    <a:latin typeface="+mj-lt"/>
                  </a:rPr>
                  <a:t>Optimization problem 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lit/>
                              </m:rPr>
                              <a:rPr lang="ar-AE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m:rPr>
                                <m:lit/>
                              </m:rPr>
                              <a:rPr lang="ar-AE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bSup>
                              <m:sSubSupPr>
                                <m:ctrl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lit/>
                                  </m:r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r>
                  <a:rPr lang="en-GB" sz="2800" i="1">
                    <a:latin typeface="Cambria Math" panose="02040503050406030204" pitchFamily="18" charset="0"/>
                  </a:rPr>
                  <a:t>   </a:t>
                </a:r>
                <a:r>
                  <a:rPr lang="en-GB" sz="2800">
                    <a:latin typeface="Cambria Math" panose="02040503050406030204" pitchFamily="18" charset="0"/>
                  </a:rPr>
                  <a:t>(unconstrained)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/>
                  <a:t>ADMM reformulation introduce z, (equality constraint) 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lit/>
                              </m:rPr>
                              <a:rPr lang="ar-AE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m:rPr>
                                <m:lit/>
                              </m:rPr>
                              <a:rPr lang="ar-AE" sz="28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ar-AE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sSubSup>
                              <m:sSubSupPr>
                                <m:ctrl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GB" sz="28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lit/>
                                  </m:rP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ar-AE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ar-AE" sz="2800" i="1">
                        <a:latin typeface="Cambria Math" panose="020405030504060302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ar-AE" sz="280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ar-AE" sz="280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ar-AE" sz="280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ar-AE" sz="2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 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800"/>
              </a:p>
              <a:p>
                <a:endParaRPr lang="en-IN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ACF824-27E0-52F5-0F27-76C3F46D6D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68" y="2666404"/>
                <a:ext cx="16355663" cy="5427768"/>
              </a:xfrm>
              <a:prstGeom prst="rect">
                <a:avLst/>
              </a:prstGeom>
              <a:blipFill>
                <a:blip r:embed="rId5"/>
                <a:stretch>
                  <a:fillRect l="-745" t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92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44845-5250-77AD-0A9D-3B1C21E0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15E2FA2-C3DB-72F6-0E70-3418E6D4C4BA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43DDF05-03B2-51E4-3F74-87AD0DE7D4D6}"/>
              </a:ext>
            </a:extLst>
          </p:cNvPr>
          <p:cNvSpPr txBox="1"/>
          <p:nvPr/>
        </p:nvSpPr>
        <p:spPr>
          <a:xfrm>
            <a:off x="393700" y="455072"/>
            <a:ext cx="17896255" cy="1007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40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LAGRANGIAN / AUGMENTED LAGRANGIAN</a:t>
            </a:r>
            <a:endParaRPr lang="en-US" sz="48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2FE726-0E7C-40F7-2385-EAA3C2C407C7}"/>
              </a:ext>
            </a:extLst>
          </p:cNvPr>
          <p:cNvSpPr txBox="1"/>
          <p:nvPr/>
        </p:nvSpPr>
        <p:spPr>
          <a:xfrm>
            <a:off x="3878422" y="2532121"/>
            <a:ext cx="1563020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sz="1000">
                <a:ea typeface="+mn-lt"/>
                <a:cs typeface="+mn-lt"/>
              </a:rPr>
            </a:br>
            <a:endParaRPr lang="en-US" sz="1000">
              <a:ea typeface="+mn-lt"/>
              <a:cs typeface="+mn-lt"/>
            </a:endParaRPr>
          </a:p>
          <a:p>
            <a:pPr algn="l"/>
            <a:endParaRPr lang="en-US" sz="320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E92C6-8094-FC42-6D8C-874A5AD1CA93}"/>
              </a:ext>
            </a:extLst>
          </p:cNvPr>
          <p:cNvSpPr txBox="1"/>
          <p:nvPr/>
        </p:nvSpPr>
        <p:spPr>
          <a:xfrm>
            <a:off x="714051" y="6043108"/>
            <a:ext cx="682407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Calibri"/>
                <a:cs typeface="Calibri"/>
              </a:rPr>
              <a:t>AUGMENTED  LAGRANGIAN :</a:t>
            </a:r>
            <a:endParaRPr lang="en-US" sz="3200" b="1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BCC3B-DC00-6038-8F7F-E00666FBB560}"/>
              </a:ext>
            </a:extLst>
          </p:cNvPr>
          <p:cNvSpPr txBox="1"/>
          <p:nvPr/>
        </p:nvSpPr>
        <p:spPr>
          <a:xfrm>
            <a:off x="714051" y="2199594"/>
            <a:ext cx="1110162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ea typeface="Calibri"/>
                <a:cs typeface="Calibri"/>
              </a:rPr>
              <a:t>LAGRANGIAN  (Equality Constraints):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F211E-4043-2961-8338-E01A48E6B704}"/>
                  </a:ext>
                </a:extLst>
              </p:cNvPr>
              <p:cNvSpPr txBox="1"/>
              <p:nvPr/>
            </p:nvSpPr>
            <p:spPr>
              <a:xfrm>
                <a:off x="2207822" y="3032912"/>
                <a:ext cx="11389246" cy="250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/>
                  <a:t>For general constrained problem : </a:t>
                </a:r>
                <a14:m>
                  <m:oMath xmlns:m="http://schemas.openxmlformats.org/officeDocument/2006/math">
                    <m:r>
                      <a:rPr lang="pl-PL" sz="280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pl-PL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2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l-PL" sz="2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l-PL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pl-PL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l-PL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GB" sz="2800" b="0"/>
              </a:p>
              <a:p>
                <a:endParaRPr lang="en-GB" sz="280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 b="0"/>
                  <a:t>For Lasso Formulation : 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GB" sz="280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280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800"/>
                  <a:t>For Ridge Formulation :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IN" sz="28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F211E-4043-2961-8338-E01A48E6B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822" y="3032912"/>
                <a:ext cx="11389246" cy="2509405"/>
              </a:xfrm>
              <a:prstGeom prst="rect">
                <a:avLst/>
              </a:prstGeom>
              <a:blipFill>
                <a:blip r:embed="rId4"/>
                <a:stretch>
                  <a:fillRect l="-1767" t="-4136" b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AE286E-40F7-51A7-79C3-CA090DB1D886}"/>
                  </a:ext>
                </a:extLst>
              </p:cNvPr>
              <p:cNvSpPr txBox="1"/>
              <p:nvPr/>
            </p:nvSpPr>
            <p:spPr>
              <a:xfrm>
                <a:off x="2207822" y="7104099"/>
                <a:ext cx="12656350" cy="1647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Lasso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Regression</m:t>
                        </m:r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sz="2800" b="0" i="1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800" i="1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800">
                    <a:latin typeface="Cambria Math" panose="02040503050406030204" pitchFamily="18" charset="0"/>
                  </a:rPr>
                  <a:t>Ridge Regression 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GB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𝑧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GB" sz="2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sz="280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AE286E-40F7-51A7-79C3-CA090DB1D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822" y="7104099"/>
                <a:ext cx="12656350" cy="1647631"/>
              </a:xfrm>
              <a:prstGeom prst="rect">
                <a:avLst/>
              </a:prstGeom>
              <a:blipFill>
                <a:blip r:embed="rId5"/>
                <a:stretch>
                  <a:fillRect l="-1590" b="-5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110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E84D-8F28-FAA7-1B5F-7A364CBC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9164F2B-D6E3-06E8-373C-564D0390EE3E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52A49B9-C713-0A84-6A41-3F968472AD48}"/>
              </a:ext>
            </a:extLst>
          </p:cNvPr>
          <p:cNvSpPr txBox="1"/>
          <p:nvPr/>
        </p:nvSpPr>
        <p:spPr>
          <a:xfrm>
            <a:off x="393700" y="455072"/>
            <a:ext cx="17896255" cy="1007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40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LAGRANGIAN / AUGMENTED LAGRANGIAN</a:t>
            </a:r>
            <a:endParaRPr lang="en-US" sz="48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A717F4-D208-43D9-B570-B33E9622FCC6}"/>
                  </a:ext>
                </a:extLst>
              </p:cNvPr>
              <p:cNvSpPr txBox="1"/>
              <p:nvPr/>
            </p:nvSpPr>
            <p:spPr>
              <a:xfrm>
                <a:off x="1014082" y="2334760"/>
                <a:ext cx="6824077" cy="70788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000" b="1">
                    <a:ea typeface="Calibri"/>
                    <a:cs typeface="Calibri"/>
                  </a:rPr>
                  <a:t>Using Dual Variable :  </a:t>
                </a:r>
                <a14:m>
                  <m:oMath xmlns:m="http://schemas.openxmlformats.org/officeDocument/2006/math">
                    <m:r>
                      <a:rPr lang="en-GB" sz="3200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GB" sz="3200" b="1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GB" sz="3200" b="1" i="1">
                        <a:latin typeface="Cambria Math" panose="02040503050406030204" pitchFamily="18" charset="0"/>
                      </a:rPr>
                      <m:t>𝝁</m:t>
                    </m:r>
                    <m:r>
                      <m:rPr>
                        <m:lit/>
                      </m:rPr>
                      <a:rPr lang="en-GB" sz="3200" b="1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32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3200" b="1" i="1">
                        <a:latin typeface="Cambria Math" panose="02040503050406030204" pitchFamily="18" charset="0"/>
                      </a:rPr>
                      <m:t>𝝆</m:t>
                    </m:r>
                  </m:oMath>
                </a14:m>
                <a:endParaRPr lang="en-GB" sz="3200" b="1" i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AA717F4-D208-43D9-B570-B33E9622F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082" y="2334760"/>
                <a:ext cx="6824077" cy="707886"/>
              </a:xfrm>
              <a:prstGeom prst="rect">
                <a:avLst/>
              </a:prstGeom>
              <a:blipFill>
                <a:blip r:embed="rId4"/>
                <a:stretch>
                  <a:fillRect l="-3125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5B25C1-5057-BDED-B7FB-B1208E40954E}"/>
                  </a:ext>
                </a:extLst>
              </p:cNvPr>
              <p:cNvSpPr txBox="1"/>
              <p:nvPr/>
            </p:nvSpPr>
            <p:spPr>
              <a:xfrm>
                <a:off x="1337458" y="3839251"/>
                <a:ext cx="14301607" cy="21186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/>
                  <a:t>Lasso Regression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36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36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IN" sz="36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IN" sz="36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36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𝑢</m:t>
                    </m:r>
                    <m:sSubSup>
                      <m:sSub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3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IN" sz="36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sz="3600" b="0" i="1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3600" b="0" i="1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IN" sz="3600"/>
                  <a:t>Ridge Regression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36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𝑏</m:t>
                    </m:r>
                    <m:sSubSup>
                      <m:sSub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3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GB" sz="3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IN" sz="36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IN" sz="36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GB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36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3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GB" sz="36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3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36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3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sz="36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5B25C1-5057-BDED-B7FB-B1208E409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458" y="3839251"/>
                <a:ext cx="14301607" cy="2118657"/>
              </a:xfrm>
              <a:prstGeom prst="rect">
                <a:avLst/>
              </a:prstGeom>
              <a:blipFill>
                <a:blip r:embed="rId5"/>
                <a:stretch>
                  <a:fillRect l="-1790" t="-1153" b="-6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17A5B52-46FD-A88C-3690-760406975F6C}"/>
              </a:ext>
            </a:extLst>
          </p:cNvPr>
          <p:cNvSpPr txBox="1"/>
          <p:nvPr/>
        </p:nvSpPr>
        <p:spPr>
          <a:xfrm>
            <a:off x="7366211" y="8347587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b="1">
              <a:ea typeface="Calibri"/>
              <a:cs typeface="Calibri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04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6727-BDA7-0A67-801E-806318B5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9CB50BB-C9C0-140A-7F5D-C514AFAAC0BD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35CC64D-2640-AFF5-31BA-746C225266C9}"/>
              </a:ext>
            </a:extLst>
          </p:cNvPr>
          <p:cNvSpPr txBox="1"/>
          <p:nvPr/>
        </p:nvSpPr>
        <p:spPr>
          <a:xfrm>
            <a:off x="530178" y="447816"/>
            <a:ext cx="17896255" cy="1007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40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NOTATIONS</a:t>
            </a:r>
            <a:endParaRPr lang="en-US" sz="48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5D4BBA-6102-3D23-0F05-B6FBA2396DBC}"/>
              </a:ext>
            </a:extLst>
          </p:cNvPr>
          <p:cNvSpPr txBox="1"/>
          <p:nvPr/>
        </p:nvSpPr>
        <p:spPr>
          <a:xfrm>
            <a:off x="1017235" y="2562649"/>
            <a:ext cx="15630204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br>
              <a:rPr lang="en-US" sz="1000">
                <a:ea typeface="+mn-lt"/>
                <a:cs typeface="+mn-lt"/>
              </a:rPr>
            </a:br>
            <a:endParaRPr lang="en-US" sz="1000">
              <a:ea typeface="+mn-lt"/>
              <a:cs typeface="+mn-lt"/>
            </a:endParaRPr>
          </a:p>
          <a:p>
            <a:pPr algn="l"/>
            <a:endParaRPr lang="en-US" sz="32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5C803-3C39-B5FE-6A26-AA10E2C1AF11}"/>
              </a:ext>
            </a:extLst>
          </p:cNvPr>
          <p:cNvSpPr txBox="1"/>
          <p:nvPr/>
        </p:nvSpPr>
        <p:spPr>
          <a:xfrm>
            <a:off x="709772" y="2763190"/>
            <a:ext cx="16245129" cy="6986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 ρ: ADMM penalty parameter (positive)</a:t>
            </a:r>
            <a:endParaRPr lang="en-US" sz="3200"/>
          </a:p>
          <a:p>
            <a:br>
              <a:rPr lang="en-US" sz="3200">
                <a:ea typeface="Calibri"/>
                <a:cs typeface="Calibri"/>
              </a:rPr>
            </a:br>
            <a:r>
              <a:rPr lang="en-US" sz="3200">
                <a:ea typeface="Calibri"/>
                <a:cs typeface="Calibri"/>
              </a:rPr>
              <a:t> z: auxiliary variable introduced to split objective.</a:t>
            </a:r>
          </a:p>
          <a:p>
            <a:br>
              <a:rPr lang="en-US" sz="3200">
                <a:ea typeface="Calibri"/>
                <a:cs typeface="Calibri"/>
              </a:rPr>
            </a:br>
            <a:r>
              <a:rPr lang="en-US" sz="3200">
                <a:ea typeface="Calibri"/>
                <a:cs typeface="Calibri"/>
              </a:rPr>
              <a:t> μ: </a:t>
            </a:r>
            <a:r>
              <a:rPr lang="en-US" sz="3200" err="1">
                <a:ea typeface="Calibri"/>
                <a:cs typeface="Calibri"/>
              </a:rPr>
              <a:t>lagrangian</a:t>
            </a:r>
            <a:r>
              <a:rPr lang="en-US" sz="3200">
                <a:ea typeface="Calibri"/>
                <a:cs typeface="Calibri"/>
              </a:rPr>
              <a:t> coefficient.</a:t>
            </a:r>
          </a:p>
          <a:p>
            <a:endParaRPr lang="en-US" sz="3200">
              <a:ea typeface="Calibri"/>
              <a:cs typeface="Calibri"/>
            </a:endParaRPr>
          </a:p>
          <a:p>
            <a:r>
              <a:rPr lang="en-US" sz="3200">
                <a:ea typeface="Calibri"/>
                <a:cs typeface="Calibri"/>
              </a:rPr>
              <a:t> u: dual variable or scaled dual variable.</a:t>
            </a:r>
          </a:p>
          <a:p>
            <a:br>
              <a:rPr lang="en-US" sz="3200">
                <a:ea typeface="Calibri"/>
                <a:cs typeface="Calibri"/>
              </a:rPr>
            </a:br>
            <a:r>
              <a:rPr lang="en-US" sz="3200">
                <a:ea typeface="Calibri"/>
                <a:cs typeface="Calibri"/>
              </a:rPr>
              <a:t> ‖·‖₂: Euclidean norm</a:t>
            </a:r>
          </a:p>
          <a:p>
            <a:br>
              <a:rPr lang="en-US" sz="3200">
                <a:ea typeface="Calibri"/>
                <a:cs typeface="Calibri"/>
              </a:rPr>
            </a:br>
            <a:r>
              <a:rPr lang="en-US" sz="3200">
                <a:ea typeface="Calibri"/>
                <a:cs typeface="Calibri"/>
              </a:rPr>
              <a:t> ‖·‖₁: L1 norm.</a:t>
            </a:r>
          </a:p>
          <a:p>
            <a:br>
              <a:rPr lang="en-US" sz="3200">
                <a:ea typeface="Calibri"/>
                <a:cs typeface="Calibri"/>
              </a:rPr>
            </a:br>
            <a:r>
              <a:rPr lang="en-US" sz="3200">
                <a:ea typeface="Calibri"/>
                <a:cs typeface="Calibri"/>
              </a:rPr>
              <a:t> [</a:t>
            </a:r>
            <a:r>
              <a:rPr lang="en-US" sz="3200" err="1">
                <a:ea typeface="Calibri"/>
                <a:cs typeface="Calibri"/>
              </a:rPr>
              <a:t>m,n</a:t>
            </a:r>
            <a:r>
              <a:rPr lang="en-US" sz="3200">
                <a:ea typeface="Calibri"/>
                <a:cs typeface="Calibri"/>
              </a:rPr>
              <a:t>]: number of samples and features respectively</a:t>
            </a:r>
          </a:p>
          <a:p>
            <a:endParaRPr lang="en-US" sz="32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980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50C5-49D9-1075-B065-1267792A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60E24A3-BE27-3040-31AD-3A454934D507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64AE615-798D-CBEA-A6B1-38640C6A46C3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750EEE-2BB2-01A3-820C-FCAB9AE025FD}"/>
                  </a:ext>
                </a:extLst>
              </p:cNvPr>
              <p:cNvSpPr txBox="1"/>
              <p:nvPr/>
            </p:nvSpPr>
            <p:spPr>
              <a:xfrm>
                <a:off x="1095275" y="2235399"/>
                <a:ext cx="11724967" cy="9881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000" b="1"/>
                  <a:t>LASSO REGRESSION :</a:t>
                </a:r>
                <a:br>
                  <a:rPr lang="en-GB" sz="2800" b="1"/>
                </a:br>
                <a:br>
                  <a:rPr lang="en-GB" sz="2800" b="1"/>
                </a:br>
                <a:r>
                  <a:rPr lang="en-GB" sz="2800" b="1"/>
                  <a:t>ADMM Iterative Updates</a:t>
                </a:r>
                <a:endParaRPr lang="en-GB" sz="2800"/>
              </a:p>
              <a:p>
                <a:r>
                  <a:rPr lang="en-GB" sz="2800"/>
                  <a:t>The algorithm works by iteratively updating three variables until convergence.</a:t>
                </a:r>
              </a:p>
              <a:p>
                <a:endParaRPr lang="en-GB" sz="2800"/>
              </a:p>
              <a:p>
                <a:r>
                  <a:rPr lang="en-GB" sz="2800" b="1"/>
                  <a:t>X update :</a:t>
                </a:r>
              </a:p>
              <a:p>
                <a:r>
                  <a:rPr lang="en-IN" sz="2800"/>
                  <a:t>Lasso Regression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/>
              </a:p>
              <a:p>
                <a:r>
                  <a:rPr lang="en-GB" sz="2800" b="1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i="0" smtClean="0">
                        <a:latin typeface="Cambria Math" panose="02040503050406030204" pitchFamily="18" charset="0"/>
                      </a:rPr>
                      <m:t>Using</m:t>
                    </m:r>
                    <m:r>
                      <a:rPr lang="en-GB" sz="28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GB" sz="28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m:rPr>
                        <m:sty m:val="p"/>
                      </m:rPr>
                      <a:rPr lang="en-GB" sz="2800" b="0" i="0" smtClean="0">
                        <a:latin typeface="Cambria Math" panose="02040503050406030204" pitchFamily="18" charset="0"/>
                      </a:rPr>
                      <m:t>we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800" b="0" i="0" smtClean="0">
                        <a:latin typeface="Cambria Math" panose="02040503050406030204" pitchFamily="18" charset="0"/>
                      </a:rPr>
                      <m:t>get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    </m:t>
                    </m:r>
                  </m:oMath>
                </a14:m>
                <a:endParaRPr lang="en-GB" sz="2800"/>
              </a:p>
              <a:p>
                <a:endParaRPr lang="ar-AE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lit/>
                                    </m:r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𝐴𝑥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bSup>
                                    <m:sSub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𝐴𝑥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𝐴𝑥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r>
                  <a:rPr lang="en-GB" sz="2800" i="1">
                    <a:latin typeface="Cambria Math" panose="02040503050406030204" pitchFamily="18" charset="0"/>
                  </a:rPr>
                  <a:t>        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num>
                                  <m:den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GB" sz="2800"/>
              </a:p>
              <a:p>
                <a:endParaRPr lang="en-IN" sz="2800"/>
              </a:p>
              <a:p>
                <a:endParaRPr lang="ar-AE" sz="2800" i="1">
                  <a:latin typeface="Cambria Math" panose="02040503050406030204" pitchFamily="18" charset="0"/>
                </a:endParaRPr>
              </a:p>
              <a:p>
                <a:endParaRPr lang="ar-AE" sz="2800"/>
              </a:p>
              <a:p>
                <a:endParaRPr lang="en-GB" sz="2800"/>
              </a:p>
              <a:p>
                <a:endParaRPr lang="ar-AE" sz="2800"/>
              </a:p>
              <a:p>
                <a:endParaRPr lang="en-GB" sz="28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D750EEE-2BB2-01A3-820C-FCAB9AE02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275" y="2235399"/>
                <a:ext cx="11724967" cy="9881423"/>
              </a:xfrm>
              <a:prstGeom prst="rect">
                <a:avLst/>
              </a:prstGeom>
              <a:blipFill>
                <a:blip r:embed="rId5"/>
                <a:stretch>
                  <a:fillRect l="-1248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307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0E70-8459-6B3F-112E-E9C902E7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4E51BFA-2EAA-7FD5-6576-97612C3B09F3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7B1333-DE91-E563-3FB2-2C5B09AB37EF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AD849-7376-750D-18A2-9A994483348D}"/>
              </a:ext>
            </a:extLst>
          </p:cNvPr>
          <p:cNvSpPr txBox="1"/>
          <p:nvPr/>
        </p:nvSpPr>
        <p:spPr>
          <a:xfrm>
            <a:off x="1435318" y="2033814"/>
            <a:ext cx="3224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/>
              <a:t>X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F92A66-47E8-283C-26AA-DBF81C54F02F}"/>
                  </a:ext>
                </a:extLst>
              </p:cNvPr>
              <p:cNvSpPr txBox="1"/>
              <p:nvPr/>
            </p:nvSpPr>
            <p:spPr>
              <a:xfrm>
                <a:off x="1429712" y="3238282"/>
                <a:ext cx="6954711" cy="62040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N" sz="2800"/>
                  <a:t>Differentiating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   ,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𝑔𝑒𝑡</m:t>
                    </m:r>
                  </m:oMath>
                </a14:m>
                <a:endParaRPr lang="en-GB" sz="2800" b="0"/>
              </a:p>
              <a:p>
                <a:endParaRPr lang="en-GB" sz="2800"/>
              </a:p>
              <a:p>
                <a:r>
                  <a:rPr lang="en-GB" sz="28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800"/>
              </a:p>
              <a:p>
                <a:endParaRPr lang="en-GB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ar-AE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GB" sz="2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F92A66-47E8-283C-26AA-DBF81C54F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712" y="3238282"/>
                <a:ext cx="6954711" cy="6204006"/>
              </a:xfrm>
              <a:prstGeom prst="rect">
                <a:avLst/>
              </a:prstGeom>
              <a:blipFill>
                <a:blip r:embed="rId5"/>
                <a:stretch>
                  <a:fillRect l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3106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105C-62C3-109D-4738-74110CABC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5952234-C155-3855-4543-6DB5478952FA}"/>
              </a:ext>
            </a:extLst>
          </p:cNvPr>
          <p:cNvSpPr/>
          <p:nvPr/>
        </p:nvSpPr>
        <p:spPr>
          <a:xfrm>
            <a:off x="0" y="1468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9932994-2D73-BC42-56AF-A2A817AF5FF3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90DF6D-33D7-1D3D-9A5D-DF43B94A6196}"/>
                  </a:ext>
                </a:extLst>
              </p:cNvPr>
              <p:cNvSpPr txBox="1"/>
              <p:nvPr/>
            </p:nvSpPr>
            <p:spPr>
              <a:xfrm>
                <a:off x="2381203" y="2091068"/>
                <a:ext cx="10076091" cy="89516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N" sz="2800"/>
                  <a:t>Differentiating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𝑔𝑒𝑡</m:t>
                    </m:r>
                  </m:oMath>
                </a14:m>
                <a:endParaRPr lang="en-GB" sz="2800" b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lit/>
                                    </m:r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altLang="en-US" sz="2800" i="1">
                  <a:latin typeface="Cambria Math" panose="02040503050406030204" pitchFamily="18" charset="0"/>
                </a:endParaRPr>
              </a:p>
              <a:p>
                <a:endParaRPr lang="en-US" altLang="en-US" sz="2800">
                  <a:latin typeface="Helvetica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m:rPr>
                              <m:lit/>
                            </m:rPr>
                            <a:rPr lang="en-IN" sz="28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en-US" sz="2800">
                  <a:latin typeface="Arial" panose="020B0604020202020204" pitchFamily="34" charset="0"/>
                </a:endParaRPr>
              </a:p>
              <a:p>
                <a:endParaRPr lang="en-GB" sz="2800"/>
              </a:p>
              <a:p>
                <a:r>
                  <a:rPr lang="en-US" altLang="en-US" sz="2800">
                    <a:latin typeface="Helvetica" panose="020B0604020202020204" pitchFamily="34" charset="0"/>
                  </a:rPr>
                  <a:t>The soft thresholding operator   </a:t>
                </a:r>
                <a:r>
                  <a:rPr lang="en-US" altLang="en-US" sz="1600">
                    <a:latin typeface="Helvetica" panose="020B0604020202020204" pitchFamily="34" charset="0"/>
                  </a:rPr>
                  <a:t> 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𝒮</m:t>
                        </m:r>
                      </m:e>
                      <m:sub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d>
                      <m:d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altLang="en-US" sz="3200"/>
                  <a:t>     </a:t>
                </a:r>
                <a:r>
                  <a:rPr lang="en-US" altLang="en-US" sz="2800">
                    <a:latin typeface="Helvetica" panose="020B0604020202020204" pitchFamily="34" charset="0"/>
                  </a:rPr>
                  <a:t>is defined as:</a:t>
                </a:r>
              </a:p>
              <a:p>
                <a:endParaRPr lang="en-US" altLang="en-US" sz="2800">
                  <a:latin typeface="Helvetica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𝒮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sz="280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2800"/>
              </a:p>
              <a:p>
                <a:endParaRPr lang="en-GB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m:rPr>
                          <m:nor/>
                        </m:rPr>
                        <a:rPr lang="en-GB" sz="2800"/>
                        <m:t>Retains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the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sign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of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the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original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coefficient</m:t>
                      </m:r>
                      <m:r>
                        <m:rPr>
                          <m:nor/>
                        </m:rPr>
                        <a:rPr lang="en-GB" sz="2800"/>
                        <m:t>.</m:t>
                      </m:r>
                    </m:oMath>
                  </m:oMathPara>
                </a14:m>
                <a:endParaRPr lang="en-GB" sz="2800"/>
              </a:p>
              <a:p>
                <a:endParaRPr lang="en-GB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GB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lit/>
                        </m:rPr>
                        <a:rPr lang="en-GB" sz="2800" i="1">
                          <a:latin typeface="Cambria Math" panose="02040503050406030204" pitchFamily="18" charset="0"/>
                        </a:rPr>
                        <m:t>|− 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GB" sz="2800"/>
                        <m:t>This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shrinks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the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value</m:t>
                      </m:r>
                      <m:r>
                        <m:rPr>
                          <m:nor/>
                        </m:rPr>
                        <a:rPr lang="en-GB" sz="2800"/>
                        <m:t>. </m:t>
                      </m:r>
                      <m:r>
                        <m:rPr>
                          <m:nor/>
                        </m:rPr>
                        <a:rPr lang="en-GB" sz="2800"/>
                        <m:t>If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it</m:t>
                      </m:r>
                      <m:r>
                        <m:rPr>
                          <m:nor/>
                        </m:rPr>
                        <a:rPr lang="en-GB" sz="2800"/>
                        <m:t>′</m:t>
                      </m:r>
                      <m:r>
                        <m:rPr>
                          <m:nor/>
                        </m:rPr>
                        <a:rPr lang="en-GB" sz="2800"/>
                        <m:t>s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negative</m:t>
                      </m:r>
                      <m:r>
                        <m:rPr>
                          <m:nor/>
                        </m:rPr>
                        <a:rPr lang="en-GB" sz="2800"/>
                        <m:t>, </m:t>
                      </m:r>
                      <m:r>
                        <m:rPr>
                          <m:nor/>
                        </m:rPr>
                        <a:rPr lang="en-GB" sz="2800"/>
                        <m:t>it</m:t>
                      </m:r>
                      <m:r>
                        <m:rPr>
                          <m:nor/>
                        </m:rPr>
                        <a:rPr lang="en-GB" sz="2800"/>
                        <m:t>′</m:t>
                      </m:r>
                      <m:r>
                        <m:rPr>
                          <m:nor/>
                        </m:rPr>
                        <a:rPr lang="en-GB" sz="2800"/>
                        <m:t>s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set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to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zero</m:t>
                      </m:r>
                      <m:r>
                        <m:rPr>
                          <m:nor/>
                        </m:rPr>
                        <a:rPr lang="en-GB" sz="2800"/>
                        <m:t>.</m:t>
                      </m:r>
                    </m:oMath>
                  </m:oMathPara>
                </a14:m>
                <a:endParaRPr lang="en-GB" sz="2800"/>
              </a:p>
              <a:p>
                <a:endParaRPr lang="en-IN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GB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lit/>
                        </m:rPr>
                        <a:rPr lang="en-GB" sz="2800" i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:</m:t>
                      </m:r>
                      <m:r>
                        <m:rPr>
                          <m:nor/>
                        </m:rPr>
                        <a:rPr lang="en-GB" sz="2800"/>
                        <m:t>The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absolute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value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of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the</m:t>
                      </m:r>
                      <m:r>
                        <m:rPr>
                          <m:nor/>
                        </m:rPr>
                        <a:rPr lang="en-GB" sz="2800"/>
                        <m:t> </m:t>
                      </m:r>
                      <m:r>
                        <m:rPr>
                          <m:nor/>
                        </m:rPr>
                        <a:rPr lang="en-GB" sz="2800"/>
                        <m:t>coefficient</m:t>
                      </m:r>
                      <m:r>
                        <m:rPr>
                          <m:nor/>
                        </m:rPr>
                        <a:rPr lang="en-GB" sz="2800"/>
                        <m:t>.</m:t>
                      </m:r>
                    </m:oMath>
                  </m:oMathPara>
                </a14:m>
                <a:endParaRPr lang="en-GB" sz="2800" b="0"/>
              </a:p>
              <a:p>
                <a:endParaRPr lang="en-GB" sz="2800" b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GB" sz="2800"/>
              </a:p>
              <a:p>
                <a:endParaRPr lang="en-IN" sz="2800"/>
              </a:p>
              <a:p>
                <a:endParaRPr lang="en-GB" sz="2800" b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90DF6D-33D7-1D3D-9A5D-DF43B94A6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03" y="2091068"/>
                <a:ext cx="10076091" cy="8951618"/>
              </a:xfrm>
              <a:prstGeom prst="rect">
                <a:avLst/>
              </a:prstGeom>
              <a:blipFill>
                <a:blip r:embed="rId5"/>
                <a:stretch>
                  <a:fillRect l="-21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D68CD06-C4D9-1816-D32F-39CCD1A8663D}"/>
              </a:ext>
            </a:extLst>
          </p:cNvPr>
          <p:cNvSpPr txBox="1"/>
          <p:nvPr/>
        </p:nvSpPr>
        <p:spPr>
          <a:xfrm>
            <a:off x="-354841" y="2165245"/>
            <a:ext cx="32070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/>
              <a:t>Z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D40E6C-904C-8DE1-5FFC-EAA20E7523DB}"/>
                  </a:ext>
                </a:extLst>
              </p:cNvPr>
              <p:cNvSpPr txBox="1"/>
              <p:nvPr/>
            </p:nvSpPr>
            <p:spPr>
              <a:xfrm>
                <a:off x="12457294" y="3841428"/>
                <a:ext cx="4925644" cy="1048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IN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b="0"/>
              </a:p>
              <a:p>
                <a:endParaRPr lang="en-IN" sz="32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4D40E6C-904C-8DE1-5FFC-EAA20E752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294" y="3841428"/>
                <a:ext cx="4925644" cy="1048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49C5AD-E310-2CA6-05F0-29108169D760}"/>
              </a:ext>
            </a:extLst>
          </p:cNvPr>
          <p:cNvSpPr txBox="1"/>
          <p:nvPr/>
        </p:nvSpPr>
        <p:spPr>
          <a:xfrm>
            <a:off x="13917082" y="2688465"/>
            <a:ext cx="2006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/>
              <a:t>U Update</a:t>
            </a:r>
          </a:p>
        </p:txBody>
      </p:sp>
    </p:spTree>
    <p:extLst>
      <p:ext uri="{BB962C8B-B14F-4D97-AF65-F5344CB8AC3E}">
        <p14:creationId xmlns:p14="http://schemas.microsoft.com/office/powerpoint/2010/main" val="234900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99DE2-2D26-5D6C-8612-AB179364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39F0B64-A43E-B711-82CC-B1297E41E7EF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5BB0FAB-641B-C5C5-074D-39929EEE4A38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F178C6-349E-AAAC-68A5-B789E2EB0413}"/>
                  </a:ext>
                </a:extLst>
              </p:cNvPr>
              <p:cNvSpPr txBox="1"/>
              <p:nvPr/>
            </p:nvSpPr>
            <p:spPr>
              <a:xfrm>
                <a:off x="732327" y="2079662"/>
                <a:ext cx="11724967" cy="9881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000" b="1"/>
                  <a:t>RIDGE REGRESSION :</a:t>
                </a:r>
                <a:br>
                  <a:rPr lang="en-GB" sz="2800" b="1"/>
                </a:br>
                <a:br>
                  <a:rPr lang="en-GB" sz="2800" b="1"/>
                </a:br>
                <a:r>
                  <a:rPr lang="en-GB" sz="2800" b="1"/>
                  <a:t>ADMM Iterative Updates</a:t>
                </a:r>
                <a:endParaRPr lang="en-GB" sz="2800"/>
              </a:p>
              <a:p>
                <a:r>
                  <a:rPr lang="en-GB" sz="2800"/>
                  <a:t>The algorithm works by iteratively updating three variables until convergence.</a:t>
                </a:r>
              </a:p>
              <a:p>
                <a:endParaRPr lang="en-GB" sz="2800"/>
              </a:p>
              <a:p>
                <a:r>
                  <a:rPr lang="en-GB" sz="2800" b="1"/>
                  <a:t>X update :</a:t>
                </a:r>
              </a:p>
              <a:p>
                <a:r>
                  <a:rPr lang="en-IN" sz="2800"/>
                  <a:t>Ridge Regression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𝑧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800" i="1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GB" sz="2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Sup>
                      <m:sSubSup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lit/>
                          </m:rPr>
                          <a:rPr lang="en-IN" sz="2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/>
              </a:p>
              <a:p>
                <a:r>
                  <a:rPr lang="en-GB" sz="2800" b="1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800" i="0" smtClean="0">
                        <a:latin typeface="Cambria Math" panose="02040503050406030204" pitchFamily="18" charset="0"/>
                      </a:rPr>
                      <m:t>Using</m:t>
                    </m:r>
                    <m:r>
                      <a:rPr lang="en-GB" sz="280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GB" sz="280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m:rPr>
                        <m:sty m:val="p"/>
                      </m:rPr>
                      <a:rPr lang="en-GB" sz="2800" b="0" i="0" smtClean="0">
                        <a:latin typeface="Cambria Math" panose="02040503050406030204" pitchFamily="18" charset="0"/>
                      </a:rPr>
                      <m:t>we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800" b="0" i="0" smtClean="0">
                        <a:latin typeface="Cambria Math" panose="02040503050406030204" pitchFamily="18" charset="0"/>
                      </a:rPr>
                      <m:t>get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,    </m:t>
                    </m:r>
                  </m:oMath>
                </a14:m>
                <a:endParaRPr lang="en-GB" sz="2800"/>
              </a:p>
              <a:p>
                <a:endParaRPr lang="ar-AE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lit/>
                                    </m:r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𝐴𝑥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bSup>
                                    <m:sSub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GB" sz="28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a:rPr lang="en-GB" sz="28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8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8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𝐴𝑥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𝐴𝑥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ar-AE" sz="2800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r>
                  <a:rPr lang="en-GB" sz="2800" i="1">
                    <a:latin typeface="Cambria Math" panose="02040503050406030204" pitchFamily="18" charset="0"/>
                  </a:rPr>
                  <a:t>         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𝐴𝑥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num>
                                  <m:den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IN" sz="2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I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GB" sz="2800"/>
              </a:p>
              <a:p>
                <a:endParaRPr lang="en-IN" sz="2800"/>
              </a:p>
              <a:p>
                <a:endParaRPr lang="ar-AE" sz="2800" i="1">
                  <a:latin typeface="Cambria Math" panose="02040503050406030204" pitchFamily="18" charset="0"/>
                </a:endParaRPr>
              </a:p>
              <a:p>
                <a:endParaRPr lang="ar-AE" sz="2800"/>
              </a:p>
              <a:p>
                <a:endParaRPr lang="en-GB" sz="2800"/>
              </a:p>
              <a:p>
                <a:endParaRPr lang="ar-AE" sz="2800"/>
              </a:p>
              <a:p>
                <a:endParaRPr lang="en-GB" sz="28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EF178C6-349E-AAAC-68A5-B789E2EB0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27" y="2079662"/>
                <a:ext cx="11724967" cy="9881423"/>
              </a:xfrm>
              <a:prstGeom prst="rect">
                <a:avLst/>
              </a:prstGeom>
              <a:blipFill>
                <a:blip r:embed="rId5"/>
                <a:stretch>
                  <a:fillRect l="-1195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392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1C623-B009-6071-831D-1FDBFB36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89ED324-8DDC-5659-78CC-266194B46948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66CEF2-95D8-07C8-0602-48DD034BF648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AD60F-64B4-CE74-F0A9-FFA7AC91F33E}"/>
                  </a:ext>
                </a:extLst>
              </p:cNvPr>
              <p:cNvSpPr txBox="1"/>
              <p:nvPr/>
            </p:nvSpPr>
            <p:spPr>
              <a:xfrm>
                <a:off x="870155" y="2932320"/>
                <a:ext cx="6954711" cy="62040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N" sz="2800"/>
                  <a:t>Differentiating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   ,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𝑔𝑒𝑡</m:t>
                    </m:r>
                  </m:oMath>
                </a14:m>
                <a:endParaRPr lang="en-GB" sz="2800" b="0"/>
              </a:p>
              <a:p>
                <a:endParaRPr lang="en-GB" sz="2800"/>
              </a:p>
              <a:p>
                <a:r>
                  <a:rPr lang="en-GB" sz="28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−2</m:t>
                        </m:r>
                        <m:sSup>
                          <m:sSup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⊤</m:t>
                            </m:r>
                          </m:sup>
                        </m:sSup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800"/>
              </a:p>
              <a:p>
                <a:endParaRPr lang="en-GB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ar-AE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ar-AE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GB" sz="2800" i="1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d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⊤</m:t>
                              </m:r>
                            </m:sup>
                          </m:sSup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GB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GB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69AD60F-64B4-CE74-F0A9-FFA7AC91F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55" y="2932320"/>
                <a:ext cx="6954711" cy="6204006"/>
              </a:xfrm>
              <a:prstGeom prst="rect">
                <a:avLst/>
              </a:prstGeom>
              <a:blipFill>
                <a:blip r:embed="rId5"/>
                <a:stretch>
                  <a:fillRect l="-3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5917F5B-B031-96EC-AE6D-ADD1D66EE4A9}"/>
              </a:ext>
            </a:extLst>
          </p:cNvPr>
          <p:cNvSpPr txBox="1"/>
          <p:nvPr/>
        </p:nvSpPr>
        <p:spPr>
          <a:xfrm>
            <a:off x="1871648" y="2140801"/>
            <a:ext cx="24758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/>
              <a:t>X Update</a:t>
            </a:r>
            <a:endParaRPr lang="ar-AE" sz="3000"/>
          </a:p>
        </p:txBody>
      </p:sp>
    </p:spTree>
    <p:extLst>
      <p:ext uri="{BB962C8B-B14F-4D97-AF65-F5344CB8AC3E}">
        <p14:creationId xmlns:p14="http://schemas.microsoft.com/office/powerpoint/2010/main" val="7072304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151A7-3399-D135-69A5-D392FCBF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37A86A2-4366-08F5-0C1B-958D971A6DAE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D2D0A29-298E-8449-953E-8A1920011890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ADAA80-D22D-CF1B-14E3-C900005E82F5}"/>
                  </a:ext>
                </a:extLst>
              </p:cNvPr>
              <p:cNvSpPr txBox="1"/>
              <p:nvPr/>
            </p:nvSpPr>
            <p:spPr>
              <a:xfrm>
                <a:off x="1855679" y="3326400"/>
                <a:ext cx="7574217" cy="54039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8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lit/>
                                    </m:rP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IN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n-GB" sz="28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sz="28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800"/>
              </a:p>
              <a:p>
                <a:endParaRPr lang="en-IN" sz="2800"/>
              </a:p>
              <a:p>
                <a:r>
                  <a:rPr lang="en-IN" sz="2800"/>
                  <a:t>Differentiating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    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IN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28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𝑔𝑒𝑡</m:t>
                    </m:r>
                  </m:oMath>
                </a14:m>
                <a:endParaRPr lang="en-GB" sz="2800"/>
              </a:p>
              <a:p>
                <a:endParaRPr lang="en-GB" sz="2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l-PL" sz="28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l-PL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l-PL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pl-PL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sz="28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pl-PL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pl-PL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l-PL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l-PL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l-PL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pl-PL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l-PL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pl-PL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pl-PL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8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800"/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IN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2800" i="1">
                  <a:latin typeface="Cambria Math" panose="02040503050406030204" pitchFamily="18" charset="0"/>
                </a:endParaRPr>
              </a:p>
              <a:p>
                <a:endParaRPr lang="en-GB" sz="28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2800"/>
              </a:p>
              <a:p>
                <a:endParaRPr lang="en-IN" sz="28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5ADAA80-D22D-CF1B-14E3-C900005E8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679" y="3326400"/>
                <a:ext cx="7574217" cy="5403915"/>
              </a:xfrm>
              <a:prstGeom prst="rect">
                <a:avLst/>
              </a:prstGeom>
              <a:blipFill>
                <a:blip r:embed="rId5"/>
                <a:stretch>
                  <a:fillRect l="-2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EADA394-8183-5C6E-3F9A-B5434A33F83B}"/>
              </a:ext>
            </a:extLst>
          </p:cNvPr>
          <p:cNvSpPr txBox="1"/>
          <p:nvPr/>
        </p:nvSpPr>
        <p:spPr>
          <a:xfrm>
            <a:off x="9260762" y="6379281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b="0" i="1">
              <a:latin typeface="Cambria Math" panose="02040503050406030204" pitchFamily="18" charset="0"/>
            </a:endParaRPr>
          </a:p>
          <a:p>
            <a:endParaRPr lang="en-GB" b="0" i="1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68D663-64EA-BDBE-ABC7-DFC56F4523FB}"/>
                  </a:ext>
                </a:extLst>
              </p:cNvPr>
              <p:cNvSpPr txBox="1"/>
              <p:nvPr/>
            </p:nvSpPr>
            <p:spPr>
              <a:xfrm>
                <a:off x="12118667" y="3907719"/>
                <a:ext cx="4925644" cy="1048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IN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b="0"/>
              </a:p>
              <a:p>
                <a:endParaRPr lang="en-IN" sz="3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68D663-64EA-BDBE-ABC7-DFC56F452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8667" y="3907719"/>
                <a:ext cx="4925644" cy="1048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A591468-4086-8181-4FDD-F08E7C793175}"/>
              </a:ext>
            </a:extLst>
          </p:cNvPr>
          <p:cNvSpPr txBox="1"/>
          <p:nvPr/>
        </p:nvSpPr>
        <p:spPr>
          <a:xfrm>
            <a:off x="13448801" y="2328872"/>
            <a:ext cx="2265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/>
              <a:t>U Update</a:t>
            </a:r>
            <a:endParaRPr lang="ar-AE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0246D-F20F-9FBE-FF41-423192020536}"/>
              </a:ext>
            </a:extLst>
          </p:cNvPr>
          <p:cNvSpPr txBox="1"/>
          <p:nvPr/>
        </p:nvSpPr>
        <p:spPr>
          <a:xfrm>
            <a:off x="3447267" y="2235399"/>
            <a:ext cx="24758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/>
              <a:t>Z Update</a:t>
            </a:r>
            <a:endParaRPr lang="ar-AE" sz="3000"/>
          </a:p>
        </p:txBody>
      </p:sp>
    </p:spTree>
    <p:extLst>
      <p:ext uri="{BB962C8B-B14F-4D97-AF65-F5344CB8AC3E}">
        <p14:creationId xmlns:p14="http://schemas.microsoft.com/office/powerpoint/2010/main" val="2110106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72C4-04CC-03A6-1760-95B9A5BCF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2988B27-07D0-C58B-C26D-ABFA9CF2E931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BDA579A-D501-110E-BCDB-79CF4A6E77C6}"/>
              </a:ext>
            </a:extLst>
          </p:cNvPr>
          <p:cNvSpPr txBox="1"/>
          <p:nvPr/>
        </p:nvSpPr>
        <p:spPr>
          <a:xfrm>
            <a:off x="393700" y="570819"/>
            <a:ext cx="12063594" cy="1057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sym typeface="Klein Bold"/>
              </a:rPr>
              <a:t>Why do we need Elastic Regression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18757-C223-7556-40AF-127EF1AD83A9}"/>
              </a:ext>
            </a:extLst>
          </p:cNvPr>
          <p:cNvSpPr txBox="1"/>
          <p:nvPr/>
        </p:nvSpPr>
        <p:spPr>
          <a:xfrm>
            <a:off x="1696621" y="2903000"/>
            <a:ext cx="15635653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700">
                <a:ea typeface="+mn-lt"/>
                <a:cs typeface="+mn-lt"/>
              </a:rPr>
              <a:t>Each method alone has limits :</a:t>
            </a:r>
            <a:endParaRPr lang="en-US" sz="2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700" b="1">
                <a:ea typeface="+mn-lt"/>
                <a:cs typeface="+mn-lt"/>
              </a:rPr>
              <a:t>Lasso</a:t>
            </a:r>
            <a:r>
              <a:rPr lang="en-US" sz="2700">
                <a:ea typeface="+mn-lt"/>
                <a:cs typeface="+mn-lt"/>
              </a:rPr>
              <a:t> can fail when features are highly correlated (it randomly picks one).</a:t>
            </a:r>
            <a:endParaRPr lang="en-US" sz="2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700" b="1">
                <a:ea typeface="+mn-lt"/>
                <a:cs typeface="+mn-lt"/>
              </a:rPr>
              <a:t>Ridge</a:t>
            </a:r>
            <a:r>
              <a:rPr lang="en-US" sz="2700">
                <a:ea typeface="+mn-lt"/>
                <a:cs typeface="+mn-lt"/>
              </a:rPr>
              <a:t> keeps all features but doesn’t zero out any (no feature selection).</a:t>
            </a:r>
            <a:endParaRPr lang="en-US" sz="2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700">
              <a:ea typeface="+mn-lt"/>
              <a:cs typeface="+mn-lt"/>
            </a:endParaRPr>
          </a:p>
          <a:p>
            <a:r>
              <a:rPr lang="en-US" sz="2700" b="1">
                <a:ea typeface="+mn-lt"/>
                <a:cs typeface="+mn-lt"/>
              </a:rPr>
              <a:t> Elastic Net </a:t>
            </a:r>
            <a:r>
              <a:rPr lang="en-US" sz="2700">
                <a:ea typeface="+mn-lt"/>
                <a:cs typeface="+mn-lt"/>
              </a:rPr>
              <a:t>fixes both :</a:t>
            </a:r>
            <a:endParaRPr lang="en-US" sz="2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700">
                <a:ea typeface="+mn-lt"/>
                <a:cs typeface="+mn-lt"/>
              </a:rPr>
              <a:t>Keeps the </a:t>
            </a:r>
            <a:r>
              <a:rPr lang="en-US" sz="2700" b="1">
                <a:ea typeface="+mn-lt"/>
                <a:cs typeface="+mn-lt"/>
              </a:rPr>
              <a:t>stability</a:t>
            </a:r>
            <a:r>
              <a:rPr lang="en-US" sz="2700">
                <a:ea typeface="+mn-lt"/>
                <a:cs typeface="+mn-lt"/>
              </a:rPr>
              <a:t> of Ridge,</a:t>
            </a:r>
            <a:endParaRPr lang="en-US" sz="2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700">
                <a:ea typeface="+mn-lt"/>
                <a:cs typeface="+mn-lt"/>
              </a:rPr>
              <a:t>Keeps the </a:t>
            </a:r>
            <a:r>
              <a:rPr lang="en-US" sz="2700" b="1">
                <a:ea typeface="+mn-lt"/>
                <a:cs typeface="+mn-lt"/>
              </a:rPr>
              <a:t>sparsity (feature selection)</a:t>
            </a:r>
            <a:r>
              <a:rPr lang="en-US" sz="2700">
                <a:ea typeface="+mn-lt"/>
                <a:cs typeface="+mn-lt"/>
              </a:rPr>
              <a:t> of Lasso.</a:t>
            </a:r>
            <a:endParaRPr lang="en-US" sz="2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7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700" b="1">
                <a:ea typeface="+mn-lt"/>
                <a:cs typeface="+mn-lt"/>
              </a:rPr>
              <a:t>Elastic Net</a:t>
            </a:r>
            <a:r>
              <a:rPr lang="en-US" sz="2700">
                <a:ea typeface="+mn-lt"/>
                <a:cs typeface="+mn-lt"/>
              </a:rPr>
              <a:t> combines both pushes — a little smooth pull (Ridge) + a little snapping (Lasso) →</a:t>
            </a:r>
            <a:br>
              <a:rPr lang="en-US" sz="2700">
                <a:ea typeface="+mn-lt"/>
                <a:cs typeface="+mn-lt"/>
              </a:rPr>
            </a:br>
            <a:r>
              <a:rPr lang="en-US" sz="2700">
                <a:ea typeface="+mn-lt"/>
                <a:cs typeface="+mn-lt"/>
              </a:rPr>
              <a:t>Result: a </a:t>
            </a:r>
            <a:r>
              <a:rPr lang="en-US" sz="2700" b="1">
                <a:ea typeface="+mn-lt"/>
                <a:cs typeface="+mn-lt"/>
              </a:rPr>
              <a:t>balanced, powerful model</a:t>
            </a:r>
            <a:endParaRPr lang="en-US" sz="27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700" b="1">
              <a:ea typeface="Calibri"/>
              <a:cs typeface="Calibri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700" b="1">
                <a:ea typeface="Calibri"/>
                <a:cs typeface="Calibri"/>
              </a:rPr>
              <a:t>Elastic Net = Lasso + Ridge combo.</a:t>
            </a:r>
            <a:endParaRPr lang="en-US" sz="2700">
              <a:ea typeface="Calibri"/>
              <a:cs typeface="Calibri"/>
            </a:endParaRPr>
          </a:p>
          <a:p>
            <a:pPr marL="457200" indent="-457200">
              <a:buFont typeface="Arial,Sans-Serif"/>
              <a:buChar char="•"/>
            </a:pPr>
            <a:r>
              <a:rPr lang="en-US" sz="2700" b="1">
                <a:ea typeface="Calibri"/>
                <a:cs typeface="Calibri"/>
              </a:rPr>
              <a:t>It keeps important features (like Lasso) and stays stable (like Ridge)</a:t>
            </a:r>
            <a:endParaRPr lang="en-US" sz="2700">
              <a:ea typeface="Calibri"/>
              <a:cs typeface="Calibri"/>
            </a:endParaRPr>
          </a:p>
          <a:p>
            <a:endParaRPr lang="en-US" sz="2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0880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0303B-480A-4F8E-112F-A38E2DDF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45D25DA6-86B7-0DA1-A48B-A6F6B734A835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3E59547-0DDF-9A48-5897-67F42C755159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6184CA-FD9D-C4AD-131B-15F355194062}"/>
                  </a:ext>
                </a:extLst>
              </p:cNvPr>
              <p:cNvSpPr txBox="1"/>
              <p:nvPr/>
            </p:nvSpPr>
            <p:spPr>
              <a:xfrm>
                <a:off x="8605318" y="2235399"/>
                <a:ext cx="9477965" cy="7892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IN" sz="2800" b="1"/>
                  <a:t> Augmented </a:t>
                </a:r>
                <a:r>
                  <a:rPr lang="en-IN" sz="2800" b="1" err="1"/>
                  <a:t>Lagrangian</a:t>
                </a:r>
                <a:r>
                  <a:rPr lang="en-IN" sz="2800" b="1"/>
                  <a:t> :</a:t>
                </a:r>
              </a:p>
              <a:p>
                <a:r>
                  <a:rPr lang="en-IN" sz="2400"/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lit/>
                              </m:rPr>
                              <a:rPr lang="en-IN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𝐴𝑥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en-IN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Sup>
                              <m:sSubSupPr>
                                <m:ctrl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lit/>
                                  </m:rP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b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I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lit/>
                      </m:rPr>
                      <a:rPr lang="en-IN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IN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 </m:t>
                    </m:r>
                    <m:r>
                      <m:rPr>
                        <m:nor/>
                      </m:rPr>
                      <a:rPr lang="en-IN" sz="2400" i="0">
                        <a:latin typeface="Cambria Math" panose="02040503050406030204" pitchFamily="18" charset="0"/>
                      </a:rPr>
                      <m:t>subject</m:t>
                    </m:r>
                    <m:r>
                      <m:rPr>
                        <m:nor/>
                      </m:rPr>
                      <a:rPr lang="en-IN" sz="240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i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 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sz="2400" b="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r>
                  <a:rPr lang="en-IN" sz="240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𝜌</m:t>
                        </m:r>
                      </m:sub>
                    </m:sSub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lit/>
                          </m:rPr>
                          <a:rPr lang="en-IN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𝐴𝑥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lit/>
                              </m:rPr>
                              <a:rPr lang="en-IN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en-IN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  <m:sSubSup>
                          <m:sSubSup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lit/>
                              </m:rPr>
                              <a:rPr lang="en-IN" sz="24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IN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lit/>
                          </m:rPr>
                          <a:rPr lang="en-IN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lit/>
                      </m:rPr>
                      <a:rPr lang="en-IN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Sup>
                      <m:sSub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IN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GB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r>
                  <a:rPr lang="en-GB" sz="2800" b="1">
                    <a:latin typeface="+mj-lt"/>
                  </a:rPr>
                  <a:t>X Update :</a:t>
                </a: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lit/>
                                    </m:r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𝐴𝑥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lit/>
                                    </m:r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lit/>
                                    </m:r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m:rPr>
                              <m:sty m:val="p"/>
                            </m:rPr>
                            <a:rPr lang="ar-AE" sz="240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ar-A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l-PL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l-P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pl-PL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pl-PL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l-PL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pl-PL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pl-PL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sz="2400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pl-PL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l-PL" sz="2400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pl-PL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pl-PL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GB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GB" sz="2400"/>
              </a:p>
              <a:p>
                <a:endParaRPr lang="en-IN" sz="2400"/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46184CA-FD9D-C4AD-131B-15F355194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5318" y="2235399"/>
                <a:ext cx="9477965" cy="7892995"/>
              </a:xfrm>
              <a:prstGeom prst="rect">
                <a:avLst/>
              </a:prstGeom>
              <a:blipFill>
                <a:blip r:embed="rId4"/>
                <a:stretch>
                  <a:fillRect l="-2317" t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F11DC4F-7FA8-A629-B592-63010DD86A1A}"/>
              </a:ext>
            </a:extLst>
          </p:cNvPr>
          <p:cNvSpPr txBox="1"/>
          <p:nvPr/>
        </p:nvSpPr>
        <p:spPr>
          <a:xfrm>
            <a:off x="818865" y="3011797"/>
            <a:ext cx="738343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b="1"/>
              <a:t>ELASTIC NET REGRESSION :</a:t>
            </a:r>
          </a:p>
          <a:p>
            <a:r>
              <a:rPr lang="en-GB" sz="2600" b="1"/>
              <a:t>	</a:t>
            </a:r>
            <a:r>
              <a:rPr lang="en-GB" sz="2600"/>
              <a:t>Which is combination of both Lasso &amp; Ridge Regression</a:t>
            </a:r>
            <a:br>
              <a:rPr lang="en-GB" sz="2600" b="1"/>
            </a:br>
            <a:br>
              <a:rPr lang="en-GB" sz="2600" b="1"/>
            </a:br>
            <a:r>
              <a:rPr lang="en-GB" sz="2800" b="1"/>
              <a:t>ADMM Iterative Updates</a:t>
            </a:r>
            <a:endParaRPr lang="en-GB" sz="2800"/>
          </a:p>
          <a:p>
            <a:r>
              <a:rPr lang="en-GB" sz="2600"/>
              <a:t>The algorithm works by iteratively updating three variables until convergence.</a:t>
            </a:r>
          </a:p>
          <a:p>
            <a:endParaRPr lang="en-IN" sz="2500"/>
          </a:p>
        </p:txBody>
      </p:sp>
    </p:spTree>
    <p:extLst>
      <p:ext uri="{BB962C8B-B14F-4D97-AF65-F5344CB8AC3E}">
        <p14:creationId xmlns:p14="http://schemas.microsoft.com/office/powerpoint/2010/main" val="4224908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306A-B321-8679-CFA8-3A2D5757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B96C526-DD69-8447-23CD-F118C0024694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F4004C2-E0E3-5906-0347-6F5C65A8B458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UPDATE  EQUATIONS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8881C3-3CC5-90E4-69B3-FB3E113DA2F5}"/>
                  </a:ext>
                </a:extLst>
              </p:cNvPr>
              <p:cNvSpPr txBox="1"/>
              <p:nvPr/>
            </p:nvSpPr>
            <p:spPr>
              <a:xfrm>
                <a:off x="1519362" y="2474099"/>
                <a:ext cx="8825642" cy="6975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r>
                  <a:rPr lang="en-GB" sz="2800" b="1">
                    <a:latin typeface="+mj-lt"/>
                  </a:rPr>
                  <a:t>Z Update :</a:t>
                </a: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lim>
                              </m:limLow>
                            </m:fName>
                            <m:e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lit/>
                                    </m:rP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num>
                                    <m:den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m:rPr>
                                      <m:lit/>
                                    </m:r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p>
                                    <m:sSup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Sup>
                                    <m:sSubSup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lit/>
                                        </m:r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GB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dirty="0"/>
                        <m:t>Let</m:t>
                      </m:r>
                      <m:r>
                        <m:rPr>
                          <m:nor/>
                        </m:rPr>
                        <a:rPr lang="en-IN" sz="2400" dirty="0"/>
                        <m:t> 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ar-AE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𝜅</m:t>
                          </m:r>
                        </m:sub>
                      </m:sSub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4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ar-AE" sz="2400" i="1">
                          <a:latin typeface="Cambria Math" panose="02040503050406030204" pitchFamily="18" charset="0"/>
                        </a:rPr>
                        <m:t>= 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</m:e>
                      </m:d>
                      <m:r>
                        <a:rPr lang="ar-AE" sz="2400" i="1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ar-AE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GB" sz="2400" i="1">
                  <a:latin typeface="Cambria Math" panose="02040503050406030204" pitchFamily="18" charset="0"/>
                </a:endParaRPr>
              </a:p>
              <a:p>
                <a:endParaRPr lang="en-GB" sz="240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1">
                        <a:latin typeface="Cambria Math" panose="02040503050406030204" pitchFamily="18" charset="0"/>
                      </a:rPr>
                      <m:t>where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𝜅</m:t>
                        </m:r>
                      </m:sub>
                    </m:sSub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GB" sz="2400"/>
                  <a:t> is the Soft Thresholding operator where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endParaRPr lang="en-GB" sz="2400"/>
              </a:p>
              <a:p>
                <a:endParaRPr lang="en-IN" sz="2400"/>
              </a:p>
              <a:p>
                <a:r>
                  <a:rPr lang="en-GB" sz="240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ar-AE" sz="2400" i="1">
                        <a:latin typeface="Cambria Math" panose="02040503050406030204" pitchFamily="18" charset="0"/>
                      </a:rPr>
                      <m:t>= </m:t>
                    </m:r>
                    <m:r>
                      <a:rPr lang="ar-AE" sz="2400" i="1">
                        <a:latin typeface="Cambria Math" panose="02040503050406030204" pitchFamily="18" charset="0"/>
                      </a:rPr>
                      <m:t>𝑠𝑖𝑔𝑛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e>
                    </m:d>
                    <m:r>
                      <a:rPr lang="ar-AE" sz="2400" i="1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sv-SE" sz="24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ar-AE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ar-AE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ar-AE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400" i="1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</m:d>
                      </m:e>
                    </m:func>
                  </m:oMath>
                </a14:m>
                <a:endParaRPr lang="ar-AE" sz="2400" i="1">
                  <a:latin typeface="Cambria Math" panose="02040503050406030204" pitchFamily="18" charset="0"/>
                </a:endParaRPr>
              </a:p>
              <a:p>
                <a:endParaRPr lang="ar-AE" sz="2400"/>
              </a:p>
              <a:p>
                <a:endParaRPr lang="ar-AE" sz="2400"/>
              </a:p>
              <a:p>
                <a:endParaRPr lang="en-IN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18881C3-3CC5-90E4-69B3-FB3E113DA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362" y="2474099"/>
                <a:ext cx="8825642" cy="6975436"/>
              </a:xfrm>
              <a:prstGeom prst="rect">
                <a:avLst/>
              </a:prstGeom>
              <a:blipFill>
                <a:blip r:embed="rId4"/>
                <a:stretch>
                  <a:fillRect l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ECFA71F-B7E1-438A-8C11-9CD058D0AD67}"/>
              </a:ext>
            </a:extLst>
          </p:cNvPr>
          <p:cNvSpPr txBox="1"/>
          <p:nvPr/>
        </p:nvSpPr>
        <p:spPr>
          <a:xfrm>
            <a:off x="8865066" y="496794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D0CB2-008B-A6D1-F679-48B52B715AE7}"/>
                  </a:ext>
                </a:extLst>
              </p:cNvPr>
              <p:cNvSpPr txBox="1"/>
              <p:nvPr/>
            </p:nvSpPr>
            <p:spPr>
              <a:xfrm>
                <a:off x="11602578" y="4196645"/>
                <a:ext cx="4925644" cy="10483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IN" sz="32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I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IN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 b="0"/>
              </a:p>
              <a:p>
                <a:endParaRPr lang="en-IN" sz="32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9D0CB2-008B-A6D1-F679-48B52B715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578" y="4196645"/>
                <a:ext cx="4925644" cy="1048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CF8688D-70C0-3916-01B8-6CDDCC58414D}"/>
              </a:ext>
            </a:extLst>
          </p:cNvPr>
          <p:cNvSpPr txBox="1"/>
          <p:nvPr/>
        </p:nvSpPr>
        <p:spPr>
          <a:xfrm>
            <a:off x="12570970" y="3050427"/>
            <a:ext cx="2770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/>
              <a:t>U Update</a:t>
            </a:r>
          </a:p>
        </p:txBody>
      </p:sp>
    </p:spTree>
    <p:extLst>
      <p:ext uri="{BB962C8B-B14F-4D97-AF65-F5344CB8AC3E}">
        <p14:creationId xmlns:p14="http://schemas.microsoft.com/office/powerpoint/2010/main" val="4089107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C144-0446-2E0E-9AA0-451718CB2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BCB2FD9-38AC-9B46-8887-F7CB18D210D9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308AB6B-E10F-6C2E-7101-F0C8A478879F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RESIDUALS 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9E2B15-589B-6595-9B8E-FF43FA9C0C4F}"/>
                  </a:ext>
                </a:extLst>
              </p:cNvPr>
              <p:cNvSpPr txBox="1"/>
              <p:nvPr/>
            </p:nvSpPr>
            <p:spPr>
              <a:xfrm>
                <a:off x="787455" y="2686678"/>
                <a:ext cx="16499196" cy="656634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200" b="1">
                    <a:ea typeface="Calibri"/>
                    <a:cs typeface="Calibri"/>
                  </a:rPr>
                  <a:t>Residual Equations</a:t>
                </a:r>
              </a:p>
              <a:p>
                <a:endParaRPr lang="en-US" sz="3200" b="1"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GB" sz="3200"/>
              </a:p>
              <a:p>
                <a:endParaRPr lang="en-GB" sz="32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sz="3200"/>
              </a:p>
              <a:p>
                <a:endParaRPr lang="en-GB" sz="3200"/>
              </a:p>
              <a:p>
                <a:r>
                  <a:rPr lang="en-US" sz="3200">
                    <a:ea typeface="Calibri"/>
                    <a:cs typeface="Calibri"/>
                  </a:rPr>
                  <a:t>We will get to know about the convergence by checking both the residual norm and dual norm are less than tolerance value.</a:t>
                </a:r>
              </a:p>
              <a:p>
                <a:endParaRPr lang="en-GB" sz="3200"/>
              </a:p>
              <a:p>
                <a:endParaRPr lang="en-IN" sz="3200"/>
              </a:p>
              <a:p>
                <a:endParaRPr lang="en-GB" sz="3200"/>
              </a:p>
              <a:p>
                <a:endParaRPr lang="en-IN" sz="3200"/>
              </a:p>
              <a:p>
                <a:endParaRPr lang="en-US" sz="3200" b="1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9E2B15-589B-6595-9B8E-FF43FA9C0C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55" y="2686678"/>
                <a:ext cx="16499196" cy="6566349"/>
              </a:xfrm>
              <a:prstGeom prst="rect">
                <a:avLst/>
              </a:prstGeom>
              <a:blipFill>
                <a:blip r:embed="rId4"/>
                <a:stretch>
                  <a:fillRect l="-924" t="-1207" r="-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6613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10CB5-D5A5-82EE-60F3-AE2ADB884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E8C64510-5DEF-96A6-C80C-3E10F573DF24}"/>
              </a:ext>
            </a:extLst>
          </p:cNvPr>
          <p:cNvGrpSpPr/>
          <p:nvPr/>
        </p:nvGrpSpPr>
        <p:grpSpPr>
          <a:xfrm>
            <a:off x="1521040" y="795759"/>
            <a:ext cx="15945640" cy="5638888"/>
            <a:chOff x="0" y="-3612586"/>
            <a:chExt cx="21260852" cy="7518515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E2CFE0-D03A-31F0-47B5-6DD7FD775331}"/>
                </a:ext>
              </a:extLst>
            </p:cNvPr>
            <p:cNvSpPr txBox="1"/>
            <p:nvPr/>
          </p:nvSpPr>
          <p:spPr>
            <a:xfrm>
              <a:off x="6173253" y="-3612586"/>
              <a:ext cx="15087599" cy="299996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sz="5400" b="1">
                  <a:solidFill>
                    <a:schemeClr val="bg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Dataset Description </a:t>
              </a:r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  <a:p>
              <a:pPr algn="ctr">
                <a:lnSpc>
                  <a:spcPts val="9099"/>
                </a:lnSpc>
              </a:pPr>
              <a:endParaRPr lang="en-US" sz="5400" b="1">
                <a:solidFill>
                  <a:schemeClr val="bg1"/>
                </a:solidFill>
                <a:latin typeface="Klein Bold"/>
                <a:ea typeface="Klein Bold"/>
                <a:cs typeface="Klein Bold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D55909C-196F-BDEF-4F00-3219D73FBA05}"/>
                </a:ext>
              </a:extLst>
            </p:cNvPr>
            <p:cNvSpPr txBox="1"/>
            <p:nvPr/>
          </p:nvSpPr>
          <p:spPr>
            <a:xfrm>
              <a:off x="0" y="3208729"/>
              <a:ext cx="7143584" cy="69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 lang="en-US" sz="31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FF2F53E-C98F-0212-EE83-83403B5AF842}"/>
              </a:ext>
            </a:extLst>
          </p:cNvPr>
          <p:cNvSpPr txBox="1"/>
          <p:nvPr/>
        </p:nvSpPr>
        <p:spPr>
          <a:xfrm>
            <a:off x="1055225" y="3093816"/>
            <a:ext cx="15240000" cy="69865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3200" b="1"/>
              <a:t>General Info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/>
              <a:t>Dataset Source:</a:t>
            </a:r>
            <a:r>
              <a:rPr lang="en-IN" sz="3200"/>
              <a:t> Melbourne Housing Market</a:t>
            </a:r>
            <a:endParaRPr lang="en-IN" sz="32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b="1"/>
              <a:t>Dataset Link:</a:t>
            </a:r>
            <a:r>
              <a:rPr lang="en-IN" sz="3200"/>
              <a:t> </a:t>
            </a:r>
            <a:r>
              <a:rPr lang="en-IN" sz="3200">
                <a:hlinkClick r:id="rId2"/>
              </a:rPr>
              <a:t>Kaggle - Melbourne Housing Dataset</a:t>
            </a:r>
            <a:endParaRPr lang="en-IN" sz="3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/>
              <a:t>Use Case:</a:t>
            </a:r>
            <a:r>
              <a:rPr lang="en-US" sz="3200"/>
              <a:t> House price prediction using Lasso &amp; Ridge Regression (with ADMM)</a:t>
            </a:r>
            <a:br>
              <a:rPr lang="en-US" sz="3200"/>
            </a:br>
            <a:br>
              <a:rPr lang="en-US" sz="3200"/>
            </a:br>
            <a:br>
              <a:rPr lang="en-US" sz="3200"/>
            </a:br>
            <a:r>
              <a:rPr lang="en-US" sz="3200" b="1"/>
              <a:t>Dataset Features:</a:t>
            </a:r>
            <a:endParaRPr lang="en-US" sz="3200" b="1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Features :21</a:t>
            </a:r>
            <a:endParaRPr lang="en-US" sz="32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Instances : 13579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Typical</a:t>
            </a:r>
            <a:r>
              <a:rPr lang="en-US" sz="3200">
                <a:ea typeface="+mn-lt"/>
                <a:cs typeface="+mn-lt"/>
              </a:rPr>
              <a:t> features available: </a:t>
            </a:r>
            <a:r>
              <a:rPr lang="en-US" sz="3200" b="1">
                <a:ea typeface="+mn-lt"/>
                <a:cs typeface="+mn-lt"/>
              </a:rPr>
              <a:t>Suburb, Address, Rooms, Type, Price, Method, SellerG, Date, Distance, Postcode, Bedroom2, Bathroom, Car, Landsize, BuildingArea, YearBuilt, CouncilArea, Lattitude, Longtitude, Regionname</a:t>
            </a:r>
            <a:r>
              <a:rPr lang="en-US" sz="3200">
                <a:ea typeface="+mn-lt"/>
                <a:cs typeface="+mn-lt"/>
              </a:rPr>
              <a:t>, etc.</a:t>
            </a:r>
            <a:endParaRPr lang="en-US" sz="32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ea typeface="Calibri"/>
              <a:cs typeface="Calibri"/>
            </a:endParaRPr>
          </a:p>
          <a:p>
            <a:endParaRPr lang="en-IN" sz="3200">
              <a:ea typeface="Calibri"/>
              <a:cs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809611-0D96-DD25-5AF9-EF3A18B34FE4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84715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AABBC-4CF1-4619-8E3B-920B9B86CAA3}"/>
              </a:ext>
            </a:extLst>
          </p:cNvPr>
          <p:cNvSpPr txBox="1"/>
          <p:nvPr/>
        </p:nvSpPr>
        <p:spPr>
          <a:xfrm>
            <a:off x="510286" y="495192"/>
            <a:ext cx="780585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Open Sans"/>
                <a:ea typeface="Calibri"/>
                <a:cs typeface="Calibri"/>
              </a:rPr>
              <a:t>Dataset Description</a:t>
            </a:r>
          </a:p>
        </p:txBody>
      </p:sp>
    </p:spTree>
    <p:extLst>
      <p:ext uri="{BB962C8B-B14F-4D97-AF65-F5344CB8AC3E}">
        <p14:creationId xmlns:p14="http://schemas.microsoft.com/office/powerpoint/2010/main" val="422494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9C95D-B2E2-56F1-8B7F-BE8D393ED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AD899AFE-438F-93A8-EDEA-940F76661DD2}"/>
              </a:ext>
            </a:extLst>
          </p:cNvPr>
          <p:cNvGrpSpPr/>
          <p:nvPr/>
        </p:nvGrpSpPr>
        <p:grpSpPr>
          <a:xfrm>
            <a:off x="152400" y="114300"/>
            <a:ext cx="11315700" cy="6434647"/>
            <a:chOff x="-1215253" y="-4673599"/>
            <a:chExt cx="15087599" cy="8579528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E87797E-B010-45AE-6A7E-68CEA3921AC4}"/>
                </a:ext>
              </a:extLst>
            </p:cNvPr>
            <p:cNvSpPr txBox="1"/>
            <p:nvPr/>
          </p:nvSpPr>
          <p:spPr>
            <a:xfrm>
              <a:off x="-1215253" y="-4673599"/>
              <a:ext cx="15087599" cy="14439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endParaRPr lang="en-US" sz="5400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658E3C1-F137-E139-44F8-8BE3330ABC87}"/>
                </a:ext>
              </a:extLst>
            </p:cNvPr>
            <p:cNvSpPr txBox="1"/>
            <p:nvPr/>
          </p:nvSpPr>
          <p:spPr>
            <a:xfrm>
              <a:off x="0" y="3208729"/>
              <a:ext cx="7143584" cy="69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 lang="en-US" sz="31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A1E07CA-6E01-F2DF-BE75-6766CF7B0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862103"/>
              </p:ext>
            </p:extLst>
          </p:nvPr>
        </p:nvGraphicFramePr>
        <p:xfrm>
          <a:off x="9832" y="-6145"/>
          <a:ext cx="18278168" cy="1011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767">
                  <a:extLst>
                    <a:ext uri="{9D8B030D-6E8A-4147-A177-3AD203B41FA5}">
                      <a16:colId xmlns:a16="http://schemas.microsoft.com/office/drawing/2014/main" val="330786998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835101871"/>
                    </a:ext>
                  </a:extLst>
                </a:gridCol>
                <a:gridCol w="14859001">
                  <a:extLst>
                    <a:ext uri="{9D8B030D-6E8A-4147-A177-3AD203B41FA5}">
                      <a16:colId xmlns:a16="http://schemas.microsoft.com/office/drawing/2014/main" val="3866238527"/>
                    </a:ext>
                  </a:extLst>
                </a:gridCol>
              </a:tblGrid>
              <a:tr h="990495">
                <a:tc>
                  <a:txBody>
                    <a:bodyPr/>
                    <a:lstStyle/>
                    <a:p>
                      <a:r>
                        <a:rPr lang="en-US" sz="2400"/>
                        <a:t>Feature Name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Datatype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Description</a:t>
                      </a:r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997706"/>
                  </a:ext>
                </a:extLst>
              </a:tr>
              <a:tr h="1055098">
                <a:tc>
                  <a:txBody>
                    <a:bodyPr/>
                    <a:lstStyle/>
                    <a:p>
                      <a:r>
                        <a:rPr lang="en-US" sz="2400"/>
                        <a:t>Suburb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en-IN" sz="2400"/>
                    </a:p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Tells us the locality of house , like</a:t>
                      </a:r>
                    </a:p>
                    <a:p>
                      <a:r>
                        <a:rPr lang="en-US" sz="2400"/>
                        <a:t>Abbotsford, Airport West, Albert Park, Alphington</a:t>
                      </a:r>
                      <a:r>
                        <a:rPr lang="en-IN" sz="2400"/>
                        <a:t>..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610937"/>
                  </a:ext>
                </a:extLst>
              </a:tr>
              <a:tr h="798787">
                <a:tc>
                  <a:txBody>
                    <a:bodyPr/>
                    <a:lstStyle/>
                    <a:p>
                      <a:r>
                        <a:rPr lang="en-US" sz="2400"/>
                        <a:t>Address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Address of each house (unique to each house)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668949"/>
                  </a:ext>
                </a:extLst>
              </a:tr>
              <a:tr h="856555">
                <a:tc>
                  <a:txBody>
                    <a:bodyPr/>
                    <a:lstStyle/>
                    <a:p>
                      <a:r>
                        <a:rPr lang="en-US" sz="2400"/>
                        <a:t>Rooms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Integer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No of room ( Min: 1, Max: 10,)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168225"/>
                  </a:ext>
                </a:extLst>
              </a:tr>
              <a:tr h="856555">
                <a:tc>
                  <a:txBody>
                    <a:bodyPr/>
                    <a:lstStyle/>
                    <a:p>
                      <a:r>
                        <a:rPr lang="en-US" sz="2400"/>
                        <a:t>Type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String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Type of House : h (house), u (unit/duplex), t (townhouse)</a:t>
                      </a:r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148546"/>
                  </a:ext>
                </a:extLst>
              </a:tr>
              <a:tr h="990495">
                <a:tc>
                  <a:txBody>
                    <a:bodyPr/>
                    <a:lstStyle/>
                    <a:p>
                      <a:r>
                        <a:rPr lang="en-US" sz="2400"/>
                        <a:t>Price (Target)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Integer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Price in Australian Dollars</a:t>
                      </a:r>
                    </a:p>
                    <a:p>
                      <a:r>
                        <a:rPr lang="en-US" sz="2400"/>
                        <a:t>Min: 85,000 → Max: 9,000,000, Mean ≈ 1,075,684</a:t>
                      </a:r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624950"/>
                  </a:ext>
                </a:extLst>
              </a:tr>
              <a:tr h="2332457">
                <a:tc>
                  <a:txBody>
                    <a:bodyPr/>
                    <a:lstStyle/>
                    <a:p>
                      <a:r>
                        <a:rPr lang="en-US" sz="2400"/>
                        <a:t>Method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Sales Method:  </a:t>
                      </a:r>
                      <a:r>
                        <a:rPr lang="en-US" sz="2400" b="0"/>
                        <a:t>S (sold), SP (sold prior), PI (passed in), PN → Sold Prior, Price Not Disclosed</a:t>
                      </a:r>
                    </a:p>
                    <a:p>
                      <a:r>
                        <a:rPr lang="en-US" sz="2400" b="0"/>
                        <a:t>SN → Sold, Price Not Disclosed</a:t>
                      </a:r>
                    </a:p>
                    <a:p>
                      <a:r>
                        <a:rPr lang="en-US" sz="2400" b="0"/>
                        <a:t>NB → No Bid</a:t>
                      </a:r>
                    </a:p>
                    <a:p>
                      <a:r>
                        <a:rPr lang="en-US" sz="2400" b="0"/>
                        <a:t>VB → Vendor Bid (bid made by seller at auction, not genuine)</a:t>
                      </a:r>
                    </a:p>
                    <a:p>
                      <a:r>
                        <a:rPr lang="en-US" sz="2400" b="0"/>
                        <a:t>W → Withdrawn prior to auction</a:t>
                      </a:r>
                    </a:p>
                    <a:p>
                      <a:r>
                        <a:rPr lang="en-US" sz="2400" b="0"/>
                        <a:t>SA → Sold After Auction</a:t>
                      </a:r>
                    </a:p>
                    <a:p>
                      <a:r>
                        <a:rPr lang="en-US" sz="2400" b="0"/>
                        <a:t>SS → Sold After Auction, Price Not Disclosed</a:t>
                      </a:r>
                    </a:p>
                    <a:p>
                      <a:r>
                        <a:rPr lang="en-US" sz="2400" b="0"/>
                        <a:t>N/A → Price or highest bid not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592253"/>
                  </a:ext>
                </a:extLst>
              </a:tr>
              <a:tr h="470340">
                <a:tc>
                  <a:txBody>
                    <a:bodyPr/>
                    <a:lstStyle/>
                    <a:p>
                      <a:r>
                        <a:rPr lang="en-US" sz="2400" err="1"/>
                        <a:t>SellerG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String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Examples: Biggin, Nelson, Jellis, Ray, Hocking, … (many agents)</a:t>
                      </a:r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83361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2400"/>
                        <a:t>Date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date/Time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Range: 2016 – 2018 (format: dd/mm/</a:t>
                      </a:r>
                      <a:r>
                        <a:rPr lang="en-IN" sz="2400" err="1"/>
                        <a:t>yyyy</a:t>
                      </a:r>
                      <a:r>
                        <a:rPr lang="en-IN" sz="240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419709"/>
                  </a:ext>
                </a:extLst>
              </a:tr>
              <a:tr h="543175">
                <a:tc>
                  <a:txBody>
                    <a:bodyPr/>
                    <a:lstStyle/>
                    <a:p>
                      <a:r>
                        <a:rPr lang="en-US" sz="2400"/>
                        <a:t>Distance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Integer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Min: 0, Max: ~50 km from CBD(Melbourne’s Central Business District)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989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1430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16140" y="346990"/>
            <a:ext cx="11315700" cy="6201957"/>
            <a:chOff x="-863600" y="-4363346"/>
            <a:chExt cx="15087599" cy="8269275"/>
          </a:xfrm>
        </p:grpSpPr>
        <p:sp>
          <p:nvSpPr>
            <p:cNvPr id="6" name="TextBox 6"/>
            <p:cNvSpPr txBox="1"/>
            <p:nvPr/>
          </p:nvSpPr>
          <p:spPr>
            <a:xfrm>
              <a:off x="-863600" y="-4363346"/>
              <a:ext cx="15087599" cy="14439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endParaRPr lang="en-US" sz="5400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208729"/>
              <a:ext cx="7143584" cy="69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endParaRPr lang="en-US" sz="31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endParaRPr>
            </a:p>
          </p:txBody>
        </p:sp>
      </p:grp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73F9ADD-9D3F-589B-6A6A-1EB8013E4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38172"/>
              </p:ext>
            </p:extLst>
          </p:nvPr>
        </p:nvGraphicFramePr>
        <p:xfrm>
          <a:off x="0" y="0"/>
          <a:ext cx="18211800" cy="10287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20969062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733608087"/>
                    </a:ext>
                  </a:extLst>
                </a:gridCol>
                <a:gridCol w="13182600">
                  <a:extLst>
                    <a:ext uri="{9D8B030D-6E8A-4147-A177-3AD203B41FA5}">
                      <a16:colId xmlns:a16="http://schemas.microsoft.com/office/drawing/2014/main" val="2496830226"/>
                    </a:ext>
                  </a:extLst>
                </a:gridCol>
              </a:tblGrid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FEATURE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Datatype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Description</a:t>
                      </a:r>
                      <a:endParaRPr lang="en-IN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920859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IN" sz="2800"/>
                        <a:t>Postcode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Range: ~3000–3999 (Melbourne postcodes)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505872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Bedroom2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No of Bedrooms : Min: 0, Max: 20 </a:t>
                      </a:r>
                      <a:endParaRPr lang="en-IN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7625262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Bathroom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Min: 0, Max: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670155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Car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Min: 0, Max: 10 (car spots)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656279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Landsize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Min: 0, Max: 43,650 m² (large land parcels)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146815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BuildingArea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Min: 0, Max: ~44515 m²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075318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Council Area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String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Examples: Yarra, Darebin, Boroondara, Moreland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673401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YearBuilt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Range: 1196 – 2018 (mostly 1800s–2000s)</a:t>
                      </a:r>
                      <a:endParaRPr lang="en-IN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476691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Latitude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Range: -38.18 to -37.40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424016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Longitude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Range: 144.40 to 145.53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588105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RegionName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/>
                        <a:t>String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Examples: Northern Metropolitan, Western Metropolitan, Southern Metropolitan,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071580"/>
                  </a:ext>
                </a:extLst>
              </a:tr>
              <a:tr h="791308">
                <a:tc>
                  <a:txBody>
                    <a:bodyPr/>
                    <a:lstStyle/>
                    <a:p>
                      <a:r>
                        <a:rPr lang="en-US" sz="2800"/>
                        <a:t>Property Count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Integer</a:t>
                      </a:r>
                      <a:endParaRPr lang="en-IN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Min: 83, Max: 21650 (properties in a suburb)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9067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C0F9-CAAA-163A-6B99-EFDF7A172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3DA00BA-AB94-8FD8-A8C6-11634B420999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8419120-EE50-5B0C-0733-E4A2E400847B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  <a:sym typeface="Klein Bold"/>
              </a:rPr>
              <a:t>COMPUTATIONAL  DETAILS</a:t>
            </a:r>
            <a:endParaRPr lang="en-US" sz="5400" b="1">
              <a:solidFill>
                <a:srgbClr val="FFFFFF"/>
              </a:solidFill>
              <a:latin typeface="Open Sans"/>
              <a:ea typeface="Klein Bold"/>
              <a:cs typeface="Klein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D6F007-C248-3042-BB69-3517980D61FF}"/>
                  </a:ext>
                </a:extLst>
              </p:cNvPr>
              <p:cNvSpPr txBox="1"/>
              <p:nvPr/>
            </p:nvSpPr>
            <p:spPr>
              <a:xfrm>
                <a:off x="393700" y="2235399"/>
                <a:ext cx="17272498" cy="851002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3200" b="1" dirty="0">
                    <a:ea typeface="+mn-lt"/>
                    <a:cs typeface="+mn-lt"/>
                  </a:rPr>
                  <a:t>Missing data:</a:t>
                </a:r>
                <a:r>
                  <a:rPr lang="en-US" sz="3200" dirty="0">
                    <a:ea typeface="+mn-lt"/>
                    <a:cs typeface="+mn-lt"/>
                  </a:rPr>
                  <a:t> Addressed by Mode , Median</a:t>
                </a:r>
              </a:p>
              <a:p>
                <a:pPr marL="285750" indent="-285750">
                  <a:buFont typeface="Arial"/>
                  <a:buChar char="•"/>
                </a:pPr>
                <a:r>
                  <a:rPr lang="en-US" sz="3200" b="1" dirty="0">
                    <a:ea typeface="+mn-lt"/>
                    <a:cs typeface="+mn-lt"/>
                  </a:rPr>
                  <a:t>Categorical variables:</a:t>
                </a:r>
                <a:r>
                  <a:rPr lang="en-US" sz="3200" dirty="0">
                    <a:ea typeface="+mn-lt"/>
                    <a:cs typeface="+mn-lt"/>
                  </a:rPr>
                  <a:t> one-hot encode Suburb, Type, </a:t>
                </a:r>
                <a:r>
                  <a:rPr lang="en-US" sz="3200" dirty="0" err="1">
                    <a:ea typeface="+mn-lt"/>
                    <a:cs typeface="+mn-lt"/>
                  </a:rPr>
                  <a:t>Regionname</a:t>
                </a:r>
                <a:r>
                  <a:rPr lang="en-US" sz="3200" dirty="0">
                    <a:ea typeface="+mn-lt"/>
                    <a:cs typeface="+mn-lt"/>
                  </a:rPr>
                  <a:t>, </a:t>
                </a:r>
                <a:r>
                  <a:rPr lang="en-US" sz="3200" dirty="0" err="1">
                    <a:ea typeface="+mn-lt"/>
                    <a:cs typeface="+mn-lt"/>
                  </a:rPr>
                  <a:t>SellerG</a:t>
                </a:r>
                <a:r>
                  <a:rPr lang="en-US" sz="3200" dirty="0">
                    <a:ea typeface="+mn-lt"/>
                    <a:cs typeface="+mn-lt"/>
                  </a:rPr>
                  <a:t>, Method.</a:t>
                </a:r>
                <a:endParaRPr lang="en-US" sz="3200" dirty="0">
                  <a:ea typeface="Calibri"/>
                  <a:cs typeface="Calibri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3200" b="1" dirty="0">
                    <a:ea typeface="+mn-lt"/>
                    <a:cs typeface="+mn-lt"/>
                  </a:rPr>
                  <a:t>Feature scaling:</a:t>
                </a:r>
                <a:r>
                  <a:rPr lang="en-US" sz="3200" dirty="0">
                    <a:ea typeface="+mn-lt"/>
                    <a:cs typeface="+mn-lt"/>
                  </a:rPr>
                  <a:t> Z - score Normalization before Lasso/Ridge/ADMM to make lambda comparable across coefficients.</a:t>
                </a:r>
              </a:p>
              <a:p>
                <a:pPr marL="285750" indent="-285750">
                  <a:buFont typeface="Arial"/>
                  <a:buChar char="•"/>
                </a:pPr>
                <a:endParaRPr lang="en-US" sz="3200" dirty="0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3200" b="1" dirty="0">
                    <a:ea typeface="+mn-lt"/>
                    <a:cs typeface="+mn-lt"/>
                  </a:rPr>
                  <a:t>Train/test split:</a:t>
                </a:r>
                <a:r>
                  <a:rPr lang="en-US" sz="3200" dirty="0">
                    <a:ea typeface="+mn-lt"/>
                    <a:cs typeface="+mn-lt"/>
                  </a:rPr>
                  <a:t> 70 / 30 test train split</a:t>
                </a:r>
              </a:p>
              <a:p>
                <a:r>
                  <a:rPr lang="en-US" sz="3200" dirty="0">
                    <a:ea typeface="+mn-lt"/>
                    <a:cs typeface="+mn-lt"/>
                  </a:rPr>
                  <a:t>Among many values these are the below are the </a:t>
                </a:r>
                <a:r>
                  <a:rPr lang="en-US" sz="3200">
                    <a:ea typeface="+mn-lt"/>
                    <a:cs typeface="+mn-lt"/>
                  </a:rPr>
                  <a:t>best values.</a:t>
                </a:r>
                <a:endParaRPr lang="en-US" sz="3200" dirty="0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3200" dirty="0">
                    <a:ea typeface="+mn-lt"/>
                    <a:cs typeface="+mn-lt"/>
                  </a:rPr>
                  <a:t>For Lasso and Ridge:</a:t>
                </a:r>
              </a:p>
              <a:p>
                <a14:m>
                  <m:oMath xmlns:m="http://schemas.openxmlformats.org/officeDocument/2006/math">
                    <m:r>
                      <a:rPr lang="en-IN" sz="25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5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500" dirty="0">
                    <a:cs typeface="Segoe UI"/>
                  </a:rPr>
                  <a:t> = 0.1​</a:t>
                </a:r>
                <a:endParaRPr lang="en-US" sz="2500" dirty="0">
                  <a:ea typeface="Calibri"/>
                  <a:cs typeface="Segoe UI"/>
                </a:endParaRPr>
              </a:p>
              <a:p>
                <a14:m>
                  <m:oMath xmlns:m="http://schemas.openxmlformats.org/officeDocument/2006/math">
                    <m:r>
                      <a:rPr lang="en-IN" sz="25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5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2500" dirty="0"/>
                  <a:t> </a:t>
                </a:r>
                <a:r>
                  <a:rPr lang="en-US" sz="2500" dirty="0">
                    <a:cs typeface="Segoe UI"/>
                  </a:rPr>
                  <a:t>= 1.6​</a:t>
                </a:r>
                <a:endParaRPr lang="en-US" sz="2500" dirty="0">
                  <a:ea typeface="Calibri"/>
                  <a:cs typeface="Segoe UI"/>
                </a:endParaRPr>
              </a:p>
              <a:p>
                <a:r>
                  <a:rPr lang="en-US" sz="2500" dirty="0">
                    <a:cs typeface="Segoe UI"/>
                  </a:rPr>
                  <a:t> </a:t>
                </a:r>
                <a:r>
                  <a:rPr lang="en-US" sz="2500" dirty="0" err="1">
                    <a:cs typeface="Segoe UI"/>
                  </a:rPr>
                  <a:t>Max_iter</a:t>
                </a:r>
                <a:r>
                  <a:rPr lang="en-US" sz="2500" dirty="0">
                    <a:cs typeface="Segoe UI"/>
                  </a:rPr>
                  <a:t> = 3000 ​</a:t>
                </a:r>
                <a:endParaRPr lang="en-US" sz="2500" dirty="0">
                  <a:ea typeface="Calibri"/>
                  <a:cs typeface="Segoe UI"/>
                </a:endParaRPr>
              </a:p>
              <a:p>
                <a:r>
                  <a:rPr lang="en-US" sz="2500" dirty="0">
                    <a:ea typeface="+mn-lt"/>
                    <a:cs typeface="+mn-lt"/>
                  </a:rPr>
                  <a:t>tolerance</a:t>
                </a:r>
                <a:r>
                  <a:rPr lang="en-US" sz="2500" dirty="0">
                    <a:cs typeface="Segoe UI"/>
                  </a:rPr>
                  <a:t> = 1e-4 </a:t>
                </a:r>
                <a:endParaRPr lang="en-US" sz="2800" dirty="0">
                  <a:ea typeface="+mn-lt"/>
                  <a:cs typeface="+mn-lt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2800" dirty="0">
                    <a:ea typeface="+mn-lt"/>
                    <a:cs typeface="+mn-lt"/>
                  </a:rPr>
                  <a:t>For Elastic Net:</a:t>
                </a:r>
              </a:p>
              <a:p>
                <a14:m>
                  <m:oMath xmlns:m="http://schemas.openxmlformats.org/officeDocument/2006/math">
                    <m:r>
                      <a:rPr lang="en-IN" sz="25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25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500" dirty="0">
                    <a:cs typeface="Segoe UI"/>
                  </a:rPr>
                  <a:t> = 0.5</a:t>
                </a:r>
              </a:p>
              <a:p>
                <a14:m>
                  <m:oMath xmlns:m="http://schemas.openxmlformats.org/officeDocument/2006/math">
                    <m:r>
                      <a:rPr lang="en-IN" sz="25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IN" sz="25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500" dirty="0">
                    <a:cs typeface="Segoe UI"/>
                  </a:rPr>
                  <a:t> = 0.5</a:t>
                </a:r>
                <a:endParaRPr lang="en-US" sz="2500" dirty="0">
                  <a:ea typeface="Calibri"/>
                  <a:cs typeface="Segoe UI"/>
                </a:endParaRPr>
              </a:p>
              <a:p>
                <a14:m>
                  <m:oMath xmlns:m="http://schemas.openxmlformats.org/officeDocument/2006/math">
                    <m:r>
                      <a:rPr lang="en-IN" sz="25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5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sz="2500" dirty="0"/>
                  <a:t> </a:t>
                </a:r>
                <a:r>
                  <a:rPr lang="en-US" sz="2500" dirty="0">
                    <a:cs typeface="Segoe UI"/>
                  </a:rPr>
                  <a:t>= 1.6​</a:t>
                </a:r>
                <a:endParaRPr lang="en-US" sz="2500" dirty="0">
                  <a:ea typeface="Calibri"/>
                  <a:cs typeface="Segoe UI"/>
                </a:endParaRPr>
              </a:p>
              <a:p>
                <a:r>
                  <a:rPr lang="en-US" sz="2500" dirty="0">
                    <a:cs typeface="Segoe UI"/>
                  </a:rPr>
                  <a:t> </a:t>
                </a:r>
                <a:r>
                  <a:rPr lang="en-US" sz="2500" dirty="0" err="1">
                    <a:cs typeface="Segoe UI"/>
                  </a:rPr>
                  <a:t>Max_iter</a:t>
                </a:r>
                <a:r>
                  <a:rPr lang="en-US" sz="2500" dirty="0">
                    <a:cs typeface="Segoe UI"/>
                  </a:rPr>
                  <a:t> = 3000 ​</a:t>
                </a:r>
                <a:endParaRPr lang="en-US" sz="2500" dirty="0">
                  <a:ea typeface="Calibri"/>
                  <a:cs typeface="Segoe UI"/>
                </a:endParaRPr>
              </a:p>
              <a:p>
                <a:r>
                  <a:rPr lang="en-US" sz="2500" dirty="0">
                    <a:ea typeface="Calibri"/>
                    <a:cs typeface="Segoe UI"/>
                  </a:rPr>
                  <a:t> </a:t>
                </a:r>
                <a:r>
                  <a:rPr lang="en-US" sz="2500" dirty="0">
                    <a:ea typeface="+mn-lt"/>
                    <a:cs typeface="+mn-lt"/>
                  </a:rPr>
                  <a:t>tolerance</a:t>
                </a:r>
                <a:r>
                  <a:rPr lang="en-US" sz="2500" dirty="0">
                    <a:cs typeface="Segoe UI"/>
                  </a:rPr>
                  <a:t> = 1e-6</a:t>
                </a:r>
              </a:p>
              <a:p>
                <a:endParaRPr lang="en-US" sz="2000" dirty="0">
                  <a:ea typeface="Calibri"/>
                  <a:cs typeface="Calibri"/>
                </a:endParaRPr>
              </a:p>
              <a:p>
                <a:pPr algn="l"/>
                <a:endParaRPr lang="en-US" dirty="0">
                  <a:ea typeface="Calibri"/>
                  <a:cs typeface="Calibri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D6F007-C248-3042-BB69-3517980D6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0" y="2235399"/>
                <a:ext cx="17272498" cy="8510022"/>
              </a:xfrm>
              <a:prstGeom prst="rect">
                <a:avLst/>
              </a:prstGeom>
              <a:blipFill>
                <a:blip r:embed="rId4"/>
                <a:stretch>
                  <a:fillRect l="-918" t="-9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3D7C826-48E4-DF6C-0CC5-E37C172B116B}"/>
              </a:ext>
            </a:extLst>
          </p:cNvPr>
          <p:cNvSpPr txBox="1"/>
          <p:nvPr/>
        </p:nvSpPr>
        <p:spPr>
          <a:xfrm>
            <a:off x="12469659" y="6637229"/>
            <a:ext cx="491959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Segoe UI"/>
              </a:rPr>
              <a:t>​</a:t>
            </a:r>
            <a:endParaRPr lang="en-US" sz="2800">
              <a:ea typeface="Calibri"/>
              <a:cs typeface="Segoe UI"/>
            </a:endParaRPr>
          </a:p>
          <a:p>
            <a:r>
              <a:rPr lang="en-US" sz="2800">
                <a:cs typeface="Segoe UI"/>
              </a:rPr>
              <a:t>​</a:t>
            </a:r>
            <a:endParaRPr lang="en-US" sz="2800">
              <a:ea typeface="Calibr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80583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298A2-BC23-A783-8D1A-A258F6A5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A720686-4ADC-F46E-8DCA-89A222861DF9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451CE45-13D0-9E43-65BD-33221E17A6D8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</a:rPr>
              <a:t>RESULTS</a:t>
            </a:r>
          </a:p>
        </p:txBody>
      </p:sp>
      <p:pic>
        <p:nvPicPr>
          <p:cNvPr id="2" name="Picture 1" descr="A graph with a line&#10;&#10;AI-generated content may be incorrect.">
            <a:extLst>
              <a:ext uri="{FF2B5EF4-FFF2-40B4-BE49-F238E27FC236}">
                <a16:creationId xmlns:a16="http://schemas.microsoft.com/office/drawing/2014/main" id="{D5229F6E-23D3-AD03-B2FE-11C6445C7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544" y="2575952"/>
            <a:ext cx="7860926" cy="5891493"/>
          </a:xfrm>
          <a:prstGeom prst="rect">
            <a:avLst/>
          </a:prstGeom>
        </p:spPr>
      </p:pic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4B469A0F-0968-F30A-701C-7B42C625A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221" y="2581554"/>
            <a:ext cx="7860927" cy="5908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074E7B-97F1-2B96-DD8E-2E5E551D5DDD}"/>
              </a:ext>
            </a:extLst>
          </p:cNvPr>
          <p:cNvSpPr txBox="1"/>
          <p:nvPr/>
        </p:nvSpPr>
        <p:spPr>
          <a:xfrm>
            <a:off x="2965539" y="8963470"/>
            <a:ext cx="553671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ea typeface="Calibri"/>
                <a:cs typeface="Calibri"/>
              </a:rPr>
              <a:t>Lasso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62FFB5-53F0-543C-2792-D4D7FD934212}"/>
              </a:ext>
            </a:extLst>
          </p:cNvPr>
          <p:cNvSpPr txBox="1"/>
          <p:nvPr/>
        </p:nvSpPr>
        <p:spPr>
          <a:xfrm>
            <a:off x="12125885" y="8965827"/>
            <a:ext cx="553346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b="1"/>
              <a:t>Ridge Regression</a:t>
            </a:r>
            <a:r>
              <a:rPr lang="en-US" sz="5400" b="1">
                <a:ea typeface="Calibri"/>
                <a:cs typeface="Calibr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3997964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0AE7B-232B-7088-2374-02D38548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6C4C2D3-B7D4-C2CA-EA13-5CE28AE51683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FFB76F-DF37-6FAB-9FB9-38590CF4969A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</a:rPr>
              <a:t>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91DD4-E318-18BC-9143-B023D3892E11}"/>
              </a:ext>
            </a:extLst>
          </p:cNvPr>
          <p:cNvSpPr txBox="1"/>
          <p:nvPr/>
        </p:nvSpPr>
        <p:spPr>
          <a:xfrm>
            <a:off x="5302739" y="8885184"/>
            <a:ext cx="7682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b="1">
                <a:ea typeface="Calibri"/>
                <a:cs typeface="Calibri"/>
              </a:rPr>
              <a:t>Elastic Net Regression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3CA54E32-A841-B9EA-B35D-CC905DC78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2" y="2988859"/>
            <a:ext cx="8334375" cy="501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459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48ADA-A85B-2976-8711-3E1F0F5B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E70A4D2-B91E-B24C-C861-FC4AE681FE82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5FBE1EA-A5C5-A7B9-331E-55E3B4774774}"/>
              </a:ext>
            </a:extLst>
          </p:cNvPr>
          <p:cNvSpPr txBox="1"/>
          <p:nvPr/>
        </p:nvSpPr>
        <p:spPr>
          <a:xfrm>
            <a:off x="729877" y="422901"/>
            <a:ext cx="16823852" cy="1054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5000" b="1">
                <a:solidFill>
                  <a:srgbClr val="FFFFFF"/>
                </a:solidFill>
                <a:latin typeface="Open Sans"/>
              </a:rPr>
              <a:t>Results </a:t>
            </a:r>
            <a:r>
              <a:rPr lang="en-US" sz="5000" b="1" err="1">
                <a:solidFill>
                  <a:srgbClr val="FFFFFF"/>
                </a:solidFill>
                <a:latin typeface="Open Sans"/>
              </a:rPr>
              <a:t>comparision</a:t>
            </a:r>
            <a:r>
              <a:rPr lang="en-US" sz="5000" b="1">
                <a:solidFill>
                  <a:srgbClr val="FFFFFF"/>
                </a:solidFill>
                <a:latin typeface="Open Sans"/>
              </a:rPr>
              <a:t> of ADMM &amp; Scikit-Learn</a:t>
            </a:r>
            <a:endParaRPr lang="en-US" sz="5000" b="1">
              <a:solidFill>
                <a:srgbClr val="FFFFFF"/>
              </a:solidFill>
              <a:latin typeface="Open Sans"/>
              <a:ea typeface="Open Sans"/>
              <a:cs typeface="Open Sans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0B700E-F650-DA30-8EB4-386F781E3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596386"/>
              </p:ext>
            </p:extLst>
          </p:nvPr>
        </p:nvGraphicFramePr>
        <p:xfrm>
          <a:off x="3442447" y="3106270"/>
          <a:ext cx="11386201" cy="5406287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5949460">
                  <a:extLst>
                    <a:ext uri="{9D8B030D-6E8A-4147-A177-3AD203B41FA5}">
                      <a16:colId xmlns:a16="http://schemas.microsoft.com/office/drawing/2014/main" val="2832656172"/>
                    </a:ext>
                  </a:extLst>
                </a:gridCol>
                <a:gridCol w="2901461">
                  <a:extLst>
                    <a:ext uri="{9D8B030D-6E8A-4147-A177-3AD203B41FA5}">
                      <a16:colId xmlns:a16="http://schemas.microsoft.com/office/drawing/2014/main" val="3410675263"/>
                    </a:ext>
                  </a:extLst>
                </a:gridCol>
                <a:gridCol w="2535280">
                  <a:extLst>
                    <a:ext uri="{9D8B030D-6E8A-4147-A177-3AD203B41FA5}">
                      <a16:colId xmlns:a16="http://schemas.microsoft.com/office/drawing/2014/main" val="898953555"/>
                    </a:ext>
                  </a:extLst>
                </a:gridCol>
              </a:tblGrid>
              <a:tr h="838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300" b="1"/>
                        <a:t>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91961"/>
                  </a:ext>
                </a:extLst>
              </a:tr>
              <a:tr h="761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/>
                        <a:t>LASSO Regression using </a:t>
                      </a:r>
                      <a:r>
                        <a:rPr lang="en-US" sz="23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Scikit-Learn</a:t>
                      </a:r>
                      <a:endParaRPr lang="en-US" sz="23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b="1"/>
                        <a:t>0.7589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b="1"/>
                        <a:t>0.5249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022093"/>
                  </a:ext>
                </a:extLst>
              </a:tr>
              <a:tr h="761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/>
                        <a:t>Ridge Regression </a:t>
                      </a:r>
                      <a:r>
                        <a:rPr lang="en-US" sz="23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using Scikit-Learn</a:t>
                      </a:r>
                      <a:endParaRPr lang="en-US" sz="23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b="1"/>
                        <a:t>0.7226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b="1"/>
                        <a:t>0.3916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402477"/>
                  </a:ext>
                </a:extLst>
              </a:tr>
              <a:tr h="761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/>
                        <a:t>Elastic Net Regression </a:t>
                      </a:r>
                      <a:r>
                        <a:rPr lang="en-US" sz="23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using Scikit-Learn</a:t>
                      </a:r>
                      <a:endParaRPr lang="en-US" sz="23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b="1"/>
                        <a:t>0.6763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100" b="1"/>
                        <a:t>0.4422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219954"/>
                  </a:ext>
                </a:extLst>
              </a:tr>
              <a:tr h="761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3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LASSO Regression using ADMM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/>
                        <a:t>0.72265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/>
                        <a:t>0.39014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458482"/>
                  </a:ext>
                </a:extLst>
              </a:tr>
              <a:tr h="761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3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Ridge Regression using ADMM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/>
                        <a:t>0.72156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/>
                        <a:t>0.38964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564080"/>
                  </a:ext>
                </a:extLst>
              </a:tr>
              <a:tr h="7612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300" b="1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Elastic Net Regression using ADMM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/>
                        <a:t>0.72167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100" b="1"/>
                        <a:t>0.38981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290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448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1C156-3749-0224-7D33-BA790899A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D437DDF-18E1-0EA6-20E6-445BA58376F0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53BF65A-8CB1-CF59-8A85-C97F1B468C25}"/>
              </a:ext>
            </a:extLst>
          </p:cNvPr>
          <p:cNvSpPr txBox="1"/>
          <p:nvPr/>
        </p:nvSpPr>
        <p:spPr>
          <a:xfrm>
            <a:off x="393700" y="570819"/>
            <a:ext cx="12063594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99"/>
              </a:lnSpc>
            </a:pPr>
            <a:r>
              <a:rPr lang="en-US" sz="5400" b="1">
                <a:solidFill>
                  <a:srgbClr val="FFFFFF"/>
                </a:solidFill>
                <a:latin typeface="Open Sans"/>
                <a:ea typeface="Klein Bold"/>
                <a:cs typeface="Klein Bold"/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029A89-0412-5FD1-70A4-367FB7482C0D}"/>
              </a:ext>
            </a:extLst>
          </p:cNvPr>
          <p:cNvSpPr txBox="1"/>
          <p:nvPr/>
        </p:nvSpPr>
        <p:spPr>
          <a:xfrm>
            <a:off x="952027" y="2765412"/>
            <a:ext cx="16252469" cy="62940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Calibri"/>
                <a:ea typeface="Calibri"/>
                <a:cs typeface="Calibri"/>
              </a:rPr>
              <a:t>[1] Shingne, H., </a:t>
            </a:r>
            <a:r>
              <a:rPr lang="en-US" sz="2800" b="1" err="1">
                <a:latin typeface="Calibri"/>
                <a:ea typeface="Calibri"/>
                <a:cs typeface="Calibri"/>
              </a:rPr>
              <a:t>Sountharrajan</a:t>
            </a:r>
            <a:r>
              <a:rPr lang="en-US" sz="2800" b="1">
                <a:latin typeface="Calibri"/>
                <a:ea typeface="Calibri"/>
                <a:cs typeface="Calibri"/>
              </a:rPr>
              <a:t>, S., Karthiga, M. and Rajan, C., 2020. Lasso and Ridge Regression for Optimized Resource Allocation In Cloud Computing. Journal of Advanced Research in Dynamical and Control Systems, 12, pp.1740-1747.</a:t>
            </a:r>
          </a:p>
          <a:p>
            <a:endParaRPr lang="en-US" sz="2800" b="1">
              <a:latin typeface="Calibri"/>
              <a:ea typeface="Calibri"/>
              <a:cs typeface="Calibri"/>
            </a:endParaRPr>
          </a:p>
          <a:p>
            <a:r>
              <a:rPr lang="en-US" sz="2800" b="1">
                <a:latin typeface="Calibri"/>
                <a:ea typeface="Calibri"/>
                <a:cs typeface="Calibri"/>
              </a:rPr>
              <a:t>[2]. </a:t>
            </a:r>
            <a:r>
              <a:rPr lang="en-US" sz="2800" b="1">
                <a:ea typeface="+mn-lt"/>
                <a:cs typeface="+mn-lt"/>
              </a:rPr>
              <a:t>M. Hong and Z.-Q. Luo, “On the linear convergence of the alternating direction method of multipliers,” Mathematical Programming, vol. 162, no. 1, pp. 165–199, 2017.</a:t>
            </a:r>
            <a:endParaRPr lang="en-US" sz="2800" b="1">
              <a:solidFill>
                <a:srgbClr val="656565"/>
              </a:solidFill>
              <a:latin typeface="Calibri"/>
              <a:ea typeface="+mn-lt"/>
              <a:cs typeface="+mn-lt"/>
            </a:endParaRPr>
          </a:p>
          <a:p>
            <a:endParaRPr lang="en-US" sz="2800" b="1">
              <a:latin typeface="Calibri"/>
              <a:ea typeface="Calibri"/>
              <a:cs typeface="Calibri"/>
            </a:endParaRPr>
          </a:p>
          <a:p>
            <a:r>
              <a:rPr lang="en-US" sz="2800" b="1">
                <a:latin typeface="Calibri"/>
                <a:ea typeface="Calibri"/>
                <a:cs typeface="Calibri"/>
              </a:rPr>
              <a:t>[3] </a:t>
            </a:r>
            <a:r>
              <a:rPr lang="en-US" sz="2800" b="1">
                <a:ea typeface="+mn-lt"/>
                <a:cs typeface="+mn-lt"/>
              </a:rPr>
              <a:t>P. Sulc, S. Backhaus, and M. </a:t>
            </a:r>
            <a:r>
              <a:rPr lang="en-US" sz="2800" b="1" err="1">
                <a:ea typeface="+mn-lt"/>
                <a:cs typeface="+mn-lt"/>
              </a:rPr>
              <a:t>Chertkov</a:t>
            </a:r>
            <a:r>
              <a:rPr lang="en-US" sz="2800" b="1">
                <a:ea typeface="+mn-lt"/>
                <a:cs typeface="+mn-lt"/>
              </a:rPr>
              <a:t>, “Optimal distributed control of ˇ reactive power via the alternating direction method of multipliers,” IEEE Transactions on Energy Conversion, vol. 29, no. 4, pp. 968–977, 2014</a:t>
            </a:r>
            <a:endParaRPr lang="en-US" sz="2800" b="1">
              <a:solidFill>
                <a:srgbClr val="656565"/>
              </a:solidFill>
              <a:latin typeface="Calibri"/>
              <a:ea typeface="+mn-lt"/>
              <a:cs typeface="+mn-lt"/>
            </a:endParaRPr>
          </a:p>
          <a:p>
            <a:endParaRPr lang="en-US" sz="2800" b="1">
              <a:latin typeface="Calibri"/>
              <a:ea typeface="Calibri"/>
              <a:cs typeface="Calibri"/>
            </a:endParaRPr>
          </a:p>
          <a:p>
            <a:r>
              <a:rPr lang="en-US" sz="2800" b="1">
                <a:latin typeface="Calibri"/>
                <a:ea typeface="Calibri"/>
                <a:cs typeface="Calibri"/>
              </a:rPr>
              <a:t>[4] </a:t>
            </a:r>
            <a:r>
              <a:rPr lang="en-US" sz="2800" b="1">
                <a:ea typeface="+mn-lt"/>
                <a:cs typeface="+mn-lt"/>
              </a:rPr>
              <a:t>V. S. Swarna, M. and K. P. Soman., “Effect of dimensionality reduction on sparsity based hyperspectral unmixing. international conference on soft computing and pattern recognition. springer, cham, 2016.”</a:t>
            </a:r>
            <a:endParaRPr lang="en-US" sz="2800" b="1">
              <a:solidFill>
                <a:srgbClr val="656565"/>
              </a:solidFill>
              <a:latin typeface="Calibri"/>
              <a:ea typeface="+mn-lt"/>
              <a:cs typeface="+mn-lt"/>
            </a:endParaRPr>
          </a:p>
          <a:p>
            <a:endParaRPr lang="en-US" sz="2800" b="1">
              <a:latin typeface="Calibri"/>
              <a:ea typeface="Calibri"/>
              <a:cs typeface="Calibri"/>
            </a:endParaRPr>
          </a:p>
          <a:p>
            <a:r>
              <a:rPr lang="en-US" sz="2800" b="1">
                <a:latin typeface="Calibri"/>
                <a:ea typeface="Calibri"/>
                <a:cs typeface="Calibri"/>
              </a:rPr>
              <a:t>[5] </a:t>
            </a:r>
            <a:r>
              <a:rPr lang="en-US" sz="2800" b="1">
                <a:ea typeface="+mn-lt"/>
                <a:cs typeface="+mn-lt"/>
              </a:rPr>
              <a:t>https://www.kaggle.com/datasets/dansbecker/melbourne-housing-snapshot</a:t>
            </a:r>
            <a:br>
              <a:rPr lang="en-US" sz="1600" b="1">
                <a:latin typeface="Montserrat"/>
                <a:ea typeface="Calibri"/>
                <a:cs typeface="Calibri"/>
              </a:rPr>
            </a:br>
            <a:endParaRPr lang="en-US" sz="1100">
              <a:solidFill>
                <a:srgbClr val="656565"/>
              </a:solidFill>
              <a:latin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65640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E998A26-C820-F333-5E71-B632AFA9D518}"/>
              </a:ext>
            </a:extLst>
          </p:cNvPr>
          <p:cNvSpPr txBox="1"/>
          <p:nvPr/>
        </p:nvSpPr>
        <p:spPr>
          <a:xfrm>
            <a:off x="347977" y="3120327"/>
            <a:ext cx="1466122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600" dirty="0">
                <a:ea typeface="Calibri"/>
                <a:cs typeface="Calibri"/>
              </a:rPr>
              <a:t>THANK  YOU</a:t>
            </a:r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21EB2DB-E055-9E0E-FAF7-ABB7F40EDB4A}"/>
              </a:ext>
            </a:extLst>
          </p:cNvPr>
          <p:cNvSpPr/>
          <p:nvPr/>
        </p:nvSpPr>
        <p:spPr>
          <a:xfrm>
            <a:off x="0" y="0"/>
            <a:ext cx="18288000" cy="1903280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1DAF75-85EE-D71D-D918-02CB60F63762}"/>
                  </a:ext>
                </a:extLst>
              </p:cNvPr>
              <p:cNvSpPr txBox="1"/>
              <p:nvPr/>
            </p:nvSpPr>
            <p:spPr>
              <a:xfrm>
                <a:off x="5737123" y="7064478"/>
                <a:ext cx="36747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91DAF75-85EE-D71D-D918-02CB60F63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7064478"/>
                <a:ext cx="367473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8462B1D1-FA69-4F39-9A99-DCE733487EDB}">
  <we:reference id="wa104381909" version="3.19.0" store="en-US" storeType="omex"/>
  <we:alternateReferences>
    <we:reference id="wa104381909" version="3.19.0" store="omex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up&gt;&lt;mi&gt;r&lt;/mi&gt;&lt;mi&gt;k&lt;/mi&gt;&lt;/msup&gt;&lt;mo&gt;=&lt;/mo&gt;&lt;msup&gt;&lt;mi&gt;x&lt;/mi&gt;&lt;mi&gt;k&lt;/mi&gt;&lt;/msup&gt;&lt;mo&gt;-&lt;/mo&gt;&lt;msup&gt;&lt;mi&gt;z&lt;/mi&gt;&lt;mi&gt;k&lt;/mi&gt;&lt;/msup&gt;&lt;/math&gt;\&quot;,\&quot;base64Image\&quot;:\&quot;iVBORw0KGgoAAAANSUhEUgAAAdYAAABZCAYAAACDiwXjAAAACXBIWXMAAA7EAAAOxAGVKw4bAAAABGJhU0UAAABR3Ejz/AAADNZJREFUeNrtnQ+EVVsXwJeRkSQykiSRjIwxIkkyEs9nJCPDM8aTJJLkk0SSMUYiSfJkSJIkkTHyJJEkyROfjORJZCRPPo8kY2TE953VOdecue0/59xz7p1zz/n92N6fOf/uOmvtdfbea68lAvV0Bm1v0M4EbQJxADoOgD1AMjqC1he0/UEbD9q9oM0E7X+xNo2YAB0HwB7Ajgr1cdC+1gnT1i4jMkDHAbAHsLMhaMeCdi5o14L20CPkfYgM0HEA7AHSMWgR8HzQliEeQMcBsAdIR6dFyE8RDaDjANgDpKfHIuQxRAPoOAD2AOn51SLk3YgG0HEA7AHSc9Eg4DkJQ7MB0HEA7AFS8sQg5CnEAug4APYA6dEvlHmDkE8gGkDHAbAHSM8eMc+19yEaQMcBsAdIzzmDgP9BLICOA2AP0BjPDUK+i1gAHQfAHiA9K4L23SDkQ4gG0HEA7AHSs1/Mc+0bEA2g4wDYA6TnqkHAM4gF0HEA7AEa441ByDcRC6DjANgDpGetZUpgCNEAOg6APUB6hi1CXm05XlNgXU/ZDiBmQMcBsIeqcNsg4GnH8RejKQNNezUvySrRX0eXAR0HwB6qwieDUC4nPLfbIdj3EpYe2hu0degyoOMA2EMV2GIR0L4M5//NNACg4wDYQ1U5YhCSbhpelvD8+soIt4K2CrECOg6APVSVSYOQnyY8N17HT+v3jSBOQMcBsIcqoyWDZg1CHktw7mjs+A9B60WcgI4DYA9VZ4eY59p3e867EDtWpwVWI0pAxwGwBxA5YxDwXPRVY+OGLM7S0YEYAR0HwB4g5JFByPctx+ri9OPYcacRH6DjANgDLKARYKaNvicMx24K2tvo73rOMOIDdBwAe4DFDIh5rr3PcNzn6G/6z35EB+g4APYAP3PBIODPdceMx/72UcKNwQDoOAD2AAZeGoR8N/pbV9AeyOIafaRrA3QcAHsACyslzLRRL+RDQdsm4R6l+qixlYgN0HEA7AHMDIl5rv180L5Z/nYCsQE6DoA9gJlrYq9OMB9NA9T//7eIDdBxAOwBzLyzCFhLCe0M2kFpLDsHADoOgD00hU4JQ5Z1/lqzVugm2y8pztfw5wkJo7Lmox9/SfJJI7XOIsAXQVsbe35TPskH6Gcl6IgMSvOHTkZ6OBfpouryxozX12tr0MTn6Jr/lbAWZFdOz4+OA7SxPWgHtF3CzbPaMUxFnYTpRzxJcD3tWG47huxvc+h8DliuvanuuAkxlxbaiJ6WEt08PhQ5vFmHDtYiBhsJbFAjfui47pugLc/ht6DjkCc7PPbQjDaV4/MX3h50yDwadT5/iTnKytZ81QP6HU453iYy/oa7hmt+sIyabYvdUB76o1mVuZSGfzblfbYl1O88AibQcciTsSVwrHmWYyu8PUxlENQex3VHUjjpecmWBNnUud2yHPunmDcUd2Jrbc+vQXtveL/fEurhh5QfpF8SXvdODr8NHYc8edpipzqa8/MX3h60gxiIprR0KqxbwkXfdxmc4YEGBN9oNowey/WGUz7bMWyt7TkY6aUm4D4eTXfVdFR1+1wCPdyR4D5bZCE9WiscKzoOebJC0s1MZm13cn7+traHdWJOblxrDy3n7WtQ+NsbfM7jluvZMmxoR/tJihWG/csSTMssVZtqohx1rX6Z55h7km15Y438vPHc17IacBl0HIrDUAvt/XkCm6ycPTxzCOyM4Xh1jvF1LZ1uuCL+dajvGYblUw0IbNTyHEM41rZ2rEnY6nm+x45zO+qm0GrRxB3RSPeG4XqvJHvwUhl0HIrD9RbZ+ozkFxVfKnt47BDaTsMIt/ZVoCPd32J/2+l5Ac8afL4OMQeoXPOcpzX5TFGirxM4wKeSf1FcHGtrcS1zfHO830sJpre2RB+Tk9HHZ9YUamXRcSgO7w1TtepgNmccXR6SxWuYm5vw7KWwB9s6Un11dv33+ALxfsO1JhydWaMlfPozfIXY1ttGHC9Uo6YfMmJte8d61fOMWw3nxMtT/dHCZy2LjkMx6JbFiRS25ain87EZyD3Yg5lljo7nvuNL/pTlesvl56nl2bqRbVpsw/skSSfWiHkNecYydXcqUpgeHGvbO1bfGtOIQVdqyxlvpLWJvMui41AMjsb63rze80ZZvNx3CHtorLM/aTluMsF1NbjpsIRbI7LOvz8xPNt0DiOX3+uO641G6ZeapCw41tayyvOMN+uOfxDrjLpb/Kxl0XEoBrX1ydM5XW9l9LFZ06sL2ENjXwbxCF79SvhbFgrIdrVQQZaJOWT8SoprbBB75PPZaCpgV/QbPzZxpIJjbT1vHc/4KnZcPN/o4RY/Y5l0HJYefdcaQ6BTwHnt4XzgmMnEHhJ+GdTWV2vEqwsMtFhJ9lqebzDldS5K9mQY0H640mx+j4xYA/JqcQZLse6IjkOe6GzLa8kvWUNcr7Tg+HLsobEvg/h07y7xZ7xoJpcln207+kXi25c4ik2WDl8Sk19iX+Nfg7YeHQcw2o+O7tZiD34GHTc8Hh3zWhbCqruW4MVOi7myQSNsizpP0++9gA2Vkl7x72et13l0HCAcVM3HPjp7sIdkXHF0OJrU+HDsv4+WRFm2RJ3pXNR06o86luUmSZL+VyX6vUut461KTLBUrQq5mHXmJh4BPIA9JMcW2KGjU50m/ijpo7EAisb9BJ3lVsSEY8Wx/mBF3ajxOCqd7ovEpjhaqueEEOwA5WDU01FeR0Q4Vhyr8UP0KuqcjsMOxdFp3xlpTWg1QLPZ6+koBxERjhXH+oNx8RdgAQeTDsWpCVcjsbYgKmhzOsVdPusIIsKx4lh/lGOL59Zlr3NKdHPsrEVp/pEwkIMpMigT046O8hbiwbFW3LHGK5Zp0NJ61Dg9/Q6l+RQbrW5EVFCBzv414sGxVtixxiuWqXPdhgo3xngC5bmGmKBEDHv0fRUiggqiWZT+I+6KZZCQlwkcK2urUCaOCgFMAPXci9nAacTROL6KH9oeISYoEZqQ+6tH5y8jJqgYYzH9v4E4suGbEtNGJqLmQHWbpeFFgud9gXpChdgf0/2nEiYEggzc9HQw7xARjrVEjjWeHMK15eY7nQtUBM0yVosA1ux7qxFJdj55OsQziAjHWhLHuj3mTHUq2FfpZgAVhZKzRhZqa+u2mk2IJDt9no5FOyH2L+FYy+BYV0SzL7XnGZFw//a845nHUFEoMbpNqLYsooXQdyGSfDgp/hJagGMtg2O9IeZcwI+EoD2oJrdjuv4b4siPR57O8CAiwrGWwLHGAzPeSLhXr4YrIf+3aFQLUDZOC8Xum4IGZrimwebrOiDAsbajY10rYVpOfQZN29ld9/c9nudmegzKxj5ZXLkMcmRQ2md7BECjPI7p9IEGPjBPIkIoEb2ysIdb11c7EUm+/O5xrMy5Q7sTryF8x3HcM4cdTCa812YJg52Y5YGiohHAHyK9non+G3LmrTANDOX+Mv8mC3uxXSWvzjtsYS7BvfSrv1Yth9yqUER0ZuZ5pKOfhRS1TWG9Z7RKMXNoZ/Sj8C9ZCEDq8xzvK3zuO38iwagYYCmpJQLSLZR7EEdzOCxEA0N5uRXT5aMJv+ZdWZj+7Th3JDrmo1ARB4pJfFulBitRsLxJTIo7KQQpraBoqE5qJiTfFNbZmC7fS3H955I+b7DWqaylgmMUAEVkwNLHa2k4LRfajYjyQfflzTo6kWeICArGMVkcuavTvEc8X+YzKUeQl8Q9i7Oj7ngNVqqlAz3PK4ICok7zi/i3wj2RMF8wZKDfI2S2F0CR2OXQVQ3AOyXh1rG7sf+v2wl6U97Ht6dYoyl7omOHJMyrWqsEAlA0dIbnvaTbaz6O2Bpn3CNckjBDkbgp6ZNR7G3gPjqT8znlfXRU3MUrgoLREY1CG03k0mi2MQ2K1SWRSlaFeukQ6jQ6CQXjTsqOIcv+68sp7kMlECgq1yRblrS00e0aDHVPFm/XvFAlga/yCJS1IigaJxN2BmrMIxnvpV/cswnupWurfbwaKCDHJJ8UpKdT3NMWDFuZkqPDHmHuRC+hYOie1D/Fv/7Zn9P9Rjz30ujhdbwWKCDxOAENQtX91cclrOb0UNypO01td4J7djvOf88rASguy6KRq2570e0tmvRBA5Q0D7DuMc0736lGAN+P7lG7l36VD/IqoMBotTJd6ut12NGwuFN4xluSvdmu5CrzvBIAAGhn1AkmDTzS7TUPEjhXX/WbLnEvmQAAAFQKXUKZ9jjXI55r2Bz0DcQLAABVRddibckkNFPTvxzn7rac04NYAQCgyqyNRpm2Kk+2yk0dUuGIYAAAAB8a/PSH2OsTaxKIWsDgJoMzHkOEAAAAP6N7tTXzWdJtOrpW24/YAAAA3GhmJc1odjtob2TxljfNlX1FwpzeleD/VIqhvVISk98AAADXdEVYdE1hdGhNTAA8bWF0aCB4bWxucz0iaHR0cDovL3d3dy53My5vcmcvMTk5OC9NYXRoL01hdGhNTCI+PG1zdHlsZSBtYXRoc2l6ZT0iMTZweCI+PG1zdXA+PG1pPnI8L21pPjxtaT5rPC9taT48L21zdXA+PG1vPj08L21vPjxtc3VwPjxtaT54PC9taT48bWk+azwvbWk+PC9tc3VwPjxtbz4tPC9tbz48bXN1cD48bWk+ejwvbWk+PG1pPms8L21pPjwvbXN1cD48L21zdHlsZT48L21hdGg+INJPWAAAAABJRU5ErkJggg==\&quot;,\&quot;slideId\&quot;:277,\&quot;accessibleText\&quot;:\&quot;r to the power of k equals x to the power of k minus z to the power of k\&quot;,\&quot;imageHeight\&quot;:14.24},{\&quot;mathml\&quot;:\&quot;&lt;math style=\\\&quot;font-family:stix;font-size:16px;\\\&quot; xmlns=\\\&quot;http://www.w3.org/1998/Math/MathML\\\&quot;&gt;&lt;msup&gt;&lt;mi&gt;s&lt;/mi&gt;&lt;mi&gt;k&lt;/mi&gt;&lt;/msup&gt;&lt;mo&gt;=&lt;/mo&gt;&lt;mi&gt;&amp;#x3C1;&lt;/mi&gt;&lt;mo&gt;(&lt;/mo&gt;&lt;msup&gt;&lt;mi&gt;z&lt;/mi&gt;&lt;mi&gt;k&lt;/mi&gt;&lt;/msup&gt;&lt;mo&gt;-&lt;/mo&gt;&lt;msup&gt;&lt;mi&gt;z&lt;/mi&gt;&lt;mrow&gt;&lt;mi&gt;k&lt;/mi&gt;&lt;mo&gt;-&lt;/mo&gt;&lt;mn&gt;1&lt;/mn&gt;&lt;/mrow&gt;&lt;/msup&gt;&lt;mo&gt;)&lt;/mo&gt;&lt;/math&gt;\&quot;,\&quot;base64Image\&quot;:\&quot;iVBORw0KGgoAAAANSUhEUgAAAvoAAABpCAYAAABLcocRAAAACXBIWXMAAA7EAAAOxAGVKw4bAAAABGJhU0UAAABUrCIHcwAAFa9JREFUeNrtnQ+EF9sXwI+VlaxIkiSR5ElW5EmSRJIka8lKnqxIniQ/kSQriSTJk0iykixJkjyRJEkiT5InkZUkiSTJWvH7zfl9Z+3st3vvzPf7nZnvvTOfD9f7s9+Ze++Ze86cuffcc0UAAAAAwqc3KtuicjQqFxFHpVgRlT7EAAAAAFBteqLSH5WBqJyIyo2ojEflv4nyAjFVgvlRuRCVn1H5A3EAAAAAVA917O9H5VuTQ28r5xBZ0MyKypGofE08Uxx9yA2W/wAAWwXgD0ui8mdUTkblUlT+TnH0tyOyYBmUX1docPShLVj+AwBsFUCY7LA4+ZPSmBGGsFgTlSeOjzccfcgEy38AgK0CCJ9eiy48RDRBsTgqoxlsHI4+ZILlPwDAVgGEz0qLLowgmiCYHT+rH5JtMgNHH9qG5T8AwFYBhMVOiz5sRDTeMxyVD1EZi8omaYQnLo/KGxx9KAKW/wAAWwUQFmcMuvAjdhrBX3SF8pY0VmSaGcLRhyJg+Q8AsFUAYfHAoAu3EIv3zHf8bR6OPhQBy38AgK0CCAedtZ806MIhRBM8OPqQOyz/AQC2CiAcNlmcwX5Eg6MP0AzLfwCArQIIh5MGXfiMWHD0AZph+Q8AsFUAYfHYoAtjiAVHH6AZlv8AAFsFEA5zovLToAvDiAZHH6AZlv8AAFsFEA4DFkdwCaLB0QdohuU/gGzMlcaBTYCtAugmFwy6MI5YcPRbZB7vtOrD8h9ANgaj8lEaMeLLEAe2CqCLvDLowihiwdFvkdvxfe9EZTFiryYs/wG40YNNbiZ0Q7O+zEMs2CqALrHQoguDiAZHv0UOJ+79NSq7EH31YPkPwM7mqHxK6Mb1qMxCLNgqgC4yZHECbRMQevbE5RYLseD1cPSVrVH5JjNXhmbzCKoDy38AZk416cUFRIKtAvCAawZdeOH4/ZlYV/S8iUmHE5kslxFzbRx9ZbXMnNR6KayWVgKW/wB+RUN1mg9lOodYsFUAnvDRoAtZbdQKhxP5NiojUdkWlUWIuVaOvsSO/btEXer4r+dRhA3LfwAz0U224036cBaxYKsAPOE3iy5s7+D6D4x/HP2YRU3O/oSQlSdoWP4DmGatzFy6ZPxiqwB8Y59h7Go2qqx7h5pXK69KI20w4Ognnf0PTfWySTdQWP4DaKAnrn5rGse3EAu2CsAzbhrG8cOM155JXPMD5w1H34Gu/HxuqnuIxxIWLP8BNNgYle9NY/mZkHUAWwXgFz0GW/Xf+GM1jeOJ32toxirEiaOfgsbn/2zT7oIHsPwH0AjXaZ7J1/CdhYgGWwXgob0yOX8bU647LZwDgqPfHvub6teVoDU8njBg+Q/qzlL5NSZfHcgNiAZbBeAhRw26oOO6x3HNFZmZjrYHMeLot8hYUxs0lJJQR89h+Q/qjs5ovTHowAlEg60C8JR7Bl24bfmtrlrdT/zuCOLD0e/gfdm8OVfDWzk80mNY/oO6c8cw/v9BLNgqAE9Rp8qUQeqQ4beaJvh1/He9hk2UOPqdst3QlvM8Jn9h+Q/qzBExx3yvRDTYKgBP2Wpx/PoNv/sS/03/WXYo4mbJls6228X3dLq+OfrKbUN7tqCafsLyH9SVfvk1iwAzE9gqAN85bdCFL02/OZH423tpZJwqGxz96jr6yw3vzw9CcgPvYPkP6orO7L4yjH2NAZ+PeLBVAB7zzKALY/Hf1H7dTfx/Pd27W5slcfSr6+grlwxtuoR6+kUoy38AeTNiGfunEA22CsBj+sS8EjksjVSH7+TX8LY+HH0c/QKwHUD4O2rqD6Es/wHkyZKoTBjGvs7+kjMfWwXgM4OOSYoJy98O4ejj6BeEKaSSZBYeEcryH0CeXLUYzeuIBlsF4DmXHI7fZDz+m///a8QWND47+rstbdvNY+s+IS3/AeTFSofR3Ip4sFUAnvPGYr/04KJ1Udkj7aWhBRz9dugV8/6pt0KWs64T0vIfQF6MWcb2d4wStgrAcxZZxvsTmQ477BXzwXJ3ER+OfkHctrRvH4+uu7D8B3VjmWPMjyEebBWA5/xh0YNlTb+7KObzQZYiQhz9Athrad8bHl13YfkP6sZZh8Hcg3iwVQCeY1qRfGf4Xb+QVQxHvzxck2gDVX0oi+IvnGtReR6Vb9JYYtYv6h/x/9NTGjW/s+s49qksEgsLaB/Lf5A3i6WxVKebWl/E42cyHvcT8X/rgRp3EuN/QUlt0zzsnx3GaBmPz1tbiq0CaPDJMM6vWn77VMyZqnoRI45+AXy0tPFR1R7G8viL+6dkT+ukv30ojbzeO6QxC6XHCE+lk5sooJ0s/0GeaK7yey2O++R4Use/v+A2Djra8LnCz2atlJ+q7ha2CtCH3PXBlkhgqEXd+ZNhgKNfADcc7VxRlQexX8w7jzWfsx6/vkqmN/vp7KIuOZ9wfAVNlRcFtJXlP8jrxfNQfo2Z1pjqzYmZI515PSTuGXUt56S4DbG3HPXerPAzGumCY7MLWwXoQ+76cMByf1sq2R6Lf8H+FRz9IjjmaGcl7PBxS+d0J/KclGv7xJ4JpKhNgiz/QR5K3TyDrzPzSxzXqMP/JuWl+HcBzv4sy0f4VDld4ef0sGSn5ji2CtCHQvThVhtOu803GWQo4OjnzICjneOhP4Btlo79G5XZLdxn1HKfszm3l+U/6ATdU3K/g/GgIRffU16O53Nu846U+oYq+qzmSHvhVO2W69gqQB8K0Qed/PhhqONSynVzLfb2Zcp1m+OPIlIO4+hnZXGKPvweqvBVCd5aOjXc4r1644+Dop2QKiz/hXKstm/xzp2yyDBGdaZ8e4v3OZ6h32tybPdfKXVtqOjLYbDEcfpYGisn2CpAH/LXhw3S/sz8SWktpKgntvN/M2S88TNDcPQl5UP6RKgPYLujU/PbuN8WKf60zios/+Hod+dr/Z3kkzprnrhDabTcy7HtL1Lqqmpox+WSxuh4m/auDrYK0Ic8sI3reRmuXWCxt9pOU9TB4dhhW8mQ8YKFEk5a6LeOtj4P9QGMOjrVLi+b7jM7x/ZWZfkPR79cFlgU+GgH97yToe+Lc2h7b8osw4RUl+Zndj12eDU7WCezjcMyMwZ+eUGzWIQqAPrQ4IF0lqjjgsX+/dX0u1Wx3p1luHjDkOP95dtzui3uDHuzQ3wArpnCdl8Yhwt0Qqqy/IejXx7qKJs2OXaao/xAhr7vLWGsvK/oy2GFzDxYak2ONmQyYbg3FdR+QhUAfWgwyzJZ0cpepiViX0U9FuvAemmcc6I2sY8h4w2PHO8v38ISr6a8b7eH+AB+ODq0vs17/pa4x7Oc21uV5T8c/e4q7ifp/KCrbRn6fi2H9u9NqeNORV8O++P+fc9RB5fKzCw4wwW2n1AFQB/ctnJHi/c5k/Gds4nh4g1ZntlF8Wcl8nRKW0dCfAiuDp3p4L5fpZjUmlVZ/sPRL4fdUtwGoLkZ+p7HiXppMww3KvqCmIpvP5LT/XSG75WUl5KUUAVAHxqcE3MYRG8bbX4n5abHhezo2Uq6T3MgHk/j0tq+ELVhg/E9Nkh3VmX2pLQzyDNrXDP6nzsQ9JRRyvOQgSot/+HoF48+62+G9uS1ytSToe9fc6gnbS/AaAVfGCpbDfv7KPltNL4rM88HKRJCFQB9mMYUIvykzXutsdj1qp8n4jvzC/AdLnShHzulgqGyaYdvnGzzvucl/9SaLP9BK9y3PNd1OdaRNoby2KOSNoN1sYLPTuORdfNpXrNzZ5o+9IreUIWtAvShOH6L7fuPuOjelI0ME8iB7Sm29qcEmPDgdIZO9bdxX1W6sTavtcHyH2RllxQXStOKoz+ZQx0TKXWc43E7SR5CpbPfC0uoE1sF6ANAeGzN8F5fHlqn1mbo1BvxY1mY5T/IQm/8AjM92y051jNLip/RzxIetJdHbmW9TIe/qL6XtVkVWwXoA0B4bMrwzt0aYsdeZ+jYzQo+UJb/qskxxwdrniyQ4mP052SoYw+P3IieYfApdOPsia0q66CmbpVe9AEApHFqeZq9CPLwwiz5wINNKwS1QleevljG7+Gc68qyxPe0wzrmZajjDx678QMpOat+AJHg6NfY0UcfALL7EGn2YneIHXOFOuBUQEiMSLGn1CbZlUFfrndYxwZ0si2SpxteQBw4+jV39NEHgPwc/eFQO7c/o0HUDWVbGAvg6QfrZylnE67yVwZ9OdhhHVnSsOLoz+REQjacFIujX3dHH30AyE6WcNmg98W9zGgUdRPPKsYDBPSxeriA+u5m0JVOU3lm2RiEoz/NUEIuL4Xc8jj69Xb00QeA1ujNYC9OhtzBNS0YRk35toAxAYF8qOadXWLqABuXjvyQzvPtrsTRz8zvMn0AoG46XIxIcPRr7OijDwCtM1tqkOnutGQ3jg8ZE+AJ61I+Sot4iRYdn69kiRck604jU8LHxAfWGkSCo19jRx99ACjunTsceifV4GUN4Zk6ih3AZ0dktID6jmfQjW051JMlV3/d8+jrDMzzhDwGUAdAH9AHgIIc/d1V6Kget/1Nsm/OJV4fusmslPFaRM7bZyl6oVms8jom+2dKXXXPonEjIYsjqAOgD+gDQJtkSWk9WJXObpPss/r/MDagi+xI+RCdl3N9S6TcMyc+pdR1qcbPPplO9QqqADUHfQDojCwprSt12NyJFpz9IcZHS2yWase8JsutgmV51VH3swLqO5bS3+9RmZ9jfWnZfUZrqkMDMnO/0CzMCtQY9AGgc7Zk8GmWV63TDzM6c68ZHzj6XXD0NTzmq6PuMwXU+UbKTb11NaW+GzXUn9UynVFEbc88TArUGPQBIB+2S3q4ek/VOq27979kdOg2MEZw9Et29NOW2bblXF9aXnsNs5mbc50HU+qs2yE4mtb3Q0LeyzAnUGPQB4D82JnhHV9J9mR06M4yRnD0S3b0Rxz1Tkr+y9cPUvq6r4A+pu2X+VAjvdGsYE/ifus5BusxJVBj0AeAcv3dWz42em1UxuJ/dsLTDA7dY8YIjn7JivHIUe+DnOtKO1CuqHMl0o7knqiR3lyTiqU4A0AfALwhbW/qOR8bvU/yyXe/LoND950xgqNfoqOvs/Wu1JMjOdd331GX7hNYWuB4+Vfqd7JnM0cS/T2OCYGagz4A5E/anridPjZ66iChPDbspeUO/8kYwdEv0dHfkVLv5hzrStuJv6vg8XIppf5NFdeX5AapMcwH1Bz0AaAYbqe8axf52OhbcePe53CvA0IIAfjDOXHH5+e1M15ny1876vqrhL4OSn3T2+qBfFMHoj2ReqxeAKAPAOUz7njPvvW10f8kGrkkBwPjcjY+MkagRF5IOfHyJx313C+pr7PjjxdbO05X9BlrRpF3cR/H4/8GqCvoA0Bx6OSgKxz4oq8Nn5D8MoL0SIC7kaGSzE0Zi3nlz1/rqENn0/pK7PPdmume7sF4HPdPU/z+xrCHGoM+ABTL8hS/YouPje6V/PNtu4RwhHECJTGUMhYHcqhDZ8veW+6vK2VlH0rjSvv1uYLPeFSm9/5sYshDzUEfAIrFFSKr4XJeHpS1Xn7dLNtJ+E5vinO1gnECJXElZSx2uqStoTKPLfd+Kt05eVLTbLrCdxZX6Pn+R2ZuNuxjyEONQR8AiueU4/162ddGDxgae7KD+7lOBb3PGIESeZvy5d0JukT+t+Xed2OH28cPnKpsyN0q5oxez6WR45gJBagT6ANAObjCY9f52mhTlhzNdd9ueiBXlpPVjBEoiSXins3v5KAsnSm7Z7nvSQ/67jq0a7QCz1adlq+SnrL1ATYHagD6AFAOGpYzYdGvFz43fNTS6HZy6s+XxgYg0/1OMEagRIZTXnq327yvbsR5ZbjfJ2nkrfYF2ynVoWe90nCot9LaGQ3YHqgq6ANAeax36NWwzw2/JfltnLUtaZBpB8pmLOVlpx+kreaWPiiN1S7TR7FvKexcB4WFOqunsykPpP0D2drdJKX7GjQkcRZqBegD+gC15YRFn96Lp5twp3iTYhBOZ+iAzuTbQhkuMjagC3zK8LK7kvFlujsqLw3X68z+Vo9l8NLS71OBPtNL0tnpy9dbrK8v/ohLHrB2GtUC9AF9gFpie6ce9L3hyXgj/fev8msMkp74qbH8yQ09OhuqoQrnxTzL+SEqOxkX0AXSDm1LlufxOJ2TcOw19/Rg/CL9ZHHwdwUghwHH7ENo/NmhU9POKuVNyz2OomKAPqAPUCv6LeN/XDyfze9LNPZQU2N1eU5jjh61aDg0XvCwdDfrCNSbAylj9KTjy9yVpUdXADYEJotnlv5sD6gPmxPtVnt0MX7GmspMMx9NtvgsN2aoc4UEeMQ51AL0AaB8zlvG/2AIBkNn79NOCNUvmXOx0/A9vmYi/nfdaazx0JrDlx394AM3HS+licQH7bp47Gva16+WcX00fhH2BCqL1RY5PAyoD/di27PK8neNFR5qYVJCVzTmptS5zXH9JCoG6AP6ALVhrpgjVx4gGoDyUYf8h+OldKeGMrlskcXagIxs1g8t/bC5m8G5GUu5z3zHtR9RM0Af0AeoDSNiTkO/DNEAlM/6lBfa4RrKRF/Spr0GjyrcZw2xepEyFval3MPmIF1BzQB9QB+gFiwQ82z+n4gGoDscS3mZraupXGzpNndUvN8au2w7TEhPDt3iuHaj5ZqVqBmgD+gD1ALTivhdxALQPe47nHwN6empsWxMBkszBvRVvN8LpTHraBsTA5breoQMI4A+oA9QV0wRAu+ksUoOAF1AN6G5Mk7U/eA2zYRlyjZ0oSb9182LdyxjQzdw6yFAU4eoLTM4QyOoGKAP6APUAp0AGzd8CPcjGoDusVXcYTuHENH/X9ifDbLZXCMZqKEelexpCDW2eQNDB9AH9AFqw3UJOy01QCU5nfKC+h0R/Z+Nhpe6btZdWDM56IyNnnp8TRqHoOlsjaZX1TMTNP2o5k1ez3AB9AF9gFphOpBuL2IB6D7PxB2fD9MMGWT0VBrhTwAAAHVEQ9Z+Ctn6ALxjjkE5m2NOYSb7pfV82gAAAFVEM0h9aXon/gexAPjBgLjDdg4iIiP7DLI6hVgAAKBGLJXG4W+E6wB4ysUUR381IrKyS1iqBACAerIkKh9kZqjvDsQC4BevHE7+N8STisYlNi9ZkqUIAACq7uS/T7z3dFZ/DWIB8ItF4p7NJ+48Gyui8rpJdkcQCwAAVJCVMjNc51FUFiAWAP8YTnH0ibPLjqbYu9okv7OIBQAAKoSmmU6uYp9AJAD+cs/h5P/kC70thpqMoK6K9CIWAAAInD9k+iyZd7HTDwCeslTcaTXvIqK2WRg7+FP7HJYjEgAACJieqPwbv9c0iUcfIgHwm1PiDtvhS71zdKMuR38DAEAV2Cyc8gwQBPOj8t3h5D9GRAAAAAAA4XFJ3LH5/YgIAAAAACA8hhyFkB0AAACoJf8D9S0N+dZtmnEAAAEcdEVYdE1hdGhNTAA8bWF0aCB4bWxucz0iaHR0cDovL3d3dy53My5vcmcvMTk5OC9NYXRoL01hdGhNTCI+PG1zdHlsZSBtYXRoc2l6ZT0iMTZweCI+PG1zdXA+PG1pPnM8L21pPjxtaT5rPC9taT48L21zdXA+PG1vPj08L21vPjxtaT4mI3gzQzE7PC9taT48bW8+KDwvbW8+PG1zdXA+PG1pPno8L21pPjxtaT5rPC9taT48L21zdXA+PG1vPi08L21vPjxtc3VwPjxtaT56PC9taT48bXJvdz48bWk+azwvbWk+PG1vPi08L21vPjxtbj4xPC9tbj48L21yb3c+PC9tc3VwPjxtbz4pPC9tbz48L21zdHlsZT48L21hdGg+MuF8NQAAAABJRU5ErkJggg==\&quot;,\&quot;slideId\&quot;:277,\&quot;accessibleText\&quot;:\&quot;s to the power of k equals rho left parenthesis z to the power of k minus z to the power of k minus 1 end exponent right parenthesis\&quot;,\&quot;imageHeight\&quot;:16.8},{\&quot;mathml\&quot;:\&quot;&lt;math style=\\\&quot;font-family:stix;font-size:16px;\\\&quot; xmlns=\\\&quot;http://www.w3.org/1998/Math/MathML\\\&quot;&gt;&lt;mi&gt;&amp;#x3C1;&lt;/mi&gt;&lt;mo&gt;:&lt;/mo&gt;&lt;mo&gt;&amp;#xA0;&lt;/mo&gt;&lt;mi&gt;A&lt;/mi&gt;&lt;mi&gt;D&lt;/mi&gt;&lt;mi&gt;M&lt;/mi&gt;&lt;mi&gt;M&lt;/mi&gt;&lt;mo&gt;&amp;#xA0;&lt;/mo&gt;&lt;mi&gt;p&lt;/mi&gt;&lt;mi&gt;e&lt;/mi&gt;&lt;mi&gt;n&lt;/mi&gt;&lt;mi&gt;a&lt;/mi&gt;&lt;mi&gt;l&lt;/mi&gt;&lt;mi&gt;t&lt;/mi&gt;&lt;mi&gt;y&lt;/mi&gt;&lt;mo&gt;&amp;#xA0;&lt;/mo&gt;&lt;mi&gt;p&lt;/mi&gt;&lt;mi&gt;a&lt;/mi&gt;&lt;mi&gt;r&lt;/mi&gt;&lt;mi&gt;a&lt;/mi&gt;&lt;mi&gt;m&lt;/mi&gt;&lt;mi&gt;e&lt;/mi&gt;&lt;mi&gt;t&lt;/mi&gt;&lt;mi&gt;e&lt;/mi&gt;&lt;mi&gt;r&lt;/mi&gt;&lt;mo&gt;(&lt;/mo&gt;&lt;mi&gt;p&lt;/mi&gt;&lt;mi&gt;o&lt;/mi&gt;&lt;mi&gt;s&lt;/mi&gt;&lt;mi&gt;i&lt;/mi&gt;&lt;mi&gt;t&lt;/mi&gt;&lt;mi&gt;i&lt;/mi&gt;&lt;mi&gt;v&lt;/mi&gt;&lt;mi&gt;e&lt;/mi&gt;&lt;mo&gt;)&lt;/mo&gt;&lt;mspace linebreak=\\\&quot;newline\\\&quot;/&gt;&lt;mi&gt;z&lt;/mi&gt;&lt;mo&gt;:&lt;/mo&gt;&lt;mo&gt;&amp;#xA0;&lt;/mo&gt;&lt;mi&gt;a&lt;/mi&gt;&lt;mi&gt;u&lt;/mi&gt;&lt;mi&gt;x&lt;/mi&gt;&lt;mi&gt;i&lt;/mi&gt;&lt;mi&gt;l&lt;/mi&gt;&lt;mi&gt;i&lt;/mi&gt;&lt;mi&gt;a&lt;/mi&gt;&lt;mi&gt;r&lt;/mi&gt;&lt;mi&gt;y&lt;/mi&gt;&lt;mo&gt;&amp;#xA0;&lt;/mo&gt;&lt;mi&gt;v&lt;/mi&gt;&lt;mi&gt;a&lt;/mi&gt;&lt;mi&gt;r&lt;/mi&gt;&lt;mi&gt;i&lt;/mi&gt;&lt;mi&gt;a&lt;/mi&gt;&lt;mi&gt;b&lt;/mi&gt;&lt;mi&gt;l&lt;/mi&gt;&lt;mi&gt;e&lt;/mi&gt;&lt;mo&gt;&amp;#xA0;&lt;/mo&gt;&lt;mi&gt;i&lt;/mi&gt;&lt;mi&gt;n&lt;/mi&gt;&lt;mi&gt;t&lt;/mi&gt;&lt;mi&gt;r&lt;/mi&gt;&lt;mi&gt;o&lt;/mi&gt;&lt;mi&gt;d&lt;/mi&gt;&lt;mi&gt;u&lt;/mi&gt;&lt;mi&gt;c&lt;/mi&gt;&lt;mi&gt;e&lt;/mi&gt;&lt;mi&gt;d&lt;/mi&gt;&lt;mo&gt;&amp;#xA0;&lt;/mo&gt;&lt;mi&gt;t&lt;/mi&gt;&lt;mi&gt;o&lt;/mi&gt;&lt;mo&gt;&amp;#xA0;&lt;/mo&gt;&lt;mi&gt;s&lt;/mi&gt;&lt;mi&gt;p&lt;/mi&gt;&lt;mi&gt;l&lt;/mi&gt;&lt;mi&gt;i&lt;/mi&gt;&lt;mi&gt;t&lt;/mi&gt;&lt;mo&gt;&amp;#xA0;&lt;/mo&gt;&lt;mi&gt;o&lt;/mi&gt;&lt;mi&gt;b&lt;/mi&gt;&lt;mi&gt;j&lt;/mi&gt;&lt;mi&gt;e&lt;/mi&gt;&lt;mi&gt;c&lt;/mi&gt;&lt;mi&gt;t&lt;/mi&gt;&lt;mi&gt;i&lt;/mi&gt;&lt;mi&gt;v&lt;/mi&gt;&lt;mi&gt;e&lt;/mi&gt;&lt;mo&gt;.&lt;/mo&gt;&lt;mspace linebreak=\\\&quot;newline\\\&quot;/&gt;&lt;mi&gt;&amp;#x3BC;&lt;/mi&gt;&lt;mo&gt;:&lt;/mo&gt;&lt;mo&gt;&amp;#xA0;&lt;/mo&gt;&lt;mi&gt;d&lt;/mi&gt;&lt;mi&gt;u&lt;/mi&gt;&lt;mi&gt;a&lt;/mi&gt;&lt;mi&gt;l&lt;/mi&gt;&lt;mo&gt;&amp;#xA0;&lt;/mo&gt;&lt;mi&gt;v&lt;/mi&gt;&lt;mi&gt;a&lt;/mi&gt;&lt;mi&gt;r&lt;/mi&gt;&lt;mi&gt;i&lt;/mi&gt;&lt;mi&gt;a&lt;/mi&gt;&lt;mi&gt;b&lt;/mi&gt;&lt;mi&gt;l&lt;/mi&gt;&lt;mi&gt;e&lt;/mi&gt;&lt;mo&gt;&amp;#xA0;&lt;/mo&gt;&lt;mi&gt;o&lt;/mi&gt;&lt;mi&gt;r&lt;/mi&gt;&lt;mo&gt;&amp;#xA0;&lt;/mo&gt;&lt;mi&gt;s&lt;/mi&gt;&lt;mi&gt;c&lt;/mi&gt;&lt;mi&gt;a&lt;/mi&gt;&lt;mi&gt;l&lt;/mi&gt;&lt;mi&gt;e&lt;/mi&gt;&lt;mi&gt;d&lt;/mi&gt;&lt;mo&gt;&amp;#xA0;&lt;/mo&gt;&lt;mi&gt;d&lt;/mi&gt;&lt;mi&gt;u&lt;/mi&gt;&lt;mi&gt;a&lt;/mi&gt;&lt;mi&gt;l&lt;/mi&gt;&lt;mo&gt;&amp;#xA0;&lt;/mo&gt;&lt;mi&gt;v&lt;/mi&gt;&lt;mi&gt;a&lt;/mi&gt;&lt;mi&gt;r&lt;/mi&gt;&lt;mi&gt;i&lt;/mi&gt;&lt;mi&gt;a&lt;/mi&gt;&lt;mi&gt;b&lt;/mi&gt;&lt;mi&gt;l&lt;/mi&gt;&lt;mi&gt;e&lt;/mi&gt;&lt;mo&gt;.&lt;/mo&gt;&lt;mspace linebreak=\\\&quot;newline\\\&quot;/&gt;&lt;mo&gt;|&lt;/mo&gt;&lt;mo&gt;&amp;#xB7;&lt;/mo&gt;&lt;msub&gt;&lt;mo&gt;|&lt;/mo&gt;&lt;mn&gt;2&lt;/mn&gt;&lt;/msub&gt;&lt;mo&gt;:&lt;/mo&gt;&lt;mo&gt;&amp;#xA0;&lt;/mo&gt;&lt;mi&gt;E&lt;/mi&gt;&lt;mi&gt;u&lt;/mi&gt;&lt;mi&gt;c&lt;/mi&gt;&lt;mi&gt;l&lt;/mi&gt;&lt;mi&gt;i&lt;/mi&gt;&lt;mi&gt;d&lt;/mi&gt;&lt;mi&gt;e&lt;/mi&gt;&lt;mi&gt;a&lt;/mi&gt;&lt;mi&gt;n&lt;/mi&gt;&lt;mi&gt;n&lt;/mi&gt;&lt;mi&gt;o&lt;/mi&gt;&lt;mi&gt;r&lt;/mi&gt;&lt;mi&gt;m&lt;/mi&gt;&lt;mspace linebreak=\\\&quot;newline\\\&quot;/&gt;&lt;mo&gt;|&lt;/mo&gt;&lt;mo&gt;&amp;#xB7;&lt;/mo&gt;&lt;msub&gt;&lt;mo&gt;|&lt;/mo&gt;&lt;mn&gt;1&lt;/mn&gt;&lt;/msub&gt;&lt;mo&gt;:&lt;/mo&gt;&lt;mo&gt;&amp;#xA0;&lt;/mo&gt;&lt;mi&gt;L&lt;/mi&gt;&lt;mn&gt;1&lt;/mn&gt;&lt;mi&gt;n&lt;/mi&gt;&lt;mi&gt;o&lt;/mi&gt;&lt;mi&gt;r&lt;/mi&gt;&lt;mi&gt;m&lt;/mi&gt;&lt;mo&gt;.&lt;/mo&gt;&lt;mspace linebreak=\\\&quot;newline\\\&quot;/&gt;&lt;mi&gt;n&lt;/mi&gt;&lt;mo&gt;,&lt;/mo&gt;&lt;mi&gt;m&lt;/mi&gt;&lt;mo&gt;&amp;#xA0;&lt;/mo&gt;&lt;mo&gt;:&lt;/mo&gt;&lt;mo&gt;&amp;#xA0;&lt;/mo&gt;&lt;mi&gt;n&lt;/mi&gt;&lt;mi&gt;u&lt;/mi&gt;&lt;mi&gt;m&lt;/mi&gt;&lt;mi&gt;b&lt;/mi&gt;&lt;mi&gt;e&lt;/mi&gt;&lt;mi&gt;r&lt;/mi&gt;&lt;mo&gt;&amp;#xA0;&lt;/mo&gt;&lt;mi&gt;o&lt;/mi&gt;&lt;mi&gt;f&lt;/mi&gt;&lt;mi&gt;s&lt;/mi&gt;&lt;mi&gt;a&lt;/mi&gt;&lt;mi&gt;m&lt;/mi&gt;&lt;mi&gt;p&lt;/mi&gt;&lt;mi&gt;l&lt;/mi&gt;&lt;mi&gt;e&lt;/mi&gt;&lt;mi&gt;s&lt;/mi&gt;&lt;mo&gt;&amp;#xA0;&lt;/mo&gt;&lt;mi&gt;a&lt;/mi&gt;&lt;mi&gt;n&lt;/mi&gt;&lt;mi&gt;d&lt;/mi&gt;&lt;mo&gt;&amp;#xA0;&lt;/mo&gt;&lt;mi&gt;f&lt;/mi&gt;&lt;mi&gt;e&lt;/mi&gt;&lt;mi&gt;a&lt;/mi&gt;&lt;mi&gt;t&lt;/mi&gt;&lt;mi&gt;u&lt;/mi&gt;&lt;mi&gt;r&lt;/mi&gt;&lt;mi&gt;e&lt;/mi&gt;&lt;mi&gt;s&lt;/mi&gt;&lt;mo&gt;&amp;#xA0;&lt;/mo&gt;&lt;mi&gt;r&lt;/mi&gt;&lt;mi&gt;e&lt;/mi&gt;&lt;mi&gt;s&lt;/mi&gt;&lt;mi&gt;p&lt;/mi&gt;&lt;mi&gt;e&lt;/mi&gt;&lt;mi&gt;c&lt;/mi&gt;&lt;mi&gt;t&lt;/mi&gt;&lt;mi&gt;i&lt;/mi&gt;&lt;mi&gt;v&lt;/mi&gt;&lt;mi&gt;e&lt;/mi&gt;&lt;mi&gt;l&lt;/mi&gt;&lt;mi&gt;y&lt;/mi&gt;&lt;/math&gt;\&quot;,\&quot;base64Image\&quot;:\&quot;iVBORw0KGgoAAAANSUhEUgAABcUAAALECAYAAADJrFg+AAAACXBIWXMAAA7EAAAOxAGVKw4bAAAABGJhU0UAAAFaUoEbNQAAgABJREFUeNrs3Q/EFtn/8PGPW5IkVpIkkSRJIslayZIkyS2SJCtLkiSJJMlKZK0kiWT1JIkkSRJJkiSSJCs9kiS5RZIkt9jnOt/7zNPs3J8zf8/MnLmu94vx+33b+5pr5lznfOacM+ePCAAA8GFS71jXOw72jhkkBwDAmk4SAH1nmq37AQAAAMBAGOodC3rHcO/Y1zsu9Y5XvePf2PETyQQAA29K7zjRO0Z7xyySA+grV3rH696xiqQAAKA5h2Ws0+ViA991W/7b0VP1+NY7vvSOd73jeu843zu29Y7FDdzLgd7xsXd8L3C9Tb39nyzjO9XSjvfcJ9C46zZPZpWtpyQVAAy8FTLWYfavrZsBxpHeMSJjL0oe2HzCtXXTUtumNWXcvPyaQJIAAFCvuTLWsWwevk8a+L6JvWNm71jbO/b2jhfit5M82QF6UurvIDejPJf3jnM5rmllQ7/riRzX8rJ3/CZjo464T6B5W2XsJZ5pNN5LycMnSCoAGGiHY8+EbSQHlHwRHaYDegnX1llmubznNr0eCcvnAQBQq2uJikrTzIjiZ5LeqWlGKe+U8dNETQf7fBlbcuBo73icco67Mvb2vW5nM+5luIFrWCHZHcXmBcgU7hMIyn5HPl5H0gDAQDJ1mOux58EGkgQx7xz1hotcW6eZJfMe2vQy6ciLBAAAarBaqagsaOE6Tou/Ucfm+i+nnOu01NtJuivjXrbWnJZ5lxNZyn0CwRlW8rBZWmUiSQMAA8eMEH0aex5sIkmQ8M1R/73JtXWeaa8+kh8DxH4hSQAA8McshfGPtDPCNymtU/xByXOuthUI7ZzmvufUdC8XJL2T9lSLaelzfeJBuU+gSdpyQPdIFgAYOGZ25OvYs2AvSQKFaxnKS1xbX5guPwYBfZaxZSwBAIAH+xwVlUMtXMslcXdsVrkes7SKa+reiP3vvr2V9I7aOiuCqyTfWut/cJ9AkJ4o+fgIyQIAA8XsvfMm9hw4S5LA4ZCEO1My5Gvrknky1iEejRifS5IAAFC9sv1Zwnl7n7YMRtU34ot6xxfHuU2Huc/NS+ZLdkftjZrScEqsAWXWhn8p9W2COSj3CTRpiiMf/0rSAMBAPQuex54BZr+cCSQLUpjZk9/lx6CfjVxb39kYiwmm3TyNJAEAoLxz4u5IfNbwtcyQ9A02fdiR8h23Pd5LfJ3tJ47v+1BTOsY3vjS7vX91fL/59yHuEwjOBiUfj3rMxz+TxAAaRtwp7mbsGWAGdTAqFHlMkrF9lYYCLMN1XdugOS/1Dz4CAKDvLZX0Eb7fG660bJFmluB4kvI92z19x7XYOQ+mpK9v8eVEzDraK1Lu9Qr3CQTppNQ34+KIPd9kkhlAQ4g7xSXrVPtIElCGYZnR4fH9sthnAACAEqLOYdeSIuZY2OD1pK0nvsXj96xN+Z73vWNixfObFwmj8mNZltUp3+ezcjlVfqzv/d3+dodTvnsH9wkE6amSj310iEQvk16RxAAaQtwpbon8WGYi2hQeoAwj7kAsRnyTevbHAgCgb22XH52K68XdobihwWsaSbmOmZ6/63XKd+30VHk0h5neNjXlu1Z5vKf4UjjRpqT3Ur57AfcJBMe1nviyiuc1L4+iUUVs1AagCcSd4syAg+eJ+M/ay6AMI8kM4voQixP3SRIAAPL5KfYQPW3/bVT0jpgjDV3TEnF3aj6t4fv+Svm+Rx7Pvcn+23fHdw17up+1ifQaspUl1/e+8ZyG/XyfQJO09cS/VDznPBmbBdPGy04Ag4m4U86+RPxndC4ow8jbnt1EkgAAkP8B+rl3TLf/9kjqX8s7zV5xd1KfqOH71kn6euqzK5w7vvRBtCP4J8f3/O7hXsxLjnfyY+T/Ivvvwyn3d87D9w7KfQJNOuU5Di9KNGpN2ZlKMgOoEXGnHDNT6GMi/h8kWUAZhsNiGf8SjU1MAQBIsVB+jKrdH/v3i6J3Kr5s6Lpuibtjc00N3zdZ0jvFt5Y87wzRR7i77u+Mh3uJ70B+NPbvp6S+ZXEG5T6BpmnriZddF98sjfU5ca4HJDGAGhF3ytP2R5lHsoAyjBQvhb2UAAANmCBja/rtlrGpSZM6eh937QPztb2nyB7ROxVNB/pQA2nrWr5ltMbvT9tgtOwI482ij3B3bSJadSR+fD3454nf9EXKb/pTxe8dlPsEmuRal7/ouvjmpZ/rZdERkhlADYg71evCyb11XpIsKGko4DLMSGa/ThM3AGCwLO0df8rYxnrmLfZ3e3y1lcmrMrb5ns+RFbNl/FtYs1Zx13Z5jq9VmxxBm7YExZKar2tNynffqPF7n9XwvfFO4XWxfz/r+J7bFa7fdPhGUxu/27IRmSn1rZk+SPfpk1n7/Gdb1swsDTPy/ZaNY5scjQZTTs0sjlc2xo3av78uY5vlTqzxeifZ7/9bxjbv+Wy/31yHeRFxUqptYjpHxl40mgbYA/mxaaqLmVa+18b+KC1e2obalBrTYbWMzXR4Evved/bf5sb+zixF9bstA9dkbN+G4xVidHS8K5jHzAihtynl4teUz8+w8XiTTdfzNq+Z5923HL+Rq4Ed5Z2HEsbsja6VxSbzoLmPVTYdjtpYb8rcJ3EPBphjv+dV7NoOdOy+o/y/wdYxb9n6ZFbHzjYZG2zw1ZaR+zZv5bXI5r8P9v5GbJmZ1qHYXjXuhPiMaqMcbFbS7e+A2xRdiqMT7XUet+XaPNO+2O+PruG2fe753px9pf0dX9kYYb7PDEy6bJ+p62xddpL9/00MWFvi/tbYcmh+h8f2exYEUIbLXtt0mw5bbcy/atPmdcnf4KlN/4/2fLM6VmdOs1H5vdbRZQQA/WeZ7TiJ3oCaylO0ttlC0ZdtOOups+SxuJcW6crb7om2EuiaAjcrpSJU9673aZte7qnxe2+kfO+HkueM1tQ2FaH4aOZtju/5WOH6L4u+nIixJeXejnpIu0G5zyq2JBqJacv1zEl8dmtG4yS+duBSz9e9wDYYvuX4/u/2N89iXmyst7/JVdFnaSzPSMv3KdfxXPyudWny9N4cv8EX23En9pmU/O9bCn6vNkLrfI7PmQbnHXHPuMk63uf8vUdtx2Feh8Tv8lSDVBabyoNHbIff44w88Njx+b0p+W53wPc90Xa4mE7LKzJ+hG5yibkkE6/+cVzbV1svzXJU3JtEvxD/6/f6ju1V4875gJ5RIZQDrU66OaB2RBfjqBnUczH223y0v/US234bsu3Lq4nruCbVO03Ns/JmybIxO6MDdIdt4151xK68L9R9l+Gq12ZGPD/NUbaXFfwttOsw/zY30DpzUVob/jpdRwDQP0wD6WQsyJ8U90gCrUJpRqZNrvD9SzMecF15Extfp3Cx429cD/RjNV/bk5T0XVjj96Z1in8tcb5l4h4ZvSGlglRG/Hz/KGXiUsq9raqYboNyn1VFDYML4n6xlpzmOC0jX7peOPiYGWMacOcS5zYjcnbFGoczbUU7eQ2/OM553p4j6x5GUuL/hZzp8Jen3221bZjHz21i1O/2/qPr2mQb+Z9t+lyU6hv2PivRKTIhpWMt7/F/7H2bMjNsn7Ouc/5R4H7OSbt7VXS1LDaZB8/btDlt46mrc0QbeZ1VNm8HeN+77bMkT5lZmpKfsj5/IeU+Td66l+P7fS1XUEds9xF39gRwH6GUg6mO9Fwi4ehSHJ0q42cuXpH0GRgnlXrJ8pLfP12p+1yR/3bGm9HLN0vUl80Lsw85OmGzXjrVUYarXtuvth5ingWmg/2p4/M7C/4eruu5GVhcreKLko+mCQCg80yl4mEswO/L+PuZjorsqQrXMCz1bMjYpDmxCkHaWtmuRtqVGq9tWkravqs5XdJGcIyWON9BcY8wW5XyXdNKlIuRjIb7iNS3Rvug3GcdDUrtWk/E4le0Pvpz+/dRR5B5GbBe3OunV90AabNtiCY7mSc64kne5YYu2QbBq4w4qk0RN7N87hRonL2pmAYT7G+RbJynjTidbTvmTsn4UaOvSjTitfuaWfJ+tFF5RZYu+Vn0Ef3vCpSt1R7j6yCUxbbzoLHOcV/rE393PEeZfBHgfe+0HTKmY+9uSqeQa7bYHznj0eeUeuo/Oc/h4+VRXbG9rrgTyn00XQ42STt7+vRjHF0qP2bGRsfhHJ8bUuoqJs+VGU18W8aPPHdJxr63Bb5nsY1VWhpuaqnu4PPaTD1QG1hxoeC1/O24jm8diUd5aDPmf6MrCQC6bXqispR3fcjLjorlnAqVq7TK7voOpOU1+THdOK2D5bzjHl/XeG2bxP9ml1UqflUqSnfFvRTElJTvWl3wey5L+ujYxSnf5WM63aDcp2+THNe6xsY704gzMxR2ZcRFVyNjRclOuDNSfHRymZkVJvY8clz7cOJvzeyee7FGqXkhOsM2Wl2dEFU6WqfLj+W54h1reZ4bJx2/yZmC17ChQqdi0lzx82Jql4eyvM3mjzwdhoNcFkPIg1FnlVaHijf2o+VK3tvf97CU32C57fteXeDa/0j890X23/fkjEczYh08pv6x1cbg4RpiWpOx3Xfcafs+2igH2qya94G3LUKMo8MyflRwkdlN+5TruFPwGlZI8eU+4jNmrxb8vmuO9JveYt3B57Vp9ZDnJZ6vrz3EhbbiUR7nS8YeAECgpiQqCPcLfNbVyXqwwvW4RlC/kf+upxyiX2PXm7VJmqsDpM7RKq7p9b5GF6VJm95XtMIyWX6MOPvi+JvvHu5zY6LDTNvwaY/Ut0b7oNxnHZY4Oj1MmpqpyCOSb53Eg457LjojxjUSO+t3mlih82ab47PJOBrN4jAzhWYpjRJfSx4ZprM+uZHyywKNts2e4tdp5RynS97Tbx4akWLj/hupPkrLNLTj06BvUhaDzINRjNeWoYsslR+bCMaXKLmrfG5tB+7b1bGX7OTYKT9e6GxUyknWSHETb6PlkcwowZ8yOk2qvDxqI7b7jDtt30fT5cDQZg+EviZwaHH0d6k+0/Vnx7UUWUZFa9dktaHWyn/3wypCW2LkWct1B5/XNsPRLi3a/jbPm2TH+IOOxCMpWY6+CgCgs64lAnqRUd4LHBWaqxWuZ6aMX+t1RPxvcOfbUKyi/Vb0jkVXpaxKhbAI1+Z5psIztca0mSjpMwDeFjxffJSn6828azTMrpzfkRxR87Pj765LfWu0D8p91mGLo9FrOhjNaOhFOc+zwnHPDwtW7h9IsY3lItoSOXmXaTiSo9EadQ7fEX0/iCHH/d8v8ZuY2P5Gie1FNtja6Cl+aeuJD5fMa9pa+2U72LWRc99KNEhnS7mRe/1eFkPKg67y/Wcsbryyv3+y/mOu92Usf+zpyH2vlOyRkVGamOeS1smndaAml0uIXvSdKxDT7pX4/dqK7b7jTpv30WQ5EHGv7Xwx8DZGSHF0s+M3n+KpbXCiwDm0Ecl52mtRvbfIBsWuvHOi5G/qswz7vDZtmZ0y+wYlZ5ge7Ug8Klse0/YRAwAELDla+VDBz7tGEX6oeF2mwmKWSjHTJTeVqGi1Id6ZsSXH36et772phutbkPJ9D2pOmxWS3il+reD54hv6bHf8jWsN87yjQq5I9nJCJp+6Noga8ZBug3KfddA244pGnRRZjsLVaPtcIEbekfKj0rSpo3lHdGmj6OJrHv4u2Rsku6b3Hij4e5iOs+fKeVZ6aIg8LHgOLfZWeTGovWwsO/NmhqNhW6bDvu6XrF0riyHlwchucW8oHsX/PRn3NKFD962NLn0a++9mUMZHe7g6F7T1p+MblEfLarhmWLiW6Sv68qjN2O4z7rR9H02Vg8jPFetMgx5HVzrqg2U3M6z60l27ljwvCC6VeLa6BjOtC6Du4PPatM2Ut3v4fZd2JB7lsV7yzXoCAATOdHbE1x41D+dJJc7jczONrpphK5Tm3h8V+NxXR/r9WcM1upZraWIk4TZJ7xQvuhZrfHOeORkV3jJrvsVHwbxMKRdpG12e95Bug3KfdXBtNnnCU4zLOx1T23DIvEjIs2akidFaB2mekfkTlc9+j31vNB3djB5NWz5h2BHfi655edNT3NmX0SGWhzbi9VHJfDZf/M+8ueOhnEUjxV9TFoPMg5Erok9Tj0ZUP/SQ/iHd94WU+o6JWU9tfElb3/hASsdP9Ky6WaI+sqzgvbQV233HnTbvo8lykBb/i4xiHeQ4OlP0DdervFCoupSR1imeZ4BXtHHpkgLfdVT8LC1SR93B57Xt8VTXjw+qeNKheJSHa3+M0wIA6JRkQ+lAyfP43rCoi+IP8SLLvNwS/8vPuLg2YKkywqNKQzh+bCxZkUybEnfa8V13M85vXnDEdzlfUbAS6mu0/6DcZx1co5s/lGxwlH3x95vjs9tyfu+dChVurTM7Gn1lZt68tveQ1SA86CE+HVLOYZaaKrN3gra50ZqC5zgj/l5EaiNfn1TMvzscnQRF0isa1XuYshhkHhT73V+UMmr+/blt3FdtzId239paztEo11P2f2/NOIfWgWo61M3Lvfc27dJmF2ovkotusthmbPcZd9q+j6bKQVbaFbnnQY6j2u9tBvfMLHlfEzy0IZ86ynPeJSyLxML7JeraTdUdfF6bVn98XOI82wu280KIR3ktdFzrZbqXAKA7VikVkDI7Z/vehK2L4pvfFN152rXx5VvP15i2/MVXqW9jz8hrSe8UL7KuaXzEe9roFNdosKwRKDck/5S7Ryn3NK1img3KfdbBlSaHS5Yd7VxfMj43W37MHimz6dEfjgbT5JyfPyvu9RijqbE7cpznilSbRrvMkX6/lvxtH0r2xqFZtI65NSWvR+tgO1Ex/870kGbXbGfSHMpikHnQWC76yOso9v9VMe1Du++pjs6vIVv+zP8+meM8nx0dPyZWfZKxDsQ076TaSNe2Y7uvuBPCfTRRDpJOOcrFVglXCHF0u+NzRyrcl2sZySKzjY+XvK6fCj73XWt2Hyp57z7rDr6vbb74mQF+v0BMCSUe5TVFyg1IAgAEJPlmvewGM67RC+8GKC2fxCoMswp+1vVW/N+SjWyXX1O+51LN6TNf0jvEnxY8X3zEe9rae8Pi3lTU9RJga+zvXkv6aLMpjkpomXsa5PuswyVHeswoca7JJe/dNTMjz/qOexwNgyIvLrWp1mZkS7RkzpWc5/minGd2gca31gF9veTvOkHGv9y746ERPloh3mpTydd7fK6UWapius3v1ymLQebByCFHfDD1p/dSbS+VEO97g+N6frL3+zhHOdRG5+2LPdOyyt4sRx4qsq5w27HdV9wJ4T7qLgeav6U7s95CiaOmjGqbun+VagMj1jiu5WOBcyxJqQMv8vgbuNbs/jmAuoPvaxty1PuLlO/4PlarOhSPqpajjwIA6IQ1FRsEca6NJq4OSFrGp7+VWaPTVZHxvaRJ2vIX22tOo4OS3ileZNme+Ij3rLX3VqZ8p9aQmCn/XU4kaxOyDSnnrzqyaVDusy4flWu9XfJcrvRNe5nk2lj2RY7v+0v53C3bKM1LexH1Kvbbv8vZkNVGmj4vcB37HOmwuORvoa1tX3SknLaebNlOzQWOhvhED3n4mJSfWh1tNLiCshhkHowkN8I1MT/acHB3xXQP8b5PKufYKWODMszLt7k5zqGNVl1h81meafKbpNpLsbZju6+4E8J9NFEONOele53ibcfRI47PHK94X1sc571Z8Dz3U/LzJE+/gfZMLjvT1nfdwee1peW5NSXK2bWOxaO8qm5YCwBo2R3xN0pud8c6y3wyo1dGJL3Dt8rhs4KetvzF7JrT6VnKd5tKYJG1COMN86yNlyanfK9WsYsvJ5KncX224PmF+2yEa9RQ2fVCN0vxlzkPHZ9Ja+AvVMrpZ9tpVJS2JrWZlnu94O+2X8pP7zUNkk+OxkpZWuOn6FIQ2ijBslOMtQ46XxvCuTa3nZYjHoyI343puloWQ82DYjtqkiPx7tpOgNcVOzNCvW+tLhB13u/KeY5LSqeJmfXyTvKNKNaWrCsyiKPt2O4r7oRwH3WXg6zOuq50ircdRyeLvqyFORZUvDfXUjZFN+5cnlJPvejpd9A63q+0WIbrujatrVC0jMy35drkm1kdikdF0CkOAB02T/xNpzUuS/npTl33l9TXIZ5nnee80pa/eFlzGi3LuMcLFdL8aI6/d913csOX+DI2b3I2rl+Ke4OgCR7zVj/fZx32iv7yZWrJ87k2MnWNsP85Jb2mOir2ZxO/ofn/TefzjJLXfNXRyDT/9+8C59E2LVqd87N/FEy3PN6Ivh5xES/E3xRj7fn3p6d87NoHYkPG56JOxrWUxWDzoKEtexUtmfN7xXQP8b5niD7N/J382AA4j+QSDk8LdtZoS8rkTe8QYruPuBPKfdRdDly61inedhzd4fh7Hy9e7+Wsu+ZxMaWtsaPidU501LN3tFSG67y2iLZkz/6cn71eoAyHFI+Kpjud4gDQUdoUuL0VzqeNlP4WaGeZTwtiD+TDFc91VepdgiZt+YuTNadTWiX1uxQfZRJfCz/PGnXvHd+9J/Y3yc1d8nT6zU25r9se0m1Q7rMO2rqENyuc77Fyvk8pHUKuzXPjU5PNyJmdMn50zIiN0bMqXK/Wmfo91gGVtyGtrSGctyNsouhTb6u8hFvhIQ9qHXNVphhr97iu5rycNrvDvOT6YPPsoJfFUPNgWseUKV9vpNro2FDve1NKPWBhznMsdJzjUc7PT5X8y4yFGNt9xZ1Q7qPOcpDGNfst1I02267TPMxRvyzDtTmk+bcyS19MF/fs3W9SbVS7a6nQBS2V4TqvLXJGyo3gj2a53e1gPCr6rP3XUZYAAIF7owTwpSXPtdjxQDg/AOl4N/bwm1rxXK4K+oina3VtKuRrQziXeeIewVxml/UZUrxz7oZkT828Hfv3vKNof0+5r30V021Q7rMOrtG1ZUfM/OS499Mp3/9V3EtKmTz/VCnnplGw1lMnQNqmulsKnGedlJ9VtN3x/Ycq3NcFD+fTOubKvnxc7GjM+3whrI0QTBudF40QXkNZDDYPRlwzcHZVTPdQ7/uSVJ8Rt8txjlU5P68NEHhUID+3Hdt9xJ1Q7qPucpDGtc/Nb9RpxpmZUp+YW/He1on/ARfrU673UYXzajOD3wVSd/B5bXHbpNi684bpKDb71+TdIyK0eFSEa+nKt3Q1AUDYtKUsqkzzOex4IKzo83Qc9tTQjOxIqcT52LDtlbSz/MWFlPt6J8VHgsTXQczbOedqiF9R0r7IKNpLKfe2tGK6Dcp91sHVIVx2FImrg2mZ4+/XSPaySKY8XraN/iU1pMFRTw3CExUa4q4p0fNK3tMs0V+w+VhPvOxGbloH3X3Pv+VSR9wecnRemIboQ8pi0HlQRF/GLpq1MKViuod63x8deblIftBm1RXJ79pGn3nrcCHEdh9xJ5T7qLscpHFt7nhIwtN2HHWtP/7aw72dkeov7/PWXYoulZSkjZY/31IZrvPa4rRBBFltkmMF64ohxaOiXDOPrgsAIGjaOpOXKpzvH/H7Jr4LJtrKYLQepo+K+3BKZWBlxXPPSzn3nRrTKWst8TLTBOMdtHmnbboqxw9k/HIiRUZXujYd+uAh7QblPpuKcU8rnO++I02zGgTaywlTJpoY1fJYqo2mjGib4s3J8TnXSLTnFe7puOTvHE6jjUpcVPKarijnOlLD7/k1ZwdGNONoOWUx6Dwo4p6BU3U5s1Dv27VmbJH9DVwjCouM7tU6jxbn/GwIsd1H3AnlPuosB1nWOr73DHWacVxLW1yoeF8mn2lLnbz1kAcnOuov0V46QyXOp70Y3NRSGa7z2uK0kfxpLyF/sX9zo6PxyFc795IAAIKmdZaUnYLnauSs7vM0jE+7PODpnGkd11VHTGxPOff+mtJoom2E+1o2JfKpREfWb+LeCCW+ieA5DxUhX5WhQbnPOmgNvmMlz7XIce9pLxVc+wM0tfGwq1OsaCNaW3s775rErrWDT5e8J/NSR5s+fsfDPVV5ufO5YN4oS2tAb3bk1auUxaDzYNpvao6qo+BCve8jHu5XW9f8Y4FOE2394iLT3NuO7b7iTij3UWc5yDJd6uno7cc6zS2pZ3kb14uJvZ7SbXFK/XVDwXO5Bi5NC6Du4PvastoAH1PqnuaFw4gtX12MR0W5RrkfEwBAsFzTfBaXPJ+2geKNPk/DGbHKjNnYcJKn8w6Je+3tqiNXrqRUDJfVlE6nxP/mjMtKdmSljcIvu5TLfqnvJcag3GcdXCNmyr6ou1Ai/751pNekhtLA1Sm2veB5tCnTeUfvuaZEb/T4rCkzskpLm7Ivd5aIv1HDWfbmeC7cs98/j7IYdB6MnvdflHM985Duod639pK86Gawf0i1EcVrK9av2o7tvuJOCPdRdznI45Py3deo0+RKp39teapC62w3s3B9LunomkFZ9Ln/l8d86rvu8FeNZUhbM/ur429v2LxadHZzKPGojGHPz1sAQAM2ir/1xOcrFTVTuZ3T52kYb3D63mTwtePhWmXkn6vRkfa2v6pt4u5IfSLll5uJj9C/WOBzv0h2Z3HRzUZvpZyr6g7og3KfTVVQyzY2FjrOtTDjc64Ng5pyyXHdkzycJ28j+Kb4ewG7Sn680Kk6kkibBr6tZDrvluaWo/ol47uiFxh/UhaDz4PGCqlv5laI9z3bcU17Cl7PA6m2f402Wr3I6My2Y7uvuBPCfdRdDvLQBoy8oE4zzqj43aPAdS3/2vtNM83WTfLe/3TH9b/xEHtOtFiG67o2rQ2pbQiaFL2wLDPKP5R4VMbWGsoGAKBm2gZjl0ue67zHzoWuiFfifI4Sj7imkH2qodFR1/IXaaOVn0qxKXVJ8c3DNhf43CRJ7yi+WPA6JqQ0Ep57SMNBuc86aJuolZ2ZcFs5V54XYaMtV/BHPMX5Ecm3Ka+ZPZN80eUaWVZ0BFg0Hfee0oHxvUQM1tYTn+3428UZDW+tQ+VwTb/pkJKvvtn/ZkZyvbPPpKmUxeDzoIh7g3IfgwpCvO8djo6VGQXOMVXGD8QYKXhPt5Qy5Crj8wOM7b7iTgj3UXc5yEPrnPxGnWac755iStxlKTdKP5rt8XOB7zor+suAInVhLQ3WtViG67q2vPEi/ttHM/CueDx/VzrFtVH6HwUAEDStQ2BPifNoU7/O1XC95qG70VZcN0n7U6nuVky3MhW36JjoudFRZjmFLGkjxO9LsWU7kpJrARcdpeyqdJlGddF199J2Sq86OmNQ7rMuzzw1NrRlNm7m/Kxr1EvVZTXylJ8lUm70VZ7zaEtjmZhsNlZOrlf8zVMj55ptYMxW0tU1PXiu6C/fZoo+VdtVDj9kxEjtd/5V+bulUmwjQJd7oo9Gijap2kFZDD4PRrQ1gh96SvcQ7/u6VB8ZualivVN7seR6WXjMPjOnBBTbfcadEO6j7nKQxwJHOswmjubKL2Vp+1G9z1lHjWZFFXmmassmFXn5sUr0TvUJjrrT7AbKcF3XptFetE62/221/b6nsX8rKpR4VIY2o5JNNgEgYLMcD52ia39pGyjeE79rwIl9cCc78c2opfktpd8G+e+SM3V00Ls2SqyyAcvdlHMu9nTd5rc/Kekj0qum1w6ptuSPa8264RLnOp5yr+u4z9bM8HStpvP0Q+Ic/0j+UbjPHNexosK9LbTxMGt5jH2Oxl/R+KytYa1Ni71sG7PJjrDvHhrR0VIH623jME+HmHk+XCjQKeDqVDMj6h6lXNtSyTel3TTKTMf77x7yt7Y26gGb1o8oi+OEmAeNKY5r87VkRGj37ZpxVPSl/KWKz7Vfcl5D9HJ/U2Cx3Wfcafs+migHeb3wVF/q5zrNE/HXKT6ktCFNHSXvyO+jUrzjcaLonfB57VE+f1f5u6jcHWuw7uDz2ly02Yfz7G/2xablzAr5PIR45PPaNwsAIFjaulffpfib2GTn50OpZ8r2Y8dD8qXUs5FZVuU93tl4uqbv2SDuTsg9Ja/b1UD2NUV0megbaEX5y9eI+viaeddLfF4bqVb2bf6LlPudwH22xrXBZJFZFkMy/kXS24IV/r/F7+j6rbbh8Uaylxu44+n316b3Jjfl/cPmBa0x+1mqjcCLXg4dsv97Z46Gh/mNbqY8j7T1xDc6GpkmPqa9gNWm3Wuj7szo+lue8vdGRxw3v8EiymIn8mDac97XGqSh3fd6xzOk6MylD1JtCRet82iJ47c5FGBs9xl32r6PJspBXofEz+a5/VynOSf+RvL+JdU6EaOXY58Kfn/yO6+U+M6slzc3bb15UoN1B5/X5qItu7PX/gafPNQ/QohHZQwpbexR6cYGoQAwsLQH55OC50guj3FX6ukQXyrpayM3PUo1+SJgfU3fszblnsus1ZY28vxzxWs1004vSvqGmr46apJLOVwocY7ktZZZTsRI28zyOffZKm2fg6KbKSWXMHolxZewWe1IN1NZLjI7Y6rNA1EjNqtTy7W2ZJlRKx8yGsC7JH0fidtSfsmmaJT6pZR8neykn2a/M62hr73kSa5d+6vkW4pEe2lwIPE3f9jy56tRNteRpscpi53Jg9p9Rftt+BLafZ+RfCMZ06xUznGv4DkuZ8S0aODI3wHGdt9xp+37aKIc5DVH/K3Z3a91GtdSessKnmedVJ8xcqtEW2xCxe99nOPej9v619KG6w4+r83lhrgHV63wkM9DiEdlaO2k83Q3AUDYtOlPRUYQJkepnZP6Roumbdb4r228NEWrxM2s6bs2p9xzmbfPTzPScWHB85nv3yLjN6tKrtHre8PV5OjnMpsGJkenbCh5LfdT7v0O99mqd8q1Xi3w+WMyfh38shvDumZPvMtZyTfl7L38eAkxs2TcNHFjSonr15Y7WG7PFeWxtGm4hxz3/yrleqbKjxFp1xIdVv+kdGhNtzFpfol7ijP390nyvYzS1thcl/j9zL+t8pzHvynxdgplsTN5UOz31zkyNbT71vLCzorPtbTR3EXS3SwpYDpFo5GKfwca2+uIO23eRxPloIgbkm9N5kGu02hx4ECBzy9R8m+ZtkJ8Jkze9edXyPilU4q0p75K+gu1KObuabgM+762vOWjjgFibcejMvY66skAgEC5NpPJ+0Yzvk6t2Xip7vWyskaKr28o3ZY5KjCLa/q+2xn3XaQCejzjXNEo4l22QRuvRA3ZRrKplJnpmydsZfq7pHeUbhT/S9tsUb7LVAKLjgCILx9Udof0kxnpaRpSM7jPVsx3XGueFwsTZPz0zSMV8/LylPJi0u+0LV8TY2VuiY21LxLXP6XC73az5PW/y8gDpzI+bxokrg3/zBqMa2KdDqZTan+sQXNBSXvtXL/b+PTIPuOyaL/HL/Y32GvL24McjWXXiO2d9rqj5+XeGvL5Q/Gz18QglMUQ86ArbXw2pEO670WO6yg6UlXbJL7oCMXRjJh2KODYXkfcaes+mioHRWgbPw4TRzPzyxvJt5TLIvnvwKwRKffCeEjKDZJKjpbfVPB7XYOKZsiP0fznWyjDPq8tjbYso+9+gDbjUVnJ5Qof0N0EAGHb5XjQvMl4eCxIBP0L0szbV+OeuEci172m+GRbKfniuAYzYmKlx+8zlYErkt2J/a+tAGg7fE+0jd39oo/o8H18sde8XerpIDXnPJby/W9twzxv5ScaRfux4PWakWSmw/pJznR5aSvpU7jPRm13XOcHSd+B3ryAi8+oeCjj15kta1OF8vWuRMNNWx5kR8lrPyru9eT35TzH7oL3nLYHgauxZKYOz66QPvHjUUZeiazPcS9Ha8rn8efEuUDrGyGVxdDyoJY2IzX8BqHct7bxb9GOA21Qx9cS9UBX+Tf/viLw2F5X3GnjPposB1XaHBeIo+OYmYfJl2RZM45N52l8dLdZjqnsaPUFjrZIWvlNLv1yoMT3jmSUhWstlmFf15bmqlRb8ib0eFTGNOXZuEoAAEFL63B9YgN51MCYbSsxN2zAN29ozVvmpjfyMp3vz5SHXt3XcUjSR0Qn11MzU0BXl/geUzF7L+4RXVkN2A/y31GCp8Rfh/eobXR+sr/BdVuRNevcmdHgdW6EtEz09YzTjg+2EyDNcik2uuGguDcsy3uYz5tpfCsH+D5DiHHPEjHOxJbkMkD3pJ5Rt6axVuQl1Rtxv/hKM0v8jMiMmJFmx22D87uNVaYTtuiSS/tzxtMbkj7idLtNm+82ZpqG/o6CHWOHUr7f3Fve6dSLMp4JO2vM59GILfOybKqEKbSyGFIe1NLm75p+hxDu+67k2wQuq66UPEeZTahNx+Bjex+fbUfPFik/yKKp2F533Gn6PpouB3ktV+rBU4mjaj68r7QjzYCMaBTvVNtWuBdLS9OGqDrLNr5E3JdY+8mU6b9i7cMh+10nYjHQDKhaW/J702ZP/tVyGfZ1bWmuxtK57pnibcSjMpIbN98UAEDQTOVAW3PsuG3YXLYN7K/2ofzFNhxMR/imFh40yWs3b9Z/txWsKfycABTarA4Tw7baxtjLWIwz//e5/XcTA2c1cH2mcXrOfm/8Ol7bBsdh6d+1COfZxunT2L1/to0I86JtfkPXMWQbiZ/sNbyxHTFlNp/aaDsC4vnpT6l3Y6eJsU6AlZTFTubBQS17/azJ2F5n3BnkZ1QkuansQeKok3nJdMTmjQ+Ja/loY4zZZHeDx3bkFvvcjr+cNx3wwzbvvkhcx1P77+uk2gxjc/2nYnWHt/a3WBxAGfZ5bS7HbVo2Wf5Dj0fxJb2+Sb2DxQAAHiwX/e3qLyQNgD6OccMkDfpINGL2T8oiAHhnRlx/lP/OzmtjtDhxFAjX71Jt9hMAoAX7xc96jAAQIm16vZnmOZmkQZ8wo77MaCQzi2sCZREAarE1Eb/aeAlJHAXCZGasxzeiv0uSAEA33FIqV1dJFgB9HOPYBR791AgzU3XNCMY5lEUAqFV8GRXTGb2w4e8njgJhOiv/3edsOkkCAOEzo8FHlcrVbpIGQB+Y4IhxR0ga9Ilok6u1lEUAqJ15Efk8FsPM/z+poe8mjgJhWh8rj2ZvjqUkCQB0wyrR16VbRNIA6ANrHDFuFUmDPhAtf3aYsggAjTEbH47E4thZ4igwsBbIWEe4KYvmpdVqkgQAuuOoUrH6QLIA6BPHlBhnKqzsmYCuizpHLlMWAaBxS+S/G29uJ44CA8cskfJafuzJtoYkAYBuua9Uri6RLAD6xGMlxt0iWdBxpjPGjEoy68hOoiwCQCvMEgnxEePriaPAwPipdzyx5dC8IFtJkgBAt0yUsQ1ikpWr30gaAH1giiPGHSBpEDCzp8eb3vGpd5yy+ThusYx1wjy3DTLKIgC0Z578GClqRm3XNVKUOAqEw9S/HtoyaOpsC0kSAOiedaKvSzebpAHQB4YdMe5XkgaBWq/k1+e2sWWmx5uX1mY00gsZm7JLWQSA9k3rHXfkR8f4OuIo0Ldm9I6ntvzd6Vh9DAAQc0apWL0kWQD0ifNKjDOjrFh7E6G6IHqnR/x40sEGGGURwCA4KD9Gc28jjgJ9xwxSeGvL3kGSAwC6y1SgRpTK1WGSBkAfmCVjo7WSMe4TSYOA/S3pHeI3ZfxyKpRFAAjHIhkbRWr2ffD1ApM4CoThgS3fi0kKAOi2raKPNphF0gDouGm20urqWFxOEiFQS0RfM9Z0hhykLAJAZ/haY5g4CoRjjjA7AwA6zwTyf5RK1QmSBkCHmU0Jr/SOr5I+2tZ0Ot7tHed6x+neMZ+kQ0DM+rD3bT7+YPPoPMoiAFCnIY4CAABUs6x3nE0cZn3xqSQNgA47rcS2PMcCkg6gLAIAcR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G6b1DvW9Y6DvWMGyQEgUHN6x3Dv2NM7LvSOJ71jHzEUGFhTesfa3rHTxoRnvWM9yUJeIC+AthmorwIAgLih3rHAPqTNg/lS73jVO/6NHT+RTABaNrd37O4dZ3vH1d7xsnd8T8Sq6BgmhgJ9b3nv2N47zthyd793fHHEhMUkF3mBvADaZhjg+ioAAH3nSO8Y6R2jveNB71hR4LPXe8f7lId0dDxt4doAhBMrQrG1d3yQsY6OtLhl/tuUBq6n7hhKPgTSneodH3vHt4wy+JmkIi+QF9ABtM36Q2j1Vc16m49G7f9dzc9G/RgAuuaw8nA1gXRJgQf2NhuE76U8sE+0cG0AwokVITKjqNY5YtajBhs9dcVQ8iFQzLTe8bejDF4iecgL5AV0AG2z/hNCfTVp2HE9v/JzUT8GgC5553igXSx5vv2O860L4NoAhBMrQqKNCvyrpWvxGUPJh0BxKx15bAdJQ14gL6CDaJv1j5Dqq88ceeEhPxP1YwDo+sPVHDdLnk97a2ymdU0M4NoAhBMrQjFRwuqE9hlDyYdAca6O0AUkDXmBvIAOom3WH0Krr446rucbPxX1YwDokhfid2roCeVc9wK5NgDhxIpQrBV9uuGElq7HZwwlHwLFbVDy1wjJQl4gL6CjaJv1h9Dqq/848sIrfirqxwDQJYccAXRpyfM9Uc51JJBrAxBOrAiFtgbfnRavx2cMJR8CxR0Xph+DvID+QdusP4RWX93syAub+KmoHwNA15yWH7tamxEwG0ueZ4r433DD17UBCCdWhOSuErP2t3QtdcRQ8iFQjNaBtI1kIS+QF9BBtM36R0j11Yj57Z/K2Ih1M1KZDnHqxwDQWZNkbI3EoQrn0KaZjlY8p69rAxBOrAjFhFjlMX60tVN7XTGUfNhNP/MzN26G6B1Ic0ka8kIH8gIxA11vm5GHu1FfRbgxnH4TAGjRSeVhfYNkARAobfOpNteLJYYicsT+/pNJikZtUsrgG5KFvNCBvEDMQNfrFeTh7tRXQf4HACieKg/sfSQLgECdUmLWeWIoWrZK2KyqLReUMniOZCEvBJ4XiBnoer2CPNyt+irI/wCABNeadctIGgCB0nZqb2s9RGIojIW946P97c+SHI17r5TBDSQLeSHgvEDMQNfrFeThbtVXQf4HACi0Neu+kCwAAjVLiVlmvcafiKFoyTz5b0ccnbHNWhBYTAB5gZiBfq9XkIe7V18F+R8AoNCmdV0iWQAEapsSsx4SQ9GSRYmGkWnwTiVZGrUzsJgA8gIxA/1cryAPd7O+CvI/AEChrVm3g2QBEKhLSsw6QgxFC9b3js+J3/4BydK4K4HFBJAXiBno13oFebi79VWQ/4GgTOgdG3vHbhlbV2oSSYIKhkp+bqroa9YtCODaAIQTK0LyWYlZK1u6liZiKPkwPJNFH8lHg7edvPQ1oJgA8gIxA6HXK4bIwwNXX3Xlg196xwp+qmDyP/0mGBize8fLRGF60zvmd/BeVveOM73jia2IjvaOd/bf5sb+bnrv+F3GNiG41js+9I7jBb7HfH5t79hqz33Vfk/RjSqW22uIH0V28p7YO4Z7x+necV/G1ncz93xH8q8PNsd+fqR3fOsdj+0Dqcg1rJGxEQPn7edHS1aWtDXr3lXIDz6vLZS8F93XKpvfjsrYm/97veOTuF9ozbHf8yp2bQdi/32GTatN9mFq0uu6jQUmXxwq+bD+bL/vobSzvplWVk1ef13iXKbi+NSmx0d7vlnko//ko0Erj8uUmPU1pRK5xJ7/QaxsfLPl7JKN51X4jqFpJtnv+9s+f6L7MfdvNnI6KWF2xvvOh6ZMbLTx7kGOWGk2LNtry1qUN1/auDulxL2Y+3jraBiZ49eSadRkbMiq4xy3sftNrJ4zavPcbZt2dee1IfssOWefA19t2X2VuM8VBWNCyHXMLCbNt/eOC7H88S0WB8xz9qItH0N9FIOazAt1xL86YkZXyrEvK22+exXL8ya/X7bPgHW9Y6bNo+tsvXNtgfT62abZfvucumXTaZMjP26wZe1V7Lny2dbjt9tzhlKvqPoMbiMP11kemyobIdVXzXcusnnriD2fqQd9t9d1pk+eFXU8I+vM/2XLZtfa2l1tv/S1VykZusyxuMQ1PHac66V04+3QBNvAfJuRNl9sR4nYAJX871tSvuOsLeDPbSF1fcfsgtd+VTnHiRwBa6ut6IymXMu5HN+/2aZL8rOfHY3zjTZQno0FvH89Vpa0N57nc3627mtrK+9JrMLwOCP/PXZ8fm9KXvm/GeeMDvP5GQXS5pDjPFsbiAmnYw/UtHtaVvC8Wp4aSXSyDmo+2j1A5THuoORbZ9PsCH8353P8H9tYaDqGFqnkn8kZN0wDZ1uL9QPf+dC8bF5vO4qvOp6fy1M+b/LW+5T0MnWMPOtAmkbLnYw6QNpxvsXYkMcS21CMzvnRXuMSWy8dsvE7WYe6VlPjab/NI2lpejzl2Xcl4ztCqmPmSY89veNZ7Jx3bCxdGGs3zLJpEo9rizseg5rIC3XxHTO6Vo59MfXgmyXTcHbKcyHe8Z12jjmJz27NUef51/Y3LO1426yNPFyXNspGm/XVCfa7bsjY4JPvGef1NYiqjWdFXc9I3/m/atnsWlu7a+2XgbLAc4f4sRLXsDTjnOsCT8PVyosFMzLQjPybGQvEm2yl4bMNQhcLNjZ22krBhZSC9KbgtU92BLZ1GQExesN4zz5gbqYU5mkZ95T222sjGl7Yh9k3qafi8Uw51+acn6372trKe2Kv+ax9AF1KeSBqI1wvZKTHM3svZlSgeet/MqWy8keB9Dkn7pdtdfvV3s9q+9B/6riWnQXP68pbN8lH/xvJMijlMe6O8vntib/ZUaIS+7FkB1KVGJqnMyBZrs0okF2xRppJ6+vKNfwi7fCVD8/be8363UZSGoQXcv72f+VoXH6XavXFPS3GhjRT7XUkOxHT6jInld9guaf8M2zrdsm1Ok0nVjRwYEXsb+Y4OhOy1t4NpY4pOa7zfSItFmfk1WRcm9vRGNRUXqhDHTGjS+XYl+nKc+BKoiNzpaNd9j3lvFHHlCn/j1N+g3j9eZrtYCxar5jX0bZZ03m4Lm2WjTbrq0P2+bHT1jMuZ3zP9I7WV+t6RtaR/6uWzS61tbvYfhkoezx2iF+uUMlLO+/WQNPOBIcTSiBJG+E323aEmIbHPzL+DXpeaz117mxzVJompHxmrg1AE5SHmHZNrvTYlCNPZS2fs9gGU+2zm0r8pq4162aWOJfvawsl70XWOe5tfeLvjuf4nV8o5zfTNrURkO8k/+yR1eIecd60KY4OrQsFz/O3456+kY/UfNTv5dFVSY2P4vkrFttP2YbMUOw6zFT7r+IegTPUUgxN2mzTNdl5q03JnqNcw40A6g1V8uElW1nOmt33tyP+3ClQn3tT8v600YJlR1s1FRviliqdjodzfG5I+V2qdr5OVhpQIynpOd+W8T2OmFBkOcI265guJobck+IvybVlF851LAa1mRfq5jNmhFiOfbst40ftuiTrJW8LfI+rTXciVh5fyI/ZRTtiz/mJNk6/cJyj6AZ8obfN6sjDdWmzbIRWXxXb2VjH4Kk2nhVtPSN95X8fZTPEtna/tF/63i3x0yFu1uotuzFm1kjx9QGm23T7UE92ZMzJ8dmTjkJfZO2qSY60Kjoa77ZyjnsV0uWNcr6Lyt8ts4Hlg+24jEY23JH8I9Ui18TfG94NFRrTdV9bKHlPYpVerbEbD/DRshDvbeP4sCM9Ljm+Y5fj71cXbJQnK1CfW4ob2v08L/H7aw/8r+QjZz7q5/I4nJGnjtl/M6Mn0tamWynuESBbWoyhUUPqTInnXdUyUhcf+dA0fh45zjOsdKjdizVizXrOM+xz19WhXObF4VzHuaaVTKcmY0NUlr5J+ZlJ+5TvvVPy3k0nQXJk5NMcnUCu5XSKvrAMrY65VMZPZ8478kubRfC5QzGo7bxQJ98xI7Ry7Ju2PnzWsgBPYn971UMMWGOfVW9sft6VUT9ydXIV2cQw5LZZHXm4Lm2XjdDqqxFtVHDZGaRtPSvaekb6zv8+ymZIbe1+a7/0rQnyY9rIPRusphb4fDQC5I1Un2JyT9yjlSYElm6mIprcFPRlgTTYLNXXrlrjOMesgvehPVQOV0gbbc235MiEn+zvajZ60KbzzCiYn7SpMs9KXv9p5VynK6SHz2sLJe/FO1q0l2PxB3S00Vl8KQhtKq9r458h0V+0FH3jOzfxW9xsKXbMED+j5mYqD+sH5KPMDaT6sTyeFPdIrt/s/75l0zmLa2TElRZjqGuEc1YaaR2qoxIGX/lwm+Mek/HkZqxczVLqgf96qoD/5qEh0lZs+L1ivjd+dqRl0Snm82X8etH/5GxkHnRcw9mC1xBSHfNnW18ss1TjkOjrI3/tSAwKIS/UyXfMCKkc10FbEjBrZOzakr/9Ekf+NXH5se2AW1YhH57qk7aZ7zxclxDKRmj11egZoT2nyswaaOtZ0eYz0nf+91E2Q2lr92P7pW+tr1BBWmF/IFMIF3q4lpkyfiTEiJTfkKMuM5VOupGCDYWNjsJa5IWEthZ30d11XUvnrKyQPq6lcOIbZkYbdvhYK941FavsJk7amnXDgVxbKHkvsko515+xB4EZjfRNKcOzYh2J3yR7fT1tZMK3Eg+32VJuZIRv2nTSVSXOszhxjqPko4Esjy8cHYCLbbqYHc3zzuJyLVfxvqUYOkXGj8I3x/6S+SqEEZI+8+GRHA3CqDPhjqOhOeT4ze+XuJ5LnjsumooNmx15ZUrB650o6csN5O0EHVHiSt49Bn6XfLMHulLHXKI09u8W7PDQ1oy924EYFEpeqJPPmBFSOa6LNnIxTxmIRmsX2XB4i/JdZvkuMyjFzDjKuxH3CnHPMO+Htpnv514dQikbodVXo2eMjw2l23pWtP2M9Jn/fZbNttva/dh+6Wun7AO26LInc2IP2DUer8cUTNNRb6bDbioRrOtmOiqeS/VO5C0VKweGtjFb0ak+2tu4r1J8Pa5kEEjbLDV6o3jc02+yVvxtzjrNY0ef72sLKe9FdqfcW7SBy56Me8rTsT3D8ZAsUyEOYcSPVna3lzxX/BxLyUcDVx5nij6aYIqtEBadxeWK399aiKHmN73jaJTnoU1XPCXt85kPtRHRvymdYiZPuUZeuaa+HihxPe/F77qqTcSGlY4GYdlNjaq8YDDl+W3FhtxRRxksWs8PoY45Q8lTH+2/F3Faym0g3GYMCikv1MlXzAipHNdJu8c8ndOXStSbtSUVovJQZAlDV0dq3uUZQm6b1fHc8y2UshFafTWivTB4W/AcbT0r2n5G+s7/Pstmm23tfm2/9DUzkqbobqxTYp0B2wcsvbSdvMuMONVGvh4reA5to60iU30WOwLPVQ/ppL2dOyQ/NpZ7Lv6WxHFV+sucXxu1+SiQawsp70WuOO5tpVTrJNXc8dBAj0aKv245juwRP2vXxTuznpCPBrI8astnmM1Yoo2KfvbU4BltIYZqU2NHJN+yAXNFf5G2UNrnKx9OVO7xeyx9oqVFshqaw45GZdH1IOd77rhoIjbMlPEjcasuL1G288f8no89xFWt3JRZwzuEOqa2rOLOkr/LbtvJZ2ZXzAo8BoWWF+riK2aEVI7rNupoX2WJNs1cUjEGlB21GUq9wnddsI7nnk8hlY3Q6qsRbUkiH5syNvGsaPsZ6Tv/+yybbba1+7X90tcmSfERA1FnwMkBS6tD4meXY7GFUtu4JK9pUn2txxOOc+zxkFba6ALTuI02XPK5JM59KT/lJ0l7M/dnANcWUt6LmO9ObuB03/77cxvQfQbwHY5KWJE0iEblHm45lmidUI9LnGd77PMbyUcDWR4vOSp9Rab4+ewM8BVDf3Ncx7acn9deooUyndlXPtTiSDRaywxeMC//vuXoBNHWey3zclxbquFJhXRqIjZo+eSrZG9g6DKhQiP9rCOuFG0MXpXqa3iHUMc84EiPprQZg0LKC3XyFTNCKsd102ZfvM/Rlo9GYOatp7hmEH0o2eFVZURvqG2zOp57voVUNkKrr0a0WZ+/deBZ0fYzso7877NsttXW7uf2C2Kit3k3Buy+lzky+K8lz/dQsjfGSqPtwl1kraGJou9In3caXpator/p870mn2vtqUMlz/ePp44+n9cWWt6LLBd9FFO04/NfnsvgTA/pcM3+JnNajifzpfp0v3jl4Rn5aGDL4ydHXiqzLFr0bPi3QkXSRwyNZhSV3WjnD0clfbK0z+czS+s4i9YqjKaN7shxniviZ4qp1uCt8ryvOzZsd+T1IxXOOa1k5896x+dWlLiGZx7O03Ydc45Ns+RnNzdUTtuMQaHlhTr5iBkhleMmHC95vz8VfBZvc3xPmZcqrn0rvnS4bVbXc8+n0MpGaPVVY6rjHPMDf1a0/YysI//7LptttLX7uf2CmOjNh3lLPWWA7nvI8UC+XqHQJ6e/3fFQKSoyJWSnuEcA+LDIcf6P4ndKmWvtqTJTsLQHfdmOPl/XFmLei2ijZc2aX+9kbNRKHTHiiZSfTjzdPmyvBxJTtAd/kbX0Fkj+NUbJR/1ZHl0d9FU2oPrZcb6LDcbQa1J+TcE9jsrodAmDz2eWNrV9ofxYH/NKzvNonZezS1yPNkV7fYW0qjM2/CQ/9sVJjqCbVuG8a1LqPi5TRF+T85KnZ0uZfWLarmNqa4G+bbCcthWDQswLdaoaM0Iqx01xbQr4XfwMakrr7DLfMaPEuSY7rvlpR9tmdT73fAmtbIRWX41sqNgX0tazou1nZB3533fZbLqt3e/tF1gr7EPIZP5ZA3bv+xwZfHHJ82k7yhZ9866tIVVkrccXjnu65DHdvirn3+f5tzkm/jYK1dasu9PytYWY9yJ3lUpqtCna7prKopameadpHZawRkl9lGojX6Iph9fIRwNbHvc7rqfKOsuu0WF5Rg77iKErHN//Isdn/1I+d8s2DkPh65mljYAxneQzbWx5l7PhqzVUn5e4rwWODpSJFdKqzthwxJHPqm4AvsVx3pspn/nTkXbzSnz/L57qdW3WMeeLvxGqZds7bcWgEPNCXXzEjJDKcZPup+RRX5uoanXU2yXPtbJCPAixbVbnc8+X0MpGaPXVyMkKcbKtZ0Xbz8i68r/PstlGW7vf2y+QsSkapjPcjCZaOmD3bjLjJ0dGLUvL+EWm3rvefOVdH2yTuN/WbvWYdjfEz0Z0RSuGV0qeS9sU4VCL1xZi3otMUvLgXRv4X0t9I5FWOfJtVufPZBvDHgYUW25U6HSYb9PfTNGaRT4a2PJ4x1EeVla4pkuOc85rKIY+dHx/WieoGR39SMavKblTwuPrmaXtsWCmrF4vWOnfL36mvm733NitMzZMFn1667+2kVfFKcd5XZuauTZUOlfy+/dL9aVw2q5jnqjptwk9BoWYF+pUNWaEVI6btjyljF30cH7XaPRtJc+32XG+Ax1sm9X53PMlxLIRWn01om1onDdut/WsaPsZWVf+91k2m25rD0L7ZeCZqXzRBgTDA3j/f9QQxN/I+NFPRRp42hv3vGs9DtlGpWtH8Vk1p91lj+ef6GhA7Ch5Pm1k088tXluIeS+ibV4RLW3ye43lcUjGLzdhjg0Zn4tG+K4NKLZolbn9OT97vUBak4/6szxOcJSFxxXLl9bx/7ShGOqaCmvuc6qjMnk28dt+tw2GGRIen8+sq45G6b+2EyEvraG6usT1XBa/G6HVGRt2iP8Ra5F7jnO7Nmc64/j7JSW/X/s9iy6F02Yd03z+Q4Xvr6rNGBRiXqhT1ZgRUjluw0Vxd4zvqHjuvaKPAC27/OXpCvWn0NpmdT73fAmtbIRYX03LD3lmf7b1rGj7GVlX/vddNptua/d7+wXy4w3L/gG8d1NAtWkXLyucU5taUXQ6mjaFP28j2GxQ9U30t4y+A+o6qW/NcsO1GVGZN6UzxO+UnarXFmreS6vgjtpOvrrXq9TW60rblXmKzXePA4svZ6TcKKRotPxd8tFAl8d1jnv6rYZ02ttQDD0n2VOsTafaThk/IsPMBDkiYS/v5uuZpb0c/C4/lk3J23GhNVTLvuDSyse6CmlVZ2xwjebZU/G8rk2izL9pU2BnOv6+bMfFT8r5ysSoNuuYvzp+m3MNldG2YlCoeaFOVWNGKOW4LdNFX8832kyuyqhRrZ5dZekYbTTupxyxPLS2Wd3PPV9CKxuh1VfTrutr4M+Ktp+RdeV/32Wzybb2ILRfBt6fUnzUUT9x7dpcZdrWBQ/nuyLlRi9Em26YNae0UWZnPKefa92x+Z7Ory098K7kubTpvldbvLZQ817kpeP6djVQLvcWbDhGI3zXBBZftknxdewm2o4Fs5TVXPLRQJdHrdPpY8UOw+vKOU1ey9PJWjWGDom+D8W/9vcz9/tUqUiaiuhaCWvzuLqfWa5G0b/2uVulQVhm09jFjkbyhAppVVdsmJmSdnMrntvV8He97Doofkd5aqMDT5U4T5t1zD9q6DzpQgwKNS/UpWrMCKkct2l9Sjo8qlAORj3mxZ8c13e6g22zup97PoRYNkKrr0aOSrnlOtp8VrT5jKwz//ssm023tQeh/TLQfpMfb0gmDGgauKYIzSt5vlmiv2EtuhavNl0oz8605uWGWYtzsqPwbvCYdrNEf4NYtNGeRnsTfr7kubQ163a3eG2h5j2x16Bdm8lTUxool0tFH0E45KgcfpGw1hJPq+xndUgdK9g4IR/1b3l8pnz+ZIU0cm3cc7ShGLompSEXH2lqpmuajtEl0j2+nllHPXWCnPDU8bFLOc/9CulUZ2xwrW372sPve6Zgnee5o1E5veT3P1LOV2bZwzbrmFcdadjES+02Y1CoeaEuVWNGSOW4bSdS8muZpaZcL13LjmJ0DSpY1sG2WZ3PPV9CLBuh1VfT6vZ5RtO3+axo8xlZZ/73WTabbmsPQvtlYP1iO5nMOl6Duuup68328wrnPF6gM89lrpTb1TaaBrLe0alYZa04zV35MYWvjiDnWntqU8nzaaPSFrV0baHmvcjvjus72WD5/Jqzgh2tsbs8wBijjbh4mBGXzd/cIB8NfHmc4bimnytck9bY+VigDlA1hh5z3NMVW7a7PpLC5zPrsSOtVhU8j9ZQnVPierSRxUcqpFWdscE1xfVCxfOa/KktZfDWkXddHf8PSn6/62Vx0UEtbdcx3zjSZXoDZbStGBRqXqhT1ZgRSjkO5dnyzJEeZZab0kaiPq1wffcr5O2Q2mZ1P/d8Ca1shFhfFXGvc56nvdhmfbXNZ2Rd+d932WyyrT0I7ZeBNdsGvRGpPs2myzZJ+elernTVgu+dgufR3gBnLW8zxQbRaEqQ9nbvkce0i9ajNA33rVLP2uXDjt9nWolzaQ/sDy1eW6h5L+1BWGUzKF/XsDnxN4uk+lTLOi1zVOo0P9kyPFKg4kM+6t/yqD0H3ldIo/mOCumuBmOoa/TLOukPvp5Zrpc0RTsttN+s7JrDn8XvqKU6Y8MtqWdZlrVSbH1TV8d/2U2qtM2kyiz30HYd0zUFuYlGZVsxKNS8UKeqMSOUchyKxeIeoVh0FrDWiX2s5HUtkvKjWkNrm9X93PMltLIRWn01os2IyLtefZv11TafkXXlf99ls8m29iC0XwaSqdiat81mdO+KAU8L1xShsjuPu3YJL/pW7VyJCo9p0JglJKKpb3Xulr3IdviYYGlGnM2Vet5oamtPPSt5Lq3T61KL1xZq3hP70P3iMe3L0tYVT65Xes/mxXmBxpjJkn+Dlxu2EriSfER5dHR6VNlk54ZUG6XoI4a+daTLpD6pU/h6Zrle0mwveB6toVpmJPYS8Td7pInY8MmRfmtr6Igw09Vdo3MvOK6jzBIXCx3n2lfiXG3XMb877qUJbcWgUPNCXXzEjFDKcUhcy6gUeRa7Rmyu9pi3876gCa1tVudzz6fQykZo9dWIto9D3tHBbdZX23xG1pX/fZbNptvag9B+GUhRoNlCUvxvl20tgy8uca5oWuk7qf4W6akUe5MWvX2Lr8H2voaHZVSZitZFjI/afSfVRy4kPVDOeaLkubRG4LYWry3UvGescFzb/obL5y+SPtJ2s/h92VOHIdGnmCdFU1n39kkMazof9WN51Kawlu2k36icyzSq5jQcQ78GUNGvk69n1iVHY2SSh/OUqQfsFn+zR5qIDaPid38Aw9UROVwwP5hjQYnvv+M419IS52q7jjnaYhxoKwaFmhfq4iNmhFKO6zTNxum8HU3THenypsB3Dnvs7FroONfCjrbN6nzu+RRa2Qitvprs84ofBztQX23zGVlX/vdZNptuaw9C+2XgROvhHCEp/sf1prXoaIFoKoYZtXpFKZRFGrLaG/y0dW3NqB0z1exhotKUd63B36XYxirRKIVzORrfpyr8NhNEf1NadpqKtmbdbMffLs6oHPq4thDzXuSw49rmNFw+h5SKwTf738xb4Xe2YT418DgzmvE7RyNlrvRJDGs6H/VjeVziuJ4ZJdJnuqPBsr6FGBpCRb8uPp9Z2u912cN5XPUAk6/SNrfUljo5XCGt6o4N3z2V5zhtZPS1jM989nQdGx3n+VjiPkKoY7ri7cQ+7mwIMS/UyUfMCKUc1ylarqLI2stnHeUvr5Pib+md21JtxkJobbM6n3s+hVQ2QqyvRm1Ibc+zvJvdt1lfbfMZWUf+9102m25r93v7ZeBskerTknw2Hk3FbrfNpG1NPfjmKYNfsxVS8yBPvklyTQ2ZK/ryItp6XmdSGjeP7H3Mj/37Bsk3XWidDVJ5R0NGa3OZDZkmKw2fIutLLrTB1VXBWVWg0bUkpRJlzJT8O3TPsA3AtGnqPq4txLwX0dYafNhSGdV2DTcjIYruGt0mrXITlZ/VNu88VcpUV2NY0/moH8ujtnRQ2XU2tUbrwYLn8BVD61onMYTNwn09s1wNzKIjGZfkrAdMss/qtPXzv+ZsWJqRqr/luLa6Y4PvET0/i75eatZamD4aUVEnwRPJv8zAtpSOqRDqmDcc6bKy4u++T7JnKLYVg0LMC3XyETNCKcd1imY8/lbgM1oZ/lbg8888dXZpS5/cbKFeUUe7sY7nXt3lq62yEVp9NbJcqs2IaLO+2uYzso7877tsNt3W7mr7xczK3CljfcAzBP8/MHyzjY62174xGT35ZvhNosLdFB9rNh2RH28xtd3gtTW1zL1eKPBwcQWwaB23nYl/13YVT04VmWcDyMEChfadzUdaJ7o27eq7I+CZPPiPpL+B3qOc767jukwl6ljBitu5lAdy1mZRPq4txLxnTHFc2/6W4oW2fuIBe42PpBu0UQ/zbCX0i614zuyjGNZ0PurH8qit61hmM9kj4me6oq8Y+syRzlX2N1lo6xRtL6Pk65m1z9HhUXQE2N4c9QDjso1BrhdcS3M2LKP7+j3jupqIDU88dhiY+3yu/B55RnaOVmxEmb+7Y+vI2u+pdRCtkfQRWCHUMY+J/zWxo2vaWqJDsIkYFGJeqIuvmBFKOa7TUSm3JnjZTQ1niJ/N4mbajs/4OUy7rsjMzRDbZnU993wLqWyEVl+NVF3+o836apvPyDryv8+y2UZbu2vtlyEZvzHoZwljk+BWzbQZZTSAh7/x2JGpXkoYu+qmTd1K2mH//pD93zuVc21Wfo+bKRUHbfqS9qb2T3GPztHOsTwRdEx63y+QVtFby7SRudpbOm1023n7t2lvrS7lbDSbtDQj19Ne9mhr1m10BO3kiKi6ri3EvCeijwCruk5dFRsdHUSmU2VRR2LwbUcHwid7LOqzGNZ0Puq38jjB0YFSdNMibfbO8ZJp7CuG/u1I57INn622svtG2h8F4euZpa0XXGaGnzb1dZnSSPqeUTfUGpY3HXWEWzmuq4nYcE78jej5K0dZLhqf8663G5WXX229KWvPg6jxl7aZagh1zOWOdHle8veOloM4XCBNm45BIeaFuviKGaGU4yaeG58K3lfyXvIuCeDaxLnIsgxDtkMr/vm3JTqcQmyb1fXc8y2UshFifTWtDvRHgc+3WV9t8xlZR/73WTbbaGt3rf1yxHGtph4ySwaUmSKQfJv42haOBS1cz1LHj1TH2kJlC5BrxEXSXqWxejGjETrNfmdaxUFbX80V3F47GjPPUx6UJk+YJSlGEtdhKiJn7YMpWTk6kbPSpT2AzjsCbdabysc5GvTHbYM+a3OhF5K9dmm0NEye5Th8XFuIeU9EX6vwaYsxbK4jnY5Ld7imwZlK/oo+jGFN56N+K49rHNdytECabBO/I3F9xdDVjnsblWKbmpoXCRdijfHZAZRzH/nQte5imc6bDxkN5l2Sb1Mz7bl+IPE3f9g6RZ6KfROxwVWGlhU8z7qSMSFyS8qP9orS6UhKjEo2os3STY8kfVZBW3XMpIeOtCmyDMG0WBrn3SuprRgUYl6oi6+YEUo5rlM8X+RdN3lChfvRXqi8KXjNyRj+qmRHS4hts7qee76FUjZCrK9GtBeRRUbKtl1fbesZWUf+91k222hrd6398jmlr/UPGVBXJL0T2qwh2eRyKsMZ17O14fQ55LgO84CfkpKZoze01xKNzH9SGgrTbWDKetOtvXHdZP/bz7EgaTK8a4TJV0dFY4GtJJugE1+Xar+Mn4a3zz48LsQqTVnrHu0SfQmV1TYdou/Js2HY14wGffTb7clxrtEcDYhPkr4chO9rCzHvif3+5Hna3pg3ud7za0nfFC40rgf1+j6NYU3no34rj0cd15Jneq75jj9l/AZsVV84+4yhzx339y5nxXKLfUZFo2ZmBlLOfeTDYUeFe4qn32y5PVc0MizPFFVtBti6xO9h/m1VzutqKjb8k6NRl2aJcu/bPMXnEXEvV2M6l6JRmNczGjm/2jy21f73dznKQxt1TM0i0fdy+JozL22RH9Oldxb8XdqIQSHmhbr4jBkhlOM6xX/LvPsqrFDabHnb8u+k2lIXyWUd7kv63jJda5vV9dyrQwhlI8T6avR8ybuka6j11Tafkb7zv8+y2UZbu0vtl4kZfa0h7C3ZuD8yEiU6HuRscC2wla1lFa4pa6T4+obTaKa4N1h7ZjuFowA6x3bqRpn5goyfpvTN8WDYZBsKeUbnf8/xm5ngsrrCOTYl/v5Zxt9/k/9OjXWZn+PaX0q+Nedc00zNG8lopMP5nL+zlh6/2MCx16bngwKVSh/XFmLec/1+y1uOZcm35V1bE+u61Ddtl3zUf+XRNb05q2FoYtrTxGdueap0+Yyhy1OeUaaRfNpWtCfGGk6m8WZe1MZHll2WsF6O+ciHJ6XaxmVZnR/x41SOc7hm6uy0v0u0/vnenNfUZGzQ8tkbybdMwCL57/qUIyU7P9Liyitb5x2yx2Lb4fTF/vfbifI0mvF7jki+6cFt1DFd1ol78yozGnVlLLZOsL9pPA6YNPzZU96oOwaFmBfq4DtmhFCO6zIk5QaHnS1Z3lzxN89AJVP+kssHHJFqy56G2DarIw/XJYSyEWJ9VURfjuVBR54VbT8j68j/Pvt02mhrd6398iWlftClmfZebMrZIR4PRGlWJSphOytc2z3HNbyW5tcUN3YXTCtTGPYUbCiYaSN5p0f8k/H9ZlTBryUCQ/RZ7Q1sVqd4kaDyOOU8HyX/hqojGdd0rcA1vcg4l+mkKrL7r69rCy3vbXc0rtoWn/FyroPxOLnZxfY+j2FN56N+LI+u0Tf7YrFqyDZszLTih0ony0aPaew7hhatoyRHZGwKsJz7yIdaOu8oeT1HU/Jt3s2a1uf4PYpMk246NmxQOiKzRslslv+O3jRLIU2vcA07S+Tx80rHRlpHqJmCm3dJxDbqmFmdMw8Lps9b2yCvsjRIGzEotLxQB98xI5RyXIcFStqYzoy0qf7J5SoOVIy/5viQ8fxemujAfGg7ekKrV/iqC9aRh/v5GRdafVVEX8O67GaGbddXm35G1pH/ffbptNXW7lL75YS4O+4XyAAxI7nNWyUz5c6MZttlK1WvM36otMX3H0m5Xa41M5VO2HfS7qZ5+yXf6JkbGZnJFMA39lzfbBDbIcU6+w+mfP+TnJ3K0+1DLtqQ8LUtIK43sAdSGs+/FUzLlY5zvS9YiTqZkg5/FbymQynnMp2sRZcQ8nltIeU9bbmlvwOIaddjD/mp0j1XY+Vp8wDEsKbzUb+WR9MQvVWwwmWe1VvF/wtm3zFUbMP/nwL39sY2siYHWs6r5sNZjs+W3RTHNIaO206W7/YZbH6rhQXOsUjSZ5AVHSDRxjPG3MN9pS41HOtsnGob5fdiDQdTh1rs6Rp254wrr1M6B645PnO9YIdGG3XMvPHOjI42MyM+xTp+v9lOuxu2HK3yGN/aiEEh5YW6ypvPmBFSOfYtvlzWl1jn5neb1xfFOhQX2zL2PZY/1nqIv/EZcfGyZcrylkQdxKSrz5maobbN6srD/fyMC6m+KvJjJqevWcYh1FebekbWkf99ttPabGt3pf0ySSmPpm94gwyY1eKe9mg6LG+ndIC6prA+UQpFFaawmjdRv9sgHcIU6Hm2wvHUZhxzj59t8PlD8o9w9uEPG9Cja7gi/t+iJpnC+jL2ndcqPCw32mDxzd6HaZhPK3gOEzhO2cD/zXaIni95TUM26EbnemMb4mU3c/B5baHlvdBMjDUUVnb0Ho7b37buZWgGNR/1e3mcYZ+VF+01RY1nc21mpNVl29Eyr8Zr8B1D49bYBvDzWHp/tY1+U8k9LO0v4dRGPgzFRlsHjH4X8zuZEVezO3Yf5qX8EZunPiTy2kdbvs/YRkMdDZc5tgw9in33F5u252wHV1pDdrq99q82Hl2q8Exso44ZsqZjUEh5oWsxo+1y7NMW+yyNv6g0nZfDNh+8SNzfU/vv60p2emlT6s0zaqutX7xMfN9z++/mhf6sGu4/5LZZF597IZSNEOqr2vIfo+Kn871f6qtN5/8m6sdNtbW7lB/MrL9t9lkzQ6D6RcZ3dEdvMrTOy8OJv7tDEgJoQDSL4U+SAgAAAChkuegD4oZJGvSZLVLP8hwA+piZ4p2cYqJtvDldxm+EAQB1Mm+QzVtXsw7zBJIDAAAAKERbJtPMEJ9M0qDPXFTy+m8kC4AsZt0Zsxh/fM1xM8XFvD02HVFmuslG+bFR4jqSDEDNzIu5lzbmzCE5AAAAgMK09Z4fkCzoQ8nBnqMSxjK9ADrErD1zWsZGZsbXUjUPU9Nx/hNJBKAB0YYZa0kKAAAAoDAzwC3alC9+HCFp0GcWKPn8MskCAAC6Zr+tyBwmKQAAAIBS1oi+nvgqkgZ9Zq+Sz1eSLAAAoIuVd97sAwAAAOUdk/EdhWbk+BBJgz5zL5HP/yFJAABAlyyRseWazDqHk0gOAAAAoDSzJGqyU/wWyYIO2dk7nsjYXlPHHW3EmUo+30rSAQCAUOzuHW96x6fecUrGb3qyuHeM9I7nwt4FAAAAQBWmrv1dxncWHiBp0BHakijHlb/bn/ib5yQdAAAIxXqlQmMqKwtlbPrmb73jY+940Tumk1wAAABAJcOiryf+K0mDjngj+WY6vBbWEgcAAIG64KiUxw8zLY4OcQAAAKC680p924wcZz1xdMVXJQ9fS/zNtsR/P0WyAQCAkPwt6R3iN2X8cioAAAAAipslYxtqJuvcn0gadMg9JQ8vjP13s5b4h9h/u987JpBsAAAgJGYDTW1NQ1NZP0jyAAAAAF5Mk7FN612DUZaTROiIVUr+nS9jsx1W945XsX83eZ59qQAAQJDM+oXm7b2ZBmfe6J/uHfNIFgAAAKAys2zEFdGXnEguoXK3d5yz9fH5JB0Ctl30wVXx/PynMEIcAAAAAAAAGDimg/tsiWMBSYfALbD522y8+U3GXvyY/aiO9Y65JA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jKlN6xtnfs7B0Xesez3rGeZPFqUu9Y1zsO9o4ZJAf61JzeMdw79thY8qR37KP8AaCMU5fjHilLAPVVyh8AAG1Z3ju2944zveNS77jfO770jn+VYzHJVcpQ71hgK1r7bDq/SqTtTyQTOm5u79jdO872jqu942Xv+O6IJcOUPwCUcepy3CNlCaC+SvkDAKAtp3rHx97xzVEZiI7PJFVh13vH+5SKVnQ8JakG3pHeMdI7RnvHg96xooP3sLV3fLCdFGl53vy3KZQ/AJRx6nLcI2UJ1Fepr1L+AAAIwbTe8bfjQXyJ5ClV6dpmK5D3Uio5J0iqgXZYyROmsbGkw/dkRrusc+T3R5Q/AJRx6nLcI2UJ1Fepr1L+AAAIyUrHg3gHSVPZfkfariNpBto7R7642Af3po3o+4vyB4AyTl2Oe6Qsgfoq9VXKHwAAXWhkLCBpKhsWfWreRJJmoLmmgt/s+H1NDKxST/kDeMZSl+MeQVkC9VXqqwAAQLVBeRCPkCxenFDS9h7JMvBeSH9OAV8r+jTbCZQ/AJRx6nLcI2UJ1Fepr1L+AAAIyXHpz2lxIXiipO0RkmXgHXI0MpZ2/L60tSfvUP4AUMapy3GPlCVQX6W+SvkDAKALFeFtJEtlUxwVyV9JGvSclh+7zpuRbhv74J7uKvl9P+UPAGWcuhz3SFkC9VXqq5Q/AABCMsPxIJ5L0lSmTfM1U/OGSBpYk2RsLdR+yBMTYo2m+LGE8geAMk5djnukLIH6KvVVyh8AACHZpDyI35AsXpxU0vYGyYI+pW0SNEL5A0AZpy7HPVKWAOqrlD8AAEJzQXkQnyNZvHiqpO0+kgV96pSS389T/gBQxqnLcY+UJYD6KuUPAIDQvFcexBtIlspc68MtI2nQp14o+X0T5Q8AZZy6HPdIWQKor1L+AAAIyQLlIWzWWPuJpKlMWx/uC8mCPjUrsFhC+QN4xlKX4x5BWQKorwIAANVO5UH8kGTxQpuad4lkQZ/aFlgsofwBPGOpy3GPoCwB1FcBAIDqivIgPkKyeKGtD7eDZEGfuhRYLKH8ATxjqctxj6AsAdRXAQDIaULv2Ng7dsvY2mKT+vheh3rHV+VBvJJsUNlU0deHW0DSwFEWu+5zQLGE8gfwjB2k50e/1+Wor1KWQH2V+ioAoC9MUY4JgVzb7N7xMvFQetM75newwrK2d5yTsbfPpiHxrXe86h0HYn+3QnkIfy1Y4Zluv2tr7zjTO672jndSfLOS5b3jbOLwvev2anuNT+x9jtprNf82N3FPv9truNY7PvSO4wW/S1sf7l2LeUL7nUZ6x+sS51pp85XJUx/t+WZ1+Lea2DtW2Tx7VMZGkNzrHZ/E/VJsjv2eV7FrO1Dg+9bI2CgQs9P9Y3uOOirATaXjsoKxZIk9/wPbOBm1+emNTf/hivfdZPmbZL/v795xP3Y/5v7NRk4nO9a4mWjT/7iNE+Y3+WLvadTe320ZG1W1wNP3NVn+6rbS5oVXNk+P2jh7uXcc6h3resdMe2/rbBxe6+m7ze+xvXdciKXht1h+NNdxUcZe/A91ON4MShlvsi5HfZX6KvVV6qvUV6mv0hkPAA1UfkeV4P9rwfP8YitL8WOVh+t7LPrb2pcdaVyYh91++zD9N+WIKg+HlP92JeM7ztoK6nNbKXB9x+yC135VOccJD2liXrjs7R1vM9Lki62Qie1USP73LQW/V1sf7nzD+eF0rDGQdu9FdzcfUc4xkqi0hvxbHbEV2ccZafPY8fm9jjhmjt2Jv91oGxNnYw27f2uuALeR5w9KvvUQF/aOuxnXFR3/9I5FJdOgifK3wDbWvuW4F7OB07bAnx+m4Xcxlrc/2rKyxD7/hmysSMbqawU7GZosf02a0Ttu5szbVZ+Xyef+nt7xLHa+O7ZML4zVXWbZZ3+8fC3mGRtkGW+iLkd9lfoq9VXqq9RXqa92sb4KAJ22Ugm+o1K8w1l7SJ2teG1LMx4S6wJPW/Om+k3imh/YisIU+zcrYn8zx5GOWWuY7bQP8AspD9c3Ba99sqPSVjXNTQXqVeKcZgSCGWEwM1Yh22QrZJ9tx8FFD42mZ8o5NjecJ8zLplU2HTaKvmbdv/Y3LcL1u9/syG913saL07YiPJrRGI+7kBEnbif+3oy8+JCjIuqrAtxWnr+jfH574m92pKS16/hYsuOuzvJnOj/PJc5tRrDtkh+dwyatryvX8EuAz46ptjwkO5umpXzmpNLJsDzn9zVZ/poy3eaBZBrGXyisFL3T/HuF7zWx+33imb84owMiWb7mdjDe9HMZb6ouR32V+ir1Veqr1Fepr3apvgoAfUEb6XGr4Dkm2EZk8jwbPFTS0x52WwNN08nKA28kJT3m2/Tb40jHIkvFrPVUYdrm6Cgou6yO+dwJpbKSNpJgtq1wmQbUP4nPvirRyaSly8yW88oUpePmX1txLuJvx/196+BvJbYxq93P+sTfHc9RKX6R8j2LbYND+9ymir9tm+noisnx0cN/xcr1KduBOhS7DjOV96u4R+AMBVL+Ntt0jZ/X3NtE5W/nKNdwI7Dnx1Klc+pwjs8NKY3Zsh2sTZW/Ot2W8aPnXZLl9G2J7zN5+V7iPH/k+Jw2Tfscz9ggynibdTnqq9RXqa9SX6W+Sn015PoqAPSN20rQPVTwHOsdFdKpHjoH0ioP6wNMT/MQT75hfprjYWqmxX1R7rFoBW2SI602e8gX90qmiRmx90C5rzk5PnvSUQk8U/AaNgTUWZO0S7m25yXSWGusfO3gbyW2gqjFlHjFMZqu+d42ig878v6ljO+65vjc9Aq/advpOJyRp47FYlPaWoUrHY2VolNj6yh/E2yaFI11VctInYZl/IiwPwp8fp9yf3cCL3910NY6zpri/yT2t1dL1FWS09rzjp7URg5+5hnbehlvuy5HfZX6KvVV6qvUV6mvhlpfBYC+YYK0NhWp6G7P2tvvJ56u8Z64p1dOCCw9zQiZ5FqM5g31tByfPei4z6JL0KxxnKfI+rIzHRWLwyXSxJwruVHqywIVuM2O+yk6C+G0co7TgeSbGeJnlNNMpaHxoIO/lTFZOc/DRCdUtOFPfIqmNp07a8M8bUrwswq/ZwjpeFLc66v+Jj9mBE3OcS7XqK4rLZY/M2LtTok00hqvo4HEgd+l+hrEPzt+q+UBl786nFOuI2uk2NqSz12T5v+PvfuBvOr8HwD+SJJkJElmRibJJDKZr2TMzCQTk0y+EklmMjHzlUlGZjKTMTOZTEwymRkzmUwik2QyMpkkY5Ikid/vPj7n6u72PPeec+6593Pu7fXi2Pp8Puc5z3nOn/vc93nO+7nTt62jJdeNdbo74hffWf2Mnc9rvA19Of1V/VX9Vf1V/VX91Tb2VwFmyqsh/fpa1XziqQ/pjxuq46rw5EiW20Uno21fMG4n6lk2p9qezAd51Rm09yfKqDo7/IFMXbbUOHY3Em1S5QvPW6GZtxCuNNC243QtUb86E9Wu7yvjoyk8Vrl708c9Hczrxb2q/z7wbE8H/0FxLg+Se23z0xHuV21ox2uZL1vri3aJM9wvLllW7tXgW/N0/S0NT45qisv7Nc+rNozg3Jmp19KK5SzKHKtPW3r9jUtqFOIwsd/THfFWdnLQmJ+8PyB+rkI9cxOdn5uy+80sXeNt6cvpr+qv6q/qr+qv6q+2/Y0jgKl3JIw+0cmyzAdQk6PD4hfHmColvn62o0agYNxix+KvETuJH2U6Fosr1iU12UnV/Iyphxz3Q/WcbFcb+KLydhg8AqOM5WE86X2alDpue2uW1VvGxik7Vl3vhvykWd0JCA8M2acyI5dyOU3rTNDVlnZcFdKjS5YWXz7il6Aqr9ouDaPl/2zy+ovHNDXi5mzJ9VOvrx6f52t/S0gHRv/TwPXfXc639Pobl1R7vlhivVMVvgCvDP+eULObg3Vlxbp+HupNDDarn7HzeY23qS+nv6q/qr+qv6q/qr/apv4qwExKpSb5oGIZOzIfaAufkjaMI/MuJdrgaMVyUq981cmJeD2MNgHL+kyHomqO1R8SZRyusT8HG2jb1EiGiy07jw408OUwWh2qpzBq07HqOh3Sr+duGfHLS9kv93XuX21px9SkY3Fynu5ERS+P+MW16mucTV5/qfvk7VDulf/VIT3Kat08B6huh2ZTLaSO1d2WXn/jkgqKl5krZV/xtxtq9p/216xvDKrE3OJxoMKzU3a/mZVrvG19Of1V/VX9Vf1V/VX91bb0VwFmUu41rM0Vy0nl7vz5KWrHL0N6puuqnZQzYfSciMvD6PkZP82UUeU1+ENh9Nm/u75OlPV6xTJST9s/btl5lJpo5lKNcvb2rP/WFB6rUGy7fxKv88XPrxb3raY6hudD/dQFbW3HU5kvrFVeTy7zJePuhK+//2bqsbvk+qkRO/OdpzVVpzjKcVXN8haO+IVw0tffuKRGj8ZR3cNGsnZH4g27bj/IXO+TMqufsfN5jbepL6e/qr+qv6q/qr+qv9rGeQUAZkrqNaw6+cRvhnojsmbBtsyH3uYaZV1poJzUjNlV8o8tSnTuqrx6Hr2UWf+Vmm18IYz+FsLvDXV+x2lNqP+6X6rTfGVKj1W0KaRHnrxT/P8nDbV57sFg1ftX29rxTuZcirla67zCn8tTfWmC199zIT0hYdkJpg6H9GTQS+bxmt+badcjI5SZCzQ9aOH1N07HarbtshLn5vNFe/aXvXNC+zarn7HzeY23rS+nv6q/qr+qv6q/qr/alv4qwMw6GtKvLFXxSubD5+WnoP1i3rJbiX0/VaOsBYnOTtWciLlAQJVXGvdnjuffFfYj1aE4W7ONF4YnX4Ov+hZCKkjUxvQ+CzId3iq59NaG8vlB23isulKjWGLOxJvFNdfUnAJvNHD/als75r7wjDJR0MuZ8r6Z4PX3XaifS/NA5svJinm83peFx5M69t/3l49Q7uuZdvqnhdffOG3ItMOjCgGznFQ+3b8m+Dkxq5+x83WNt7Evp7+qv6q/qr+qv6q/2ob+KsBMuxDqzYbc6/sw+gQ30+rjzBfuF2qU9Z+GvqykcpxWyc94LfNBXrYuBzPrr6/ZxqmZt6u+opvKD9fW9D7/hNFGKHRfOfxuSo9V17lEp7Q7kdG7Dbb30QbuX21rx/cz9Rklp+XuTJl7J3T9bc5s/1qJdT9JrPdjmAtKz6cjmX06NmK5b2fK/aGF19+4nR9w3tSd9HBNpsxJpceY1c/Y+bzG29iX01/VX9Vf1V/VX9VfbUN/FWBmLQrpp/xVnji/mLnxn34K2i83AcaJmuW9X/MDvFdu5EbZ3LQ7Qv6J/a4S68cP7TuZD/S6Uh2Eqq/4pSY6aWt6n+9H+JK4pjj+8ZW9Z6f0WIUiWNV/Hp8rOpR/hmYfuJ0f8f7Vxnb8OXMNbxmhTqcyZb4woevvQmb7g75wxhyeF8OTOSX3t+A6XxLSr9bGZe2IZR/PlPtlC6+/cds04DPtm5plfjqm4zat95tpv8bb2JfTX9Vf1V/VX9Vf1V/dHwAYq9QkKVWfOJ/J3PjfeQra74vMvm+oWV6qY/BcxTK2hPr5GRcUnbjrof7ER4fH0Lm5EZ4cgVG1k5kaTdTW9D6pzlzZtzfOFn+/Z4qPVe7e9FuFfSsr92BwX4Uy2taOqVdZ606A1XtvSH2Rujyh6y/3Kmzcz2cyXy6+7Du28f9jMHNlS67zfaH50VFdv2TKfqtl19+kfDMgeLavxrXwdxgtD/IoZvUzdj6v8Tb25fRX9Vf1V/VX9Vf1VwEYs1Quvyo5xTYM+KK5bsbbblWmc1I3oLEsUd4fNcpJvRb3Vcl144OMByE9Cq7MF5XYYUu9SvnHCO2cegXtp4plrAzTld4n9eW1zAjP7iuM56b4WHV9nulQ3mj4uOUmHSs74rON7bg1s0//HUM7vTeh6+9EGP6KfAyC7A9PjtC5HebSlDzbsus8N5LowIjl5ibiehTKv347qetvUlYU50Fu8tEqI7xzc6icmMB+zPJn7Hxd423ty+mv6q/qr+qv6q/qrwIwZpcSN+2DFdY/X3z4/V/ipj7r/heaGXXWlRo1eLxGOadDvdGB3QnfYh641Oj/L0qUsTfTJqO89nmygfJSr9ieafG5tTtUz4+5qPgieC/MvSY9rceq648wmTdQUq993qywfhvbMRUk+GfEL2dnE2XGc+2ZCVx/C4ovJal2/qTY38uJz6D4xeSNlgYTVoX8A+XVI5ad+5L5Uwuvv0naNqDNL1Yo5/AYvsRP8/1m2q/xtvbl9Ff1V/VX9Vf1V/VXARijpWG0Gax3hrkn4amJwr55CtrvakiPxKs7M/TF0Mys26lXxsrUKY7OibnvlmQ+0LeXKCP3yv4LNdvk2ZAe3dREfsY2TxSX6pQNe4PjaMUvuW09VqGoQ6pu94v7VpNSo3W/rrB+G9vxSmL9z0Zoo9ykgh9N6Pp7PeSDmb0jA78tvoRuCO23M7MffzZQdi5NwtstvP4m7dMB51DZ19xzKeNen0D9Z/Uzdj6v8bb25fRX9Vf1V/VX9Vf1VwEYo+2ZD/Ey4gd9fDodA+KnR/jyPa1ynaBfa5a3MaRfvVtYsZzVod5M193XGLdl6hI7PcOesC/LtMnVEdr5WKZdqj5JT43ieLHF51dqpOeg15z/U/zN9yXLb/OxCkVw6v8a7iin5PIz7pjidlwZRnvYmZIKsv4TyqfiGPX6Oxrykzm/FKZzZE3u9dqTI5Yb2yKVJuSvCu00qetvPizKfAmPS9lX3W9k1l8x5rrP8mfsfF3jbe3L6a/qr+qv6q/qr+qvAjBmx0P9V4Tih/2touOZmiBj1nNh5TpBH9csLzVRTZ3cdqnRh8PyMy4tvuR3Zy9/J9R7tXxHpk0+r9kmz2XOrZ8rlpPqdP3d8vPrpUynLtfRvVEEwsoGZdp6rLpOh2YnBMt5M7Od5VPcjql7wK0R2mhN5ovYOxO8/nIjc7dO8WfIj2E8r1u/Eern0pz09Tdf1of8CK4yI0xzr0aP+8vuLH/Gztc13ta+nP6q/qr+qv6q/qr+KgBjdqXmF+fubPG7wuMRG22aUGgSTmY+9Oq8ProuU9bBGmWdqPElP34JibnWug8yvq355Sn3yv5bNdv4m0x5RxoIJJxq+fm1JJR/i+P7ohNYZeb4th6rUASW7iXKujKGdv5kxO20sR1TAYtRJgD8Pow2wrCJ6++vTLssnuLPkDuZfXpjxHJTwfaYZmBhC6+/+ZRLo1Lm3HyUWXfcZvkzdr6u8bb25fRX9Vf1V/VX9Vf1VwEYo9xrVC+VWC8+5T9f/Dv16tQXT0H7/RpGmwG818+ZsjbWKOtyqDaKoDvyoDdf2q2agZofMvuxvsZ+dB+23AyjP21PffHa3fLza0FIvxLcrzvh23sVy2/rsYo2Z+r2/oSu40+nvB1vN/il561EWTGY+/yEr7/cyNxp9jA0m9tzUMDqzZZef01aXnx5LTtae0XmGNwY4diN2yx/xs7XNd7Wvpz+qv6q/qr+qv6q/ioAY5T68CiTB+y74u/WFf++Fuq9fjzt7mY+9BY2cBwGvXo4SCrf3KBccXGkTXwt7EJfoKBsrsg94d9pcu401CbdBy9xQpjTiY521aftqfxwz2X+dn1oT763h0Pasjui4XSNstt6rKIPM3V7vuH2XRjSIz63TnE7bsjUZ2WN9lmR+cKybR6uv/kKQo7To4bOnV6pUZPftfT6a1o3bUyVXKRfZj7v6l73i8a8j7P8GTtf13gb+3L6q/qr+qv6q/qr+qsAjFnqNaphebO6H/6Hin+nJu/JTXDT3yEdpWMQO+bvFp2s+XodqYkPve6H+G+h/Ota8Yn1wSFBgTKj9uMXkph38UGYy8HWlZp8NTUZztbiWPeOMHjQUEfgu+JLVuyI9D9xz70quDqk8xOuCulUAikri2tgb0uu0VQHdknxu9eKc/Byz8+qaOOx6jofqk3aVNerFb5Qb8h0jNvWju+F5vKR/pQo638Vy2jq+htXDudl83h9Nz2a6OWQzs25vGI5k7r+mtbNTfrfCuukPjMflFjv+8yx2zLiPhwMgwcVzPJn7Hxd423sy+mv6q/qr+qv6q/qr06qvxrfeNjfWd4O9R5KAEyt1Ajv+wP+fnd4cgKbXSU7A6kOaR3xA7j/Ke6Nvk7ypDwc8UMv/t3PRf1THYPUB+3rYfDIgFQ5uS/Y3RyT+/t+fjgMzzP/QtEB7u9wNJFn9Uh4/HR/YyiXa25NsT8pO0L5fHU/hXITNE1KatTDC0Xw614R8FpVs+w2HqtoaaZu43gV9UBiO+cyHdHYMT46Be2Yyid9pkbbHAmjvabb9PV3JdPOm0c4/uuKz5OP5+n6/i00FxSPnydXw5PB3ZcrljPJ669pH4Xq+T8XhXqTfB0NzeeO7n727pqy+/a0X+Nt7Mvpr+qv6q/qr+qv6q+Ou7+6IDw5Mejd4v4NMPNWZm7YuVeP94fHr0g+n+io9i4fZTqkhxqo96VMnf8Ik3+FMPc66rqS639V/P0rneXrMDzHW7dj+dmAMlOvzqdGCX4c8iNqUmVs6utwxfY+X6FNnivZJvvCv99E2J8oa2ffOrGTHfPkPZMpM5Uf7q1Mh7N/FNJ8+ynzhe9Osbw4hvN3Po9VCOmRX6PmWc45VfLLTKxzfIi4uOXtuDAT/Kg6adGeRBnHarZxU9ffV5l2/rRmvXYV99MbYf5GxZwIzY0m+qTEeVPGJK+/cV3Pdyq2Yf++lnm9f1Omna7WrPtnxfofTuF9e9qv8Tb25fRX9Vf1V/VX9Vf1V8fdXz2SqWs8V54NADNuR8gHxW/0dCrXhn/nC+ufvOZCGJzfLHZIr4dqMz/nbBxQ50mOuOn6MdQfKdbNY3pkQGey/wt4fCBxMQzO/fZHGD4CoPvl+8/MF5CrA4I08bXHmEPudkiP+Pgp0yZlXu/sjhrqHeWXmtm8dyLY5cU2B40+Sb0R0Z/r75Xi5/tadp3mXtGPnbHNI5bdxmPVe230LpfH1L6XwvCJhmPn+lHITyLWpnZ8PVOXjyq0ye7Q7Kinpq6/1zL79jBUewMpfjHrPsz9q8KXwXHIHa+XKpazteb5N9/X3zg/k8vmEV04QttdyBy/KulblvfU+8iU3ren/RpvY19Of1V/VX9Vf1V/VX913P3VuwPiKoeFy4BZdyIMDjCnlv2JclJ5s7oTTcXXys4XHdImbuRvDqnfrgm34aFMPeL+5vLPxaeu54q/OzvkQ+mVonO/q/j9zRIdtNRT9x3F717u+RIfy8uNELqf6RSsLb7kxA7Xloptcr04H3If+t3z8bvw7xF+vw/4wrOi+KK3pkab9H+BuxMGvyLZti8Z28Z4/s7nsQrF9vvLOTKm9r0fBo/S7bbRgSlpx48yddlToi3iNj4OT06eNurDxiavv6uZ/btZ8otGzJV4Kzwe0buqBdd46nh/UGH9DeHJXK67R6jPJK+/cX65K5vTdXN4MnVK2XlKXgzpHK3xvvJqyfPx9oD+1dP4GTsf13gb+3L6q/qr+qv6q/qr+qvj7K8uGhJXORUAZtz1UC0g/m6mnFR+stU9HdKHRWe5CcNGim+bcBuuCvlJS64X9VlQLPEDMOZ3u1f8/qe+L94Ph+zb7VDu1cNHJY5l7Fi9NkIZO2q2ScyxFkcGdEcOxS8u7/d86J8MT77y/iDTYdpRnF9ra7bJf4rOwHtFe/wa5m/C1kHOhmZSIkzLsVqTqc+mMbVv7nXy+Hpi9xXxr6eoHXNvAA3rwMfr4XLfOj821Alv8vrbNOD+FO+hnxfByEU9X5xi0DiOhuwdAfTtgC+Ak5bapxs9+zAsKHu773Pi1RHqMunrr0kLQr0H5V9W+HxL2Rryk2p9WQTkutf4wqIte8/H66Fa3vdZ/4ydj2u8jX05/VX9Vf1V/VX9Vf3VcfdX7w24fx4LADPs2cSN79cBndtBT15vDOmQvtVw3X/JbOfPMPmc4tH+UH3E/deJgMegLxl/leygRb8P2XYccTPsIcXZAeuWeQr/bsX2iJ2GAxW/8MTXCMu+fXBtyPZjx21ZS6/V/slP9jZcftuO1d7MPWhcbg/Z3++msB1zo28O9pznC4qgRXz980IiQNLkfbvp629HjXtu7widHS28zrcnvlwOG6GzM/x7xGZ8jXnFiPWY9PXXpLWJuscve4Ne2+9/ffuDmtt+MeRTqQz6XH8v1EuhMeufsfNxjbetL6e/qr+qv6q/qr+qvzpun4Z84H5tAJhhO0N6cs04wdOd4kYYn8LG16yeGVLWh5mbaXyN6Y0x1D0+Cb6S+OB4cR7b891QbsTLnwM+vL/LrHO2YqDjfwO2/1so9zrgiiLA8qDYrz+LD80qT+HfL9km3w/50I2dzhtFWQ+KDtG+UO0ByKEB24+vBC5u8bV6pqdTunNM22jTsTqd2O5XY2zfzwbs7ydT3I7xrZofK3bAY2d/V2j+4eI4rr/NJQIq/SOv45esJS2+1uNn2PnEPfvNnqDUM8VnyC89X1rivXp9Q3WY9PXXpN70avfC44cMj4pr+cWeL9jri8+0Rz2fzU30V+J1F0fY/tDTl+rm1P27uPZjXV5t4Dqb9c/Y+bjG29SX01/VX9Vf1V/VX9VfHbfFifaPI+K3C5cBs+6bxM2v7gfLguLD+E7xgRgnzol5vlaOsf5xm/FVzz1Fp70Nr8E/X7TDxaI9HxRfzH8rPkjfGNLGK4oOZVw3jnCJowS31KxLnBjjVlGHu0XH7a15aJMXii8nl3va5G4RMDhc8gtPU+dL7zl6o+i4bpyCa/VY0X6bnpJjNWmx03m859yIo9y+DvWDjG1rx5XFffKbok7dYGGsWxwR820RJHlhSq+/14v769We9r5fBEbi/fTDMB2pP3rF12ePFPX/u2+//inOpS+KLyxLAl1vF+f+FaXiAABiuklEQVRWb+7h+BDhzeIcudbXlpeLn28N8/OWmc/Ydl7jberL6a+6lvRX9Vf1V/VXJyG+lbO76EutDABPgTiyujcofkaTAAAAAAAwi1ITgxzQLAAAAAAAzKL4akx/UHyjZgEAAAAAYBbF3H/9+cQBAAAAAGAm3Q7/Doqf1iQAAAAAAMyitUE+cQAAAAAAnhLvhCeD4i9pFgAAAAAAZtEP4d8B8XuaBAAAAACAWfRMZ3kU/h0UP6VZAAAAAACYRfvCk6lT/qtZAAAAAACYRZfDvwPiDzvLMs0CAAAAAMCs2R6eHCX+pWYBAAAAAGAWHessZ/qWlZoF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Ji4NzvL//Utb9pfoM/izrK1s/yvs6ycof1a2lne6Cz7O8vJznKls2xzuAEAAABml6C4oDj0WtBZ1hbXxcHOcqqzXO+7ZpZN4X5t6ix7O8sXxT6d7yz3EveDuKx3GgAAAADMLkFxQfFx2hXSQcf5WN5wOAY621ludZZHQ9rxcs3yj3SW253lYWf5tbNsnvD+He8s/3SWB0P2765TAQAAAGC2CYoLio/bos6yrrNs7yxfhuFByXEtix2KgeIDjN1hLnj9y4B2/LRG2R8myonB8Q3ztK/LO8tXmf075VQAAAAAmG2C4oLik7Y1DA5ex9G8MTi7Isyl8khZ2FmWdJbVneX1zrKjsxztLOdCeqTzn5q9svczx2drjbJuZsr6Zh73b0umTvscegAAAIDZJiguKD5pC8LgoPh7I5b/fJhLBWL0b/PXSnzgsKhGWbm3A36Yx/3LBcXXOvQAAAAAs01QXFB80haFwUHxpoKSF3rKPKjZK/s0cWx+qVnWtdC+VCXbE/W57bADAAAAzD5BcUHxSVsf8gHxGw1upzfoaZLN6n5LHJ8jNcs6lDneG+dx/46FdqVzAQAAAGBCBMUFxSftrZAPip9ocDsvBJNs1rU0c3xeGaHMz8PjfO+3i/NgPqWC/rsdegAAAIDZJyguKD5pn4R8UHx7g9vpBnZvaPLKUqlFHob8xKdlxYcTaxsoZ1QrM+ffaoceAAAAYPYJiguKT9rFkA5IxlHEyxrcTjfwaZLN6j5LHJ/vZ2j/doTxpu4BAAAAoMUExQXFJ+mZkB8l/lvD23otmGSzrsuJ4zNL7XgyjDd1DwAAAAAtJiguKD5JqRG63eVow9vaFOZGpb+q2SvJ5RN/aYb28VYYb+oeAAAAAFpMUFxQfJJOhHxQ/DXN0wqpfOL3Zmj/1obxp+4BAAAAoMUExQXFJ+lmSAfEm5jEkWYcTxyfWcrLvj+xfxccdgAAAICnh6C4oPikpEbodpezmqc1UvnE983Q/p1O7N8Rhx0AAADg6SEoPp37u7CzvNVZ3g1zeboXT0Gd3w35oPiBGuXtDHNpPRa6jBuTmwh1bYPbmM83AuK27yf2b4tDDwAAAPD0EBSfvv19rrP80bcPNzrLmpbX+7uQD4qvq1FenETzl4bqtqKzvNFZdnWWLzrLmTCX6mVHxXLi5J5f9i0HG2zDGJze21lOFvt+p7M8CHPpZ2Kw98/O8k2Ye2BSJ/icyid+c4T6Luosr4e5keZfd5ZLRV3XNnxuLSiOX8xZf7loi9gu1zvLBz1/tzmxf/dD84H6xUVbftVZzneWuz3H6Fpn+WwMbdD1WnEO/1Zs72FxDOPPVved83uKczRem393lmM1tvd8cb7FtDu/dpZDQ/4+TuT6XnH+dusX72dHit+Nok11GXRNvFm09Zni3n2v2PbD4lz5qajD2oa292pxL/sozKVC6t47Fg9ox2PF9dM9fz4oub2Vxbn/cWf5sdjHYdfu7s5yrue6jdfMyxX28cXi/vJ3Ud/bxTmwXBcPAACAHEHx6dvfSyEdWP4jtDcvd6zXw0y9b9co7z/Fuu/XrE8MBMZgzdUwF4TJBeufq1jumUQZn47YdjFwFUfSX+kp8+cwFxxf13PMnw1zgazu3/zeWdZX3FYqn/jXJdeNwch9PW17O9OmNxs8rxYX58DNAcfw/8LjYO+hxO9ON1ifGMT8Ysg51Tu55+6GthvflojB3b+GbDMGX7sT2u5N/P7tIduJk5FuC3PB1TNFef1lbBqwfiz/1oD6xevxmZL73Ka6lLEhzD2w6t4H/wlzge8NxTUcl5cS95Dvimu7rFjmqeJzYtB5eCmz/nsD7tXv9v1tDLjHh1EfFNdR6pofdI/eVNynUtu6H8o9LP2ouJZSZVxr+BgCAAAwQwTFp2t/N4bBQa+tLa33qwPq/HWN8n4N9UeYR3GyxRgAjiOuc4GjGxXLXBLSwaRRjkmsZ2/gLu73oED3wr5tx8Db6grbu5Ko/86S68YA1N9heED46wav5Rt9Zcf2icHO7ijfzT1/E0e/ngvjyZceR8ee6Cs3jtp/JzwOaK4Kc7nz+7f/nxG3HYPc1/vKjKPE9xTb7J4XcaRwDJrfLer0TSj/EOjrYn+GBfpvDzgvT5ZYPy6fDNnfNtWljBiU/TI8+SBm0CjmzxL7sqnk9r4utvd5mAuO5wLcqbcChrXLT8XfxeB4DGY/KtGGGzP13Fdi/ZMD9jO23y8ltm++AAAAAJIExadrf98cEgDY1dJ6Hx1Q550Vy9oTHgcdm/BGaCZ4uzukRwPXyXkeg5n9AZ/DJdZLpT85UXKbuXziq2rUPwbu/86Ut2PE47UkPBmAvl3se8qa4jgcCOkg3Khph+L5+094Mpi6KPG3zye2/33N7cbz6tPw5EOQQaO9Y9A7BsXjA6H+EbrXB6wXg6tnw5PB9/7lq8S68QHFz6FcELrMw6g21WWYjeHJBzcfllhvQWL/qj7g6tqa2bdtfX93rER7XCv+dn9xf4xB63MhH9z+O1OnwyXb/+6A++PvJcv4QzcPAACAFEHx2Ropvq2l9b40oM5V8r7GAHZ35OMXDdVtcWgmWP9Tooxfah7j/jQE+0uumxrpebfkuqmA+rUR2jWXQ37FCGXGEc79o9ljDvFhgftceo3rI9RlYXEOVj1vUmkiqopt+GtiX54vsW4chZx6YFH2eoptfTFzbPvvpUvC44c7Magb8+vHUfUx6JsLwj6s0A5tqkvqs6b/rYnDFdY/mKjPzzXqsSikH9b1PrTpptKJb6XEh3sfZtrjVGYbr1X4+8N9v3+x+PmBku0fj1n3TYH45sOu4lp8cwzHEAAAgBkmKD59+5t7ZfxGqDcqedyWhXxA/PKQdeP+xDzNMWD73ZiO2+uZulXJ4xuDc6nRkh9WrEucXO5OXxlHS64bg3t3Q/2g6+eJdT8foV0vJ8q7MkJ5cUR3f+7wOFq0zEOV/2WO8Zc165Ibcbx9yHqpAGXVoF081/on2o3/LvuwYWemLbZXqMPuzH70339+KH53IXE9LQz5XNJhSuvStSeMnrv+5UydNlUsZ0mijAs9v98YHk+m2Zs+J5Vq6I3MNso+WNwfHj+oeytx/xr2QG9pePxQ7Pvis6VXldHmAAAAPOUExadvf1eFJ0fLxpHFG1ta3x2hfLqCsksq6FXX/kT5VVOzHMjUc0uFMuKEe/0B8XMV1s9NZlq2jCsNXhvx2KQeEtSddHRNeHL0fPx32YlQ94Ryo4nLiIG5X0O1CQW7Urn1r1e89m8k2qHKA5y3QnrkcJUJCY+E4UHf7kOW+PBgSeZ8TR2T8xWPR5vqEu3MHOOlFctZlKlT1Wsodc593HMux7o9SHx+xHOq+/DlQXGPy9kShr8F1K1HfEvhpUQZqeD9d31/032wcaLCMfwlAAAAQIKg+HTubwwAxFQp8bX3GHRe2uK6lp3UrsryfYP1S004WDWfeGpU9P3iOJURUwLcCk/mEF5ZsR6fJ8pYX2K95WH0QGmvXJ72OpOOxkDwX4myXq1QxkeZ/VtcsS4x2J8aIX625PqpdCvHS64bj8XVMNqDl+jtMHjkcBmpUcT/7fn9np5yl2TKWJ05Rz6Y4rrEY5F6MFV3MtUmAvXvDrgOuxOAHhhy3g17AJl66NT7FtDzxb1o0P0olfu89y2ZbkqX3OSbudRihwMAAAAkCIrP9v62wa1QbRK2rjhScl2YC+Kd71t3X4P1S03YV2UyyPWZ/TtToYxUSpz9NfcnBsFi4CiOoC07gjg1evjiCG2aC0JXHd0fz4FUPvqjFcv5KjQzgjRVThypXSaFy+qQHj2/ruS2fwjNBPwOjtieixL78ainDbrpOOKI9hUV78UPQrU5BtpUl1XhybcZRknRE0Iz6UBOZ67D7ujuCw3cQ1MPPj/uOUaXi/bcPKCMD0I+eN8dZf7DgPV3Z9rrJR/BAAAAlA0GjCNIHIMT54ovxjFwcDT8e6KvWdtf5rwY8qO9T1Usqzcw/lxD9VseRs8n/mmmjAMl108Fg36f8HFKjWD+eITyzof6aVx6fZlpm6rB9TNh9Hzv/80c590l10+NMC+bs/1Qph0W1GjTrxNlvT7iPbQ7ejm+sfJncZ/fMKScVJ73MxX3pU11SR3f+LbIqprXUC7PeZUc9PH8uJdon/jz+NZBDJCva+D+8Xuinq8Vvzte/HvXkDJSwfvYR4gPM24V9R30RtSpRB1u+QgGAACgSlCh6SDxxiI40L+dH2Z0f3ksl2s7NQnbMN3UIFcbrN/2MFqO5xi0uZfZvxdLrB/TCjxooG1GlQpqvV6zrFw+8UMVy9mWadfNNep0ZcRy4kOY1CSmZScOPZxY97eQT+fR66VMO7xS8/hcCKPl5089qOjmU++mIirzJsfpRDl7K+5LW+qyN3OMjoxwTeYe2D2oUMamkH4r4J3i/z9p4N7xTEgH7heEx5MYf1ainP7r61zPsYlzLawesv7N0OwofQAAAGbcJILEF0M+MPrmDO4vj30/4Ngvr1hWd8Thxw3W71gYLZ/4/lAvNUxXKp/5XxM+Rqng2ygTmebyib9coYw4IjSVdudUjfrE4Fx/kL5Kvvfou1A/R3rqwVAMpq8oWffUA4uzNY/NwvBkzuufK5aRSjcURxt3J5g8XbKc1MOk56awLsuK6z01Snz5CNfl65lz7p8KZRzKnLM3i+uribkotmfOz2XFNi6VuJesS5QR0/zsKv5/25D1n21J/wIAAIApMu4gce4V8LoTGrZ9f/n3sX+YOe6Xa5TXHRX6SoN1TOXyrpJP/FqonxpmTWbdDyd8nFL5xH8eobyjYbRJR6OPQzon+Qs16vOfMFpwfXPmOF0rse4nifV+DHMBwzIOZra9vuaxeXXE8y11zsbAdEwREoO1MdhaJhCcGv1e9Q2QttTlSOYYHRvxunw7U26VN6z6JyGN9+PuxJvvNnT/+Cyk50OID/ziw4bVJcpIjbTfXBzHMimGdoRmH+wBAADwFJjvoPjJGdtfHnt9wHGvM9o75viNQZYFDdUvNYI4LmVzAO8YsH+7Sqyfy0W+dsLHKTV55KERykvlEz9dYf3chJQnatbn/TBaaowLmeM0KKgYR772vyET00NUmTw1Bs7vhHRQva5UkL7KQ6Z9ifXjeXw2VEu5836mnDBldVkS0ml1mriOj2fKLZsSZHHiOopB8vgw588G76Op1ETdhznvlCyjPx/4teKeER9slBnNfiKMnhMeAACAp8wkgsS/hXzwcO8M7i9zPhlw3F+rUd6NUC99Rs6WUD+feAwoXQvp9A1lJuqM6/8dRstn3pTUaPeXa5YVc6ynAtr7KpTxRaZNN9SsU2oCxLKpMV4O+ckOn0n8fQyGf9nXBvH/Y5B1ZcV6H85se8sIx/pGSOd+Lis1YWn3DY6vRjwmVe8JbajLvswxutDAdflLpuy3Rvis634W72no3rEypNO7xGD2+Qrl9N8LL4dqb+2kUgztCQAAAFDxi3PTQeIYxEml0fg1NDdarU37y5zLIR9QrHPc48SVaxqsXyo1RdlgWhwBGSe8S432LhPYfiXTNicmfIxSQa37I1yXuckxy46ajaP0U0H1ukHGZYny/qiw/okwPD1OfACyPzw5ovx2mEut8WyNeseHC/8ktvvHCMc6lQbmpwrrL0jcxx+Fx0HQZ0qWk0qrVPWe0Ja65N4iODDidZmbrPZRKJ965/PMvfdGg5+7ubdlYj3XlSxjXaaMiyXXfyaz/soAAAAAA0wqSBwDMueLL+VxVFgcRbxkhvf3aZcKto46SWDTTod6ozC7E+vFXMyp0apflCgjNwr4vxNug1RQa5S0A6m3A25WWP9/mXbZV7M+qZG8x0uuGwOH9zP1ifsZH4j0P/iJgfAYSH8jjBZ43JvZ7ihpbU6OWN4rA67ptyuUs7WBe0Ib6rJqQB1Wj3hdbs2UW+Uhxh+ZMt5p8P5xKrON4xXKeCdTxqsl109N9HkxAAAAwBBPW5BYUHwyBuXb3t+SOqbyNa8osV4cTR5z8saHOqmg6fYSZZzJtM3rE26DVD7xUSbgS42crTKZ7tWQHnW6omZ9Lo5wvQ/Kid/7VsC3YS6wt6HB45JLnfFCzfKeDemRx1XyiX8URhvR25V6u6LqQ4821GVnpg5/NnD8cymEygb8X8isH+9XSxs8T1NvMzwM1d6OSN0Lq7wZkpro81AAAACAIQTFBcXHITeCcD4mkkxZnajXtRLrvVr8bUwTsjGkA7hlUjfcyLTNigm3Q2o06Ys1y8rlEy+bFzgXyPu1Zn1SxycG7BaWXP9opj7xDYOXwvhSPy3LbPfqCGUeC6OnMboURhvR25WamPH5imW0oS651DqjTh4dj8ntRLl/VTheezJ1+6zB8zSXb/+rivuaerBY5Y2Z1IO49T6CAQAAGEZQXFB8HFJBnaqpNOr6oMQxTY3yHBbMiSMsYzD7dPHv1Gv/ZUeq5tJyTDLHfirFzd8NX1txWV5y/Vwg7+Oa9Uk9mKmSfiI3mn/rmI9L7i2Lz2uWFycVTc3p8HOFMnKB+ssNnHNV86S3pS4/hvGkJ3kjU+57Fco4HZqdrDblSAPbSOW5/6fCfTCVe/0vH78AAACUISguKN609SE/SvzkmLfdDSgNCyClRnkOS3sSg+b3wuPUAN+G+gHcR5n2maRU8PXUCOWl8olfqbD+yUyb1Lk+c5P3HaxQxl+ZMhaP+bjkUme8VbO8bzLlHRnxXInL3op1ST2M+qyB83Y+6nInU483Rjz+qWB7TMlS9g2HBcV9apRrsYxUqqNLFcs4POIxSD1A+CIAAABACYLiguJNey80MwleVTFYHUc6l8lBfTlUG9HcPW96823fCvUDYg/D/AfFUw8Gdo9Q3q+J8j4dcf266XZ+zpS1sUIZ9+fpGP2Q2W6dlBDddD83w2gj3lOj7uM5XPUBwakwehC5LXXJXcMvjHDscw9zqnxGbc6U8X6D5+hzmW0caOCesbnC+qnR6pOelwEAAIApJSguKN60XFqBuDw7pm3GfNbd3LLflfjb/pHag/I1d4PtvZO/rQjl81XvSex3bpTpogkep1Q+8ecyfxsDsoNSGqTSGFQNvN7NtMnCivv1VqacfyqWM18PLu401A4xzUhM9xMn7exPpxGPVZUgciod0rc19u12yWsmpjZZ2vK6PGroOPVKvX3yXcUyPszU6/kGz9F9IT2fwsoKZTyTaMPbI37WPBhwn1rjoxkAAIBeguLTub8x8BKDf3HkckwnsLhF9coFE8eZ67U3RcSwkYJVXrmPQeqYJzwGW3qDKtsTZXyfWD8GhWPgp3+U7/eZNtoyYjscDMPTwESrQjpFQ0oMdMWHAoPSU7wayj8kiDmHU8H3JoLQ8WFFDKz9Fsqnhtkd0mlVxpX3fdmQ3z8IzQTjYzD1n6Kt+/cll0pjdXjyLYsNoZm0NhtKXjOLi2vu85JlzFddmn6TIDVxZXwbZXnFcs4nyrnQ8P32bBgtR30I6TQ4JyqsvyBxz8g9HDla3BeW6vIBAADQJSg+ffsbg1z9o3zjiNA2jITLTRIXl2/GtM3eNCBlJvJMpXfJBZK7ea739/08lQu3P495TKMQR/3+L1Hu0TB6zuuQqdOuEn9bJSAVJ6ccNoHogUR55xJ/FwPCfxb73y8XFC8bhI5/93NxLaSOcSqo/3rIj2i/kqnP5hGO0bri2h2Ue76JfPPdtBLbwlzKmDLHek1I5/w/mFg/Bu6rjoh+L5SbPDIGNmMweEXL6/JbaC4oHs/dq4n9erliOUsz50+TqVNyDz6r5nQ/NeJn8X9K1mF38bsdunsAAAD0EhSfvv29FNLBmBhsWzDPdTsW8kHxdxreVhzB3J87+qMS66VSFKRGY34c8iNIU2Vs6vn9suJ4nM/UYVOmja7WbIvPivU/LPn3qXziqYkcY7C7f5R8SirAlQrExXzZ10L6zYZc+pR1Jffpq+LvX+ksX4fhObljwPFeyE/s91WmPp/WPEa7iu3dCIPTTOTa4bmS2+mmtjhU/Ht/oqydfeusKo7NM4nyUvnZ60zIejpRzkt9fxMf7DwK+WBwm+pyIjT3JsEnJY5RGdtD83nO+20L6dQpVUe0/x1GS+mTehC3IdMeh3T1AAAA6CcoPl37mxr1WTeH8zhcH1C3pto5Bu5ikCOVe3l1ifVTubT7dYPMcVRzKthzNeSDYUvCXB7n+Lr+qgH1uJBpp/9WaItYt25e3SMV1rsWhuccfqX4+b4S5aUe1PQHGeMDk0chP9llLhd9mdHzX/a1wU9DjnF8KBFTi8QR8LlRxq9l6hNHya6veL523ziIKYSGBbd/ymy3zEjc7gjo3kDxN0OOzfJim6lzNZcrvk7A9u8wOID8Thg82Wub6hK9njlOL1Wsy9Yw+qjr/uugd7nc8D3+i1DurZBBtiTK+KViGd8OOYa7ip99pZsHAABAiqB4s/sbR7XG17RjMOWD4r+x/GVjrH/vsmse23bzkLodHaHsGOyIeatjQCaXy7dsYCb16n/31fo4KrQbrL4b8qOUU3WIQeW1YS7QGoN3w/KDvxjS+aPvF/s6zNvh8WSB+yu2Z6oNesWgcXzocLJkean26A1QHSp+dmBAGYcyxzXu44rMOs8Wxz3+3dmen6dGW79S1GlX8fuYamfVkP26mqlTXHd9yWN0Kzx+C2BViXVy7RAfOOVyIsfAe3fk8nd9bf/7gGMT2zU+jFhT4X7zMNTLzZw65zYVZX1S4h7RproMatsPKtRjQ3jy4d7uEe6TqYeSRxq+z99MbKPq/Sc1Mv5QA/u6rLgPd9/yEBAHAACgUqBBULyaGGCKwb7UCOTeV8Nj8OnlEbc1bKT4tnlq1xiMuDqkbt1cxnFk5PLwZJqB+O/4+nwMFsdRmDFQHVOYxPQl90uUXTaY9KhEWXF7r41QRtn8tVsH7Fsc9bmlp53iSNkYuIsjp7sjva/XPKdS9Y85euPEou8Vdfo1lE9nkEt7EtOEdFOZfD2kjBgwzk0yeb04txcUSwxIx6DlveL3P/XV9eGQ43O7OM+G2TTgWMdtxAkYXy3arXsOb+g7Rt0JAMsGbwe1w5Xi2uiObo8BwJimpht4P5m4rlJl7SnO0fgAZ+2AunyWWPeHmveIm0OOyfEh67epLoPOjxs958MgL4bHD7W65+SrI9yD12T2ZVOD9/kXM9t4tmI5qc/Kqrn6h13jUqYAAAAwkKD4aPsbgwFlgsFN5CTu+iVTbkz1Mcmc4jHwE4O2Mfhws2IbNL3cDeUCUdHvJcp6ZUgZZwesWzWFTQw0Xai4vzENRwxeL6x57K4NKT8GS6u83XB7SHnflSxnf41j/3Xi2D8c0nZrK+zbjhHOy5uh3gR/71bcTgzM5kbh54L6MeXNczXOk301z7mPBtT9YM1zdr7q0ivmre5/8DAsz/nO8O+3GWKKmxUj3o/3hvTDnyalJjr9tWIZa0P6IeSChu5h8eebAwAAAAyxrfhC37tss7+lxBGddYPB346wD3G7V8KTwbcXJ9yW/9ei5XiFev9vQDm/heGTSkYxgPVNcf7EQFp8IPFpKJceIye+BRBHP8fRrzGlQjewG7cRcyDHEfMx7UAcTTrqw49DYfBo/sUVy/tsQHmfVCzr3VBuNH9s87cyZXyXWedsqBd8jEG23yucj3G0cAwgLhnhGL1fsh3ieTEoyL+3qM+j4lyKD2D2lTiHng3NjAruig9wYl75e0VdbhXnWpmJVNtUl5R47z2fuJfEB67dBzbPFOdr96Hmw+Iesr6h+3Fq8tCm04ecC+Um1B3kg8x1WVV8I+NScfziA4YzYS5d0XxPNg0AAAAzLX7x/i38e4RwDHTHdApxFGJMfRHTpQwasXpgxO3HYH5MgxADLUsdkkoOh7lA2IPi2J0O+QDrrJ6/MVh9p2iDGDSNAbSNNcuLwd/jPeXF0dhxBHfdgN/zRf3iiPX7RZn3imsuBi/fCIODXzHwfaZYNx7fOHJ3SwPt9nqx/as99Yr//bPY3oeh2XQVL4S5hy2Xe7YX9+eH4hxe41JulRioPVKcC3/3nSP/FMctzouwPYz2wAQAAABgXvSOdov/n0tjEYNzx0I6KH4vjP7KPAAAAAAAjFUcld3NB1t2dHEql3lcDmpOAAAAAADaLKY9iQHtzyqu90l4Mij+k+YEAAAAAKDN4uReMR911Tzey8OTOcbvak4AAAAAANrqmTAXzH6v5vrfh38HxR9qUgAAAAAA2irmBo8TZC6uuf4X4d9B8fuaFAAAAACAtlrYWTaMsP7e8O+g+O+aFAAAAACAWdWdpLO7nNQkAAAAAADMqi/Dv4PiOzUJAAAAAACz6kx4HBCPuckXaRIAAAAAAGbVP+FxUPwjzQEAAAAAwKx6KTwOiN/tLMs1CQAAAAAAs+p4eBwUf09zAAAAAAAwq+Ko8JhDPAbEL2oOAAAAAABm2bEwFxC/01me1xwAAAAAAMyq9Z3lUZgLim/VHAAAAAAAzKpFneX3MBcQP6g5AAAAAACYZV+FuYD4p5oCAAAAAIBZtj/MBcRPagoAAAAAAGZZzB0eA+LfawoAAAAAAGbZK53lQWf5ubMs1hwAAAAAAMyqTZ3lbme51FmWag4AAAAAAGbV2s7yd2f5vbOs0BwAAAAAAMyq5zvLrc5ys7OsqrH+ys6yUTMCAAAAANB2MQh+o7Pc7iwv1CzjdGfZpSkBAAAAAGiz5Z3lame501k21CzjQGf5p7Ms1JwAAAAAALRVnEjzYme531k211h/XWc53ln+r7N8pjkBAAAAAGirRZ3llzAX0G5i2aBJAQAAAABoq+9DcwHxS5oTAAAAAIC2+iY0FxCPyz5NCgAAAABAG+0MzQbEH4a53O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BFb3aW/+tb3rS/MNAaTQAAAAAA00lQXFCc8rZ2liud5a6mAAAAAIDpJCguKD5Ov3aWO53lUaLdyy4POsv1zrJxHvdjc2e52FMnQXEAAAAAmFKC4oLik7AgzAWWvw3lAuEx6HwozH+akg2d5VymfgAAAADAFBIUFxSftF/C4ID4zc7y/DzXcW1nORsGB+0BAAAAgCkkKC4oPmmfh8FB8S3zWLfVneVkKDeSHQAAAACYQoLiguKTNigo/tM81enZznK8szzsLD93lmOd5ZsgKA4AAAAAM0dQXFB80k6FfLD57Xmoz/owl7LlcJgLjvc6GgTFAQAAAGCmCIoLik/a5ZAOND/qLM/MQ32Wd5aFmd+9HATFAQAAAGCmCIoLik/S0jAX/E4Fmi+0sL5LgqA4AAAAAMwUQXFB8UnaHvKpU460sL6LgqA4AAAAAMwUQXFB8Un6MuSD4q+0sL6C4gAAAAAwYwTFBcUn6XpIB5nvd5YFLayvoDgAAAAAzBhBcUHxSXkh5EeJn2lpnQXFAQAAAGDGCIoLik/KnpAPiu9vaZ0FxQEAAABgxgiKC4pPyumQD4qvbWmdBcUBAAAAYMYIik/n/i7sLG91lnc7y47Osrjl9Y35wu+FdID5RovrLSgOAAAAADNGUHz69ve5zvJHeDKwvKbFdd4U8qPET7S43vMZFH8+zD34ON5Zfu0sh4b8/dLO8l5n+SXMTVz6sDhPjhS/G1f7xOvnWJjLCx/Pw3vFth8W7fRTUYe1DW3v1TD3IOijznKq2N87If9g6PmifteLOt3sLB+U3N7KzrK9s3zcWX4Mw3Pfx4c/uzvLueIYPOgs5zvLyxX28cXO8nVn+buo7+3iHFju4woAAACgGYLi07e/l0I6UBsDoAtaWuf/hXxQfHuL23pSQfFlnWVbmAv0xsBralT9pgHrv91Zbg1o46ud5ZkG67uhs3wT5oK2sfx/wlzge0NxDsblpWJfeuvxXWd5tsJ2YpmninP+wYD9u5RZ/72eOvYv7yaO9RthLmAeU/3cTqzz/oC6xuPze2ZbMUC+rsT+xuP/KFPGtYaPIQAAAMBTS1B8uvZ3Y8gHBuOytaX1PpepbwwALmtxe487KB5HBP855JjG5XZm/ZhG52SJ9ePySQP1jUHZL/vKjQHkQaOYP0vsy6YK7RO393mYC47nAtzHEusOa5efir+LwfHfQz4Y3btszNRzX4n1Tw7Yz9h+v5TY/hEfWQAAAACjExSfrv1N1b932dXCOsfAbS5geLHl7T3uoHgM9J4Nc6k9Bh3XrxLrxpQoP4dyAfEmcrdvLMroLfPDEustSOxfHFm+ukYdtmb2bVvf3x0r0R7Xir/dH+aC7zFofW7Aufp3pk6HS7Z/7pxZFfIjzFNvgwAAAAAwIkHx2Ropvm1K2ry7fNTy9p5kTvEYHL2Y2V7/ObokPB5ZHAPMB8Nc/usYgM4FhB+OeAz705ccrrD+wUR9fm7oeDwqft61t/h5TCcT83t/mGmPU5ltvFbh7w/3/f7F4ucHSrZ/PGbdNwX+CnMPtRYOuGYeBgAAAABGJig+ffubS7MQR/EubGF9Pwv5oPirLW/rSU+0uTukA6H9x/WH4ncXwpM5uheGfF7rOvYkyjpdsYyXM3XaVLGcJYkyLvT8fmN4PJnmcz0/T6XveSOzjcWZuu7s+7v9PefCW32/W1DinIkj/a8Uv/s+PJlGaL4meAUAAACYeYLi07e/cUTxlfBknuaNLa3vtZAO8MWRxwta3taTDoofCcMD0J+HxyOtlyTKWJCp8/ka9dmZKCemQlnaUDt+WrGcVxNlfFz8bmlRtweJayE+OPij57w7MGAbWzJ1XZ6oR0yp8lKijFTw/ru+v+k+2DhR4Rj+4iMLAAAAYHSC4tO5vzFoFlOlxFQRO0L1IOWkrAr5UeJnp6CdJx0UT41o/m/P77ujtuPo6CWZMlZn6vxBxbrE4HBqYsv/1Ny3JgL174b85LLdCUAHBbzjRKHD3qZIjYy/3PP758Ncypq4rM+Ukcp9frTn992ULrnJN3Npkg4HAAAAAEYmKD7b+zvfdoV8UPydKaj/JIPicVv9kzzGf3dHKHdTg8Q0OSsqnuMPwr9HOg8TH2bcTpTz5Qj710Q7nk60Twxyd0d3X2jgOJwM+dHo8RhdLtpz84AyPgj54H13lPkPA9bfnWmvl9xSAAAAAEY3qSBxDOjFUbAxmBSDbXHU5KIZ3l/mnAr5oPi6Kaj/JIPiqXOzO5I6vgnwZ3H9bBhSzv8S5ZypWJefQzon+aqa+5bLc15l4sj4dsS9RPvEn18NcwHyJs6p3xP1fK343fHi37uGlJEK3sdzKT7MuFXUd2nF6+aW2wkAAABAMyYRJI4B8fuJ7fwwo/vLY3+HdDD05pTUf5JB8S8T23m/+N03xb/3lSjndKKcvRXqsTezz0dG2LflIZ9XvqxNIZ2S5J3i/z9p4Bg8E9KB+xh4f73492clyrnbV8a5nmNzJ8yluBnkZmh2lD4AAAAAPSYRJL4Y8qOF35zB/WXOhgHH/esp2YdJBsWvh/Ro+u5kl6dLlnMvUc5zJdddFtIPMuJDreUj7NvrmXb8p0IZh0I6JUkMIMdR1E3k1d8e0rnvlxXbuBSG5yRflyjjYHicSmjbkPWfbcm9EgAAAGBmjTtInEubMF/BUUHxyXlvwHHfMSX7MKmg+JrENmKQPKYriYHjGPgtE5R+KVHO1Qr1OJLZ32Mj7t/bmXKrvC3SPwlpHMHdnXjz3YaOw2eJOu4PcyP148OG1SXKSI2031wcx89LrL8jpEerL3RLAQAAAGjGfAfFT87Y/vLYjwOO+7Ip2YdJBcX3JbbxaZgbpRz///WS5byfKaeMJeHJtB/dZe2I+3c8U27ZlCCLw5OTkMYg+bUwl2t9QUPH4UpIj/KuMjFsfz7wWMc4yj8+2Cgzmv1EGD0nPAAAAAADTCJI/FvIB0f3zuD+Mvcw5GHmmP82RfsxqaD4mZAOGMf/flWhnNQEma+VXHdfZl8vNLB/v2TKfmuE67Z7X9nT0DFYGdLpXWIw+3yFcvrTz1wO1d6OSE30ucctBQAAAKA5kwgSbwnpAOmvobkRnm3aX/I5pLuTI06LSQTFFySujzgquhuQfaZkOakHEQ8rXGMXMvt6YMT9WxieHOXd3ceybwx8HtIpRW40eA/Zkdn/WM91JctYlynjYsn1n8msv9ItBQAAAKA5kwoSx5y6cbRlDGTFkZSfhLl0DbO6v0+7YyEfFH9tivZjEkHxVwa01dsVytka0pNElrFqQB1Wj7h/WzPl/lShjD8yZbzT4HE4ldnG8QplvJMp49WS66cm+rzodgIAAADQrKctSCwoPhmXQzo4WGXkchtMIij+URhtdHHXp4ky9pVcd2emDn82sH9fhNEC/i9k1r8fyuXoLuufzPn6bIUyUmlwqqSfSU30ecjtBAAAAKBZguKC4k1bHvKjjs+OedtxpG1Mz9JU4H0SQfFLYbTRxV2pSSKfL7nuiTCeiXDjcbidKPevCsdoT6ZunzV4DF7ObOOrivt6P1HGfyuUkUphs94tBQAAAKBZguKC4k3L5WZuIj/1IDEoeT3MBYebMu6g+LJM+ZcrlpOaJPKPCuv/GMaTnuSNTLnvVSjjdKaMDQ0e5yMNbGNzSE/UWTb4n8q9/pfbCQAAAEDzBMUFxZt2MuSD4uvGuN29xTYON1jmuIPiuQcIeyuWk0p/UmUk9Z1MPd4Ycf9SwfaYkmVhyfVjQPleoowrDZ87VxPbuFSxjMMjHoPUA4Qv3E4AAAAAmicoLijetFshHWC9PcZtxklbb4bmA+/jDoqnJneMeawXN1BOlYD2w8x+vjDCvq3LlFnletucKeP9Bo/xc6GZtxp+TZSxucL6qdHqr7udAAAAADRPUFxQvElrQ36U+MkxbvdosY1rDZc77qB4Kt/2tw2UE4PcqdHYMc1KanLKR5n9XDjCvn2bKO+7imV8mKnX8w0e432J8h8VbVXWM4k2rPoQqH9U/YOQT72yxq0GAAAAoD5B8enc3xisfKuzvBvmUnAsbkm93gn5oPh/x7TNTT3bONJw2eMMim8Io4+kzpXzfeLv4jlysbN8nvjd/Uxd6kpNXBnfIFhesZzziXIuNHyMzya28XPFMlJpcE5UWD8Gv/tH6+cejsQHQDHgvrSh/Y+j2fd3lrdDtQcBAAAAAFNLUHz69jeme/ijbx9uhHaMHv0u5IPiL49he6vCv9O1bGi4/MVhfEHxg4ly4+jgqqOz3wvlJrL8tmirFYnf/RaaC4rHAO/VxH5VPf4x6Jsawd5k6pTY1qnUMVVzup8a8b7yn5J12F38bkcD+x6P05nEeS1lCwAAADDzBMWnb38vhXQAMwbKF8xjvXIBxu6yqOHtrQ5zkzb27n/Tng/jC4r/nCj3VI1yTifKeanvb+IkkDHAnAtMn8jsZ53z6ZNEOTtrlLM9NJ/nvN+2kE6dUnVE+9+JMqq8vXEgUY8NmfY41NC+Hxlwbj/roxEAAACYZYLi07W/G0M+6ByXrS1r296lyRQve8Jc8K63/CNj2KdcYDYGPUd5ALEwpEdB1wke/x0GB7O7KW12Dyjj9cx+vlSxLlvD6KOuu75MlHW54eP7RWIb5yqWsSVRxi8Vy/h2yDHcVfzsqwb3/e6Aa/Wwj0YAAABglgmKj39/4yR8a8ZY/95l1zy27Q9D6vZeA9t4JczlxU6Vv3EM+/TtgP15peHjGEfZ18kTnRqdv6koqztq+2iJcn5PlPNBhXrEkc13+tbfPUIbXU/Up+kHHzcT29hfsYzUyPhDDezrsjD3psJXofmA+KIh1+qpAAAAADDDBMXHt79xpGcMBP/TWY43VOawkeLb5qldtwypV3eJqT7iBKExgDpo5HgM2sVJ/14Lc/mT44je6wPKvT6Gfdo9ZF9iEHlFzbI/S5T3Q82ybg6pZ9lzLwbS+0ev3wjl0t68GOYmf+yuF///1RHafk1mXzY1eHxfzGyjauqQPxJlbK5YxsMhx/DQGM7vewO2d8xHIwAAADDLBMXHs78x8NsbxD3eYNm/hHQgK+bXnnRO8ZjfOU4YOSgVwySWoyPuR8xPHgP7Mf1HzO/8a8ntxsBiHMEbA/cxBUkMhi4rsb1ribL21az7RyGf4uVgxbJiupgHodqo4Z19x/+bUP9hQdfexP7cbvjcTU10+mvFMtYmyrhf4zq8ljmG10L1AHtZn2a2+bDYLwAAAICZFUcWP+hbttnf2v4T0uk9mgyKr+osV/rKj6OFX5xgO34cho9uneQy6gjiMw3W5csh23o2NDNCuSvmJ48je2OAPgbCb4W5iTPX1Swvnkfn++r2W5h7eNQdNR5TAsUHP90HNPFciMHw9Q2dX6nJQ79q+Bw+l9jG+xXL+CBRxtkadYlvTlwqjt/d4nx8O4z3IVd8U+PH8GRAf7uPRQAAAADKiCOmBwVWjze8vRgsi8H8OOFkDE4udQhoWAzUHinO6ziZZwyYPij+G1MCxXQvMa1NDKIu0VxTK+bGj6mCYhB+peYAAAAAYJiYKiOmITgZHo9WjnnExx0UBwAAAACAiXsuzE0K2CuO4u6fsFBQHAAAAACAmdU/8aSgOAAAAAAAM0tQHAAAAACAp4agOAAAAAAATw1BcQAAAAAAnhqC4gAAAAAAPDUExQEAAAAAeGoIigMAAAAA8NQQFAcAAAAA4KkhKA4AAAAAwFNDUBwAAAAAgKeGoDgAAAAAAE8NQXEAAAAAAJ4aguIAAAAAADw1BMUBAAAAAHhqCIoDAAAAAPDUEBQHAAAAAOCpISgOAAAAAMBTQ1AcAAAAAICnhqA4AAAAAABPDUFxAAAAAACeGoLiAAAAAAA8NQTFAQAAAAB4agiKAwAAAADw1BAUBwAAAADgqfEw/Dso/rkmAQAAAABgFr0U/h0Qj8tpzQIAAAAAwKxZ1lnOhyeD4o86yxbNAwAAAADAtNvVWT7uLN92lnvhyYB473Kus3zZWQ50ljWaDgAAAACAafN3GBwIzy17NB0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DQ6/nO8mZnOdBZTnaW3zrLQc3CmG3vLKc6y63O8rCz3O8sFzvLof9v73wgvOi+P36srCSRrLWSSJIkkaw8kkiSrBVJkkciySNJJEmShyRJEkmSJLKSJJEkSSJZSRJJkqxIkqwsz/dz7R3Nd/acmbl37sycmc/7xfh9fz37uZ/5nHv+3X/ndp45EA9oONM7z6bOc6Tz9EMcoGXM7DwbO89emze86jxDiD0AAAAAABgfAACARhZ0nn2d51LnudV53nWeic7zH/MMQ1ygJAY7zxtB76LnW+dZD1GBBtDTeRZbn2kWE81k2/uEPs+GmECD/fXuznPR6vaTzvNT8NvLEHsAAAAAADA+AAAAjezoPF/tgHYiZVBo/ttMiAuUpIOR7o3T5Cr5gP1vqxJ6aHbwLYfIgFLu0ORO0zRfap5RiAo0mPM0OVE8nqHnPxB7AAAAgFZxovOM2bj4tPOshkgwPgAAgLZgVi83CU76OcQDSmBXTMfMwsyqxH9fwujiQ4gNKMVMsu20A4bHKUnvWYgKtARTWuSyoOc3EHsAAACA1nCMiY1YNMb4AAAAWge3++s0xAICszahYzuYv7nI6OI4RAcawiEh6d0E0YAWsUbQ8z2IPQAAAEBr+CzE++sQDcYHAADQFnrhpEEF9NHk0btIvx4Jf3eD0cUPEB9oCMPEl6LqhWhAi5AmxRcj9gAAAACtQSqbdg+iwfgAAADawkbij0VNg2hAQJITDoPC321g9HEnxAcawllGfx9DLKBlbGb0fAyxBwAAAGgVb6l55dIwPgAAAOAEVysMdTRBSJJH17Pq1W+hyQtK7tj/DUBTeMn40xMQC2gZZ6gZR6kRewAAAAB/jhI/Kb4CosH4AAAA2sIjxkkfglhAQEYT+rUXIgEtZKYwcFgL0YAuGNxp3FWN2AMAAAAU4wJNlvqIToVh0RjjAwAAaA3TYkEu/uBGaRCK5E49o29zIBbQQriSEqYUVQ9EA1pEvzC4W4DYAwKwCiIAAAB1fnU6Td4bgpwW4wMAAGgV3KUPYxALCMg9Qv000B2cY/zpXYgFtIytjJ5/ROwBAThh+2oGRAEAAPCrGB8AAAAom/OMk74KsYBAzGP06yjEAlrKKKPvByEW0DKuMXp+BbEHFGSd7af3EAUAAMCvYnwAAACgCrgbpbdCLCAQhxj9wtFo0EakeoErIRrQMr4wer4ZsQcUYEnn+Wb76RLEAQAA8KsYHwAAACibuYyDNjU3Z0M0IBDJy9jGCfXTQDvh6gX+hFhAy1jckLwBsac5LKT/X2jZDJEAAAD8KsYHAAAAymYn46SfQSwgEIsY/boPsYCWwpWiugGxgJaxtwF5A2JPc1hK/z9xYxZYZkEsAAAAv4rxAQAAgLK5wTjpExALCMRBRr9OQSygpXD1AvdALKBljDQgb0DsaQZDnedHop+eQiwAAAC/ivEBAO1nWufZ0nn20WT95ukQCaiBH4yTXgOxgEA8Jf11ZwEIwSzi6wUuhmhAizDlR341IG9A7NHNDOJ3zmFjBgAA6ParKEOG8QHLfJqc3Dxvk7Csm81NofUDneexTSx/d553Vllntkgu/TYBNTszzJHFWzkMzJRyeGTlYmr/PSG3S3HMUZGrneerleuY7Zc5ymQzz/Z53DA+0uRxT+g4T1/n2dh5dnSei1afPpP7hZCDNHnRRPw52KX6vZJx0L9Sgt3yznPG6sAP+w7jVnfNjvPhkvVwupX5ZSu76B3MO5vLQs8VCDC9NHk7t9Gnf+3vMfr7neQFq/lWHu/texh9PKzUhntt/5yxumr67Kd9799Wlg+sjYYK0v1CErBQoXzWWL16b3XayORD57lp/d2mzjNgdWGTtb2NAb9/vfVrL2M+87P9twUJP7jL+q3b1hec6VL/1Wu/3+j1Idv2favLW4XfYH7zddvPv2K6f6fz7LZt+sLVC/zcQF+oyS7Komp7a8I4ocf23RWa3NEU2fn7RFxb7Zg31DX+aErsqdO+67AN42PN7rhPQh+ZZ22DxweacknECfRVlX2lLSfT6mcX2992LaZv47Hv/mBlssUhrpbhV+Ntb7Dtmz59Yd91sYdfHrO/z0dvR62cvtn25jZIH3zGB/1W7ltt7nfV2sVHK4ejju8QLZhEv+sZFdwoYC6RGbLO85adVEj+yMGUz28n/sb26HlNzaz302sV3wSGEav0yd92KCMReSPIxCjjkhzvYPpkQmjjrTK5vhDe852CgYUWHb9kv/+1NX6pvXmOv+8W08bZLtXvI5SvvtUSOxn2X47njZ38Cp1AXMzQg3jNtJ052jxhf+uLjHZfCJ8/YIMK95l9inzNcptcRe/6zf725dbXmGclYxe3HRKOxzl1I89T9U4+k3Tc83zXeQW/e5rVo08Z3/PTTlSQTaST/317l/iv7YlBVprM5ic+uyOHnP+zA7MVnv3J7c652gBfqM0uyqIqe2vaOGG6tf/PGXKJJjyPMv9tpKY+bXLsqdO+67ANM7h/mJI3ZT1XlY4PNOaSiBPoqyr6SntOpsnPmji7v/O8irX90PrRJbG5n7k21sbH1Msq8qtkJ+L3xHzsmPA5aUL3QmzyOu17VzrKj3sP828LGqIPLuODRznf5be167wcFdrZ4fpjzIt/yPGCYykJx7WcCnq6QZPh+6zBTuT4XZJT25Pj89dS3mFOzsRYy3G8FRnvuamm99Km43utE7mW4hw+Ov7GGULg2NSl+v2QaWc38/6uwfZbRhB3SeKuJNo2OvpPbMLW7Gi4w7zDXzn0/ZIN4DdSfiO38ylLzx8o8DOz7O9LTlyk7co9x9j6YI7B9ASFm5iocqDUx/i8kcSCwRphIDFR8LvX22Q/3qbZmbfL6nQk26124PDD6vx1B5m1zX9Fifo1kheWo8Xl+Pff9fBfPjtKXzFtbQukq2X6Qk12URZV2FsTxwnDNo9K1h01kx3RjvTVsb+ZT/wCeR11MZsce+q07zpsI0Rf7Vc2PtCYSyJOoK+q7CvtOZkWP2v81ZdEjF2WEduSv39BBX7VYDapfM0xKStN6Jrd6OtsXNlCfB3t/6xMXJDe515D9MFlfLDFym+dzdHOpfTzcYd3uJLDPnNxwwrlfYaSXGY+O1OYfPovUCCvk73WMK7ZRFnqtK/C54/nlMkP4fMDJO9gK9zpJTGc8Z47anovzTq+0dEpS+wUAv60LtRvKZjGdwefjsnovJ0gjVazzeDH7Dz9RfKO8SKnHrbZRCA5EcAdpZvPfP9dx+/bJPyOocTfncnRF29r9jErmImOYzk+18PYv5SM+SYx+xXFrwc0dXe8xNnE334qMJFzlpFx2g67edZHnGf8wfsujs97hLbOxr7/Lf3ZXbsnNsnTa237rdCG64VEUr3AgQB6WrUvrMMuypw4rcremjROmMEMkMxkvbRbepH1H/sFP6Kt9J/22FOnfddhGxLcTlHXHft1jQ+05ZKIE+6gr8L2laacTIOfNb/tscckJldq40rFftWwzI4PuP7IW5pqJvGbBa45vstl4T3GG6APIcYHpiwRd+rws8Ncy3qSd5x7Y37Ec6HhYSbxfBxLNkxtsn77A86U8XI1Iwn8RsaA2/z3qOTC/pwy6Y8Z2ic7mTwtZdJZi1yzdooPKXhHbTo+XWjHdRfeA6aNx12q31w7r2P//aT9N7PKm1ZDa03KZNt2D90zv/GiR19zZR1c6BUGRPEAGR0X/mIHUMcc9KEqhpkJAZeV5IPM73no8R5LBNlouYyNq4ubdZzvZexvb3l8Zx9NvfztPU09VspxTkhOL3ZxfJbiwgYr64/WD/yT0SdS0r/a4V02U/jFsTp8YR12URZ12pvmcYJZ+E7uWhrNMUCTSsG8J11ojz115zoaYpFhgdBPrndMaBkf1JVLIk74g74K21eacrK6/ayZ60mW/Mi7O5o7lfCjYr8acVtor8+hjX8y5hvyxqwPAfqlDn0INT74R+iL9Q5t7KSpmxl/FHWkO4UkNbmiHB1FeUZT67NOI7lGZ1PJm5zsjXXElsR/68nhDGbGknqzWjM7Q3mDdHpApOPkH8l9V0JZaNLxDUI7LpcsDAiTt8e6VL/Pkbya/7f9/+/bAXsW0gqua51Rabdc1gp3b4BJgxlMG88SCU50qU78iDB3lLyuC4R2BeiDVUJfDjq2s03oEy2XsXHHyLLeLb4j7ZLj9xn/k7xc+Z1DYrmNitfBbVt8Xi7omLHlF3ZAkqdu4RHhnc47vMsF5vMXCuhnXb6warsoCw32pnGcsIim1g5/k3PALNmJlj5vSuypO9fRYBvxPLPIRImm8UEduSTiRDHQV2H7SlNOVqfMzTjqe+LzJ3N+tof4+uy/KvarEVz5k1eObXAXX/ucwjF+Ojkx/rQB+hBqfNBDU0+B++y6X5Do13tFHemJHJMPkRAeChNLPYLRP6HmsoayV6jW0Z8j2ytzBqnbwiDiioNcHyuS0wBN3akzRuEvk2iLju9l2nC9vXg/Fd891Cb9fiskdea41Ljto+k525KOIH5xDFZPye0CwKTMi+xe49o4FXu36Kb2pI3OjQ0wx6m+I9rbBBnMdGynl9KPP+aFW4l/qsi/cTsO8iQk0Q4Wl0uVBphEZsxx0L5FSCpndan/Mmxn2rljE0Sz4zbvhb+rhXd65vAuXL3A4QITZnX5wirtosz8SoO9aRsnLKKpO9fGKH8t7V2Ub+d73WiPPXXatxbbMNwINFGgZXxQdS6JOFEc9FXYvtKUk9Ulc7MwkJwQf+Q48cnVun9UsV81SGVWz3q0xc05rPNoZ1mijX8bEHdDjg+409zj5L7AMI/8TpOzcKuEfzPJ4zOSd1pKRxwOU3PhkubR2H+fbx1j2kV83ARbfIUtOrokrYxI5UmOK5OVcXymVIo5mrXVY/KqbDTpOHehj2u9QG618xe57R5qi34PEL/qOdMGLjNocjkaNZOK1fqaRvzq7Z0Cg2DXHQX7SL5gKbqwMi3xnUX1nfJYIyRRvhfDhJiEeUxhd86GhpNXnoT9hmNCY/TidYDB9vaCA4Q2xmfuiGnkR1yOE0oLQXl3r88JNEmkwRdWZRdlocneNOVQJuZ/Kjgo/VfQ8+mkC82xp0771mQbhi8Upu6tlvFBlbkk4kQY0Fdh+0pLTlaXzPsZv/bN/rsLF5g2llXsVw3SfQ2bPNri/PTuAGPUFYr1IfT4INIxbqFiuIAcB4s40V7mhSboz26r6LhN1sTSsDCJNIeaC+cQT8XkNmp/Y1pdqMMpBhit1qRt9d8pGPFKAk3Vce7iqq0On18m6MStLtVvrg1T5iC6WHNVoInUvMeLuPIrYzn1ZIEQIJY4vv8I8Ue71hQY9FXBAE3d/Vf0eGrR8hbSToctiuTGvd/RHJ+LLhJanvN77lGYCWBud8DJLvVfaXHBdxdLEf/F7Zx87qmXdfvCquyiLLTYm6YcyrzLiwD+g9NNTScwmxB76rRvTbFoUcCJAi3jgypzScSJMKCvwvaVlpysLplzC7J7PfVmn83ZzYmzuTX4VYO0EO6zAYw7jXPVo534RoGXDbDBkOODiIcBZBntFP9Q1MFxSWq0iy66ZXU8hyM5EjAIa+ENyQXgz9v/f4dHkOq1AwezAvaa0ndVc0dHvhBoqo7PoeL1As8KbezvUv2+IThUl6NIoSZS/xY+u7NAcHDdFWYG0j8Zfe+x/TFB7pPsVcH9frPDacCzvWkFk9FowodrY74iuY0KdpS16zHaOZFnB9lR5jvekN/us6vEX17UrfFZ2kH71XMAUOSkC7eL5JTHO2jwhVXYRVlosjdNOdQlQS6uA9tbFKbmcplojj112re2WMSdWnrp8S6axgdV5ZKIE2FAX4XtKy05WV0yPyz42CoJ5VcjnpB/GZc8OdELj3Z2k9tid902GGp8EGePMN/i4le3h8rhuAQzqkkTHQ/Yk6OdEQp3lEADs0i+3Ca6COVcjnZ+CAZo5PXdOt40PpP+i4C0o0nHuVt7XWo59TKJj8sRsjbq93ch2fhAfkehpaNuWQFvHvEXiuS9xOO4kADMcHz/QeJ3PkU3PZ9Waqe7BbmfKNDmnIIThPFgm0yMNXHGU3azc04ArBTaX+v5vs8o+8K+borP0o5znwRPqtv8M+fn3wSYJNLiC8u2i7LQZm9acqghQS6rPWTyKlA7ZaI19tRp39psw8AtjvrsJtUyPqgql0ScCAf6KmxfacjJ6pL5fDtGyrrEvmxC+VUiuZ74Uc/2FhUcV0Y8cehTDTYYYnyQZCBATL9t+7fwhgHueMgS+nPR2UjOdrhAPI+aC5ec3LGO9YudIMtKnJYwbZijejvs/x7K+PxcasZFQNrRpONcQHc5JrKX5NXrbtRvaYBUxE5WCe1dz+GUfeuV7RcCXZ/H+x8V3uGz7duZCm10Nv25CCe5S7xICa4NQp98c2iDu+1+RJn8lgu/c8JzMJxM6N+Qf/06LjlNHoF92OXx+YbQd/0ebc0Q3ms0x2e5RSSfSSItvrBMuygLjfamIYeaSXx90RueMp6gMDWXy0Rr7KnLvjXahoEr+Tbk0Y6W8UFVuSTiRDjQV2H7SkNOVpfMuXrZn2rQ6VB+1SDVE1/l2R6XQ/znqNOLye0+lLptMNT4gOMl+Zcx67N9cafoS3ArHSb5HbCTBp9zTkhwE1OvGz6Reo74WkrXbWK/IEcb3M7H1Va2eY4rbC1RAbsFbTrO1ehyqRf4VnCKN7pUvw9R8Vu9k0g7BNJ2tEm3i7/N8X2nmc/dtxN8PjxiZBpdwLNPqZ2eEOR3pmC724V27zm0wdWvPahQhk9SdLDI5XEHhXaXebbH3Xx+rEv9V8Q3pq0HnvJdUyBGcPUCXSeJNPnCMu2iLLTZm5Yc6pQwSbHQQyZ/UZjJ9bLRGHvqtG+NsWixoJe9DR4fVJFLIk6EBX0Vtq/qzsnqkvkiCrdDvggh/arhJIW7fDhNR1x2TUelu243xAZDjA9c+idvqZxjFOikH1fHxRxNuOPYuYco3BEHLbwSklHzf//J2cYNRnlH7CAiz6ott0uk6XXaq0aTjksri3nrJW8leVf0ji7V74eCPNYU0JkbQptpg+9nwmfSklGz0+45Ta2jtbfAu09ndOyR7ZsPpG8nnGEG8UfC/rOJURHOC+1eKmiz6xXKcTDFP1z3bNMkTd+FhMoXLkFb26X+yyDtfNrpKd9tQnuHc3yWu8DH9XipFl9Ypl2UhUZ705BDSZdDXfGUCfcu2so9ao09ddm31ljELa4+C9jfdYwPqsglESfCgb4K21cacrK6ZH62pLEY1eRXI7iFlKKnru6S/yLmImuzpn/mNsQGQ4wPJNYJvy9rw4WZPxijMJcIsxfNRLUDLxecmNI4aZCXfuKP23+mP5cL5SFZDmDU0Wi4Y4K7CDRVx7nV4rz1AntsgiPdhj23C/WbO/rqe9lFXM7cwCvtmJtUbsW82ywhUF1KJLETNhnpL6jv3OUfL5X7jj0Ufrd/xGOh7S05P8/1re9t5VVwPWWwsMejveMUftHpI/G1wLs1Ph8QdGyWp3wvFOgzbqehy/FSTb6wTLsoC432piGHuijIZbmnTLh30VbuUWPsqdO+NdqG4SaFuXhMy/igilwScSIs6KuwfVV3TlaXzHuIL2P5vgadDuVXDb3ELzgW1RNuA92hnJ+942CfWmyw6PggS/e4+ZzNGZ+LNkNtLOMFJmKDy7zGz01M+SQWmpBW3F1ub14itPE85+dnCZ/vJ9BUHeeOfuYdVJrdj+PEr+K+71L93iS08XcBnZEu8jqQ8pkrlH00zgxKzOpscrXXrHCe8By05E2+ftvBn1afLK2A7y/YrnSxivm3vMfGuN0KLxT7vD7i6/BFl8C47PboJf544LsC78cdAXzQpf4rgqsTeK+AjLmSC99z2D+32OB6vFSTLyzLLspCo71pyKEGBD/uu2g6m2nvHelDY+ypy761xiIS3muTRztaxgdV5JKIE2FBX4Xtq7pzsrpkvlb43is16HQov5o2ri9qz9xifZ5TyNGu6EcNssEQ4wMfu0srZWlO9H4NlRdJym+e7QUnpu5Qs5HKJ5x3aOMfoY11OT+/ucCAHejU8RHy27EaXUJo6iZxu7Yudql+cwOAbwWd9B3ibwiflTJp8EuQxWn7jqNMkDJBbiOFn6h+J7zLP0ptdCDFRhcUbFtaNHEZ+F4j/9IrdTGUIlMXG9sttFHkuNy1AO21KT5LuyN8d7DMFn6Xb430W46/RZMvLMsuqpwErdveNORQRyjsbsA9BX1HVWiLPXXat9ZYtIzC7ebXMj4oO5dEnAgP+ipcX9Wdk9Upc+k0zt8V63NIv0rEl8n6HOA9ufvHsu5vMAu87yn/3UdabLDo+CAP3AmNZzn0dUOIL/83kCM5S806ZpQHboXKOEmXlZZbVGxnyzkqr3ZPt6BNx7myHHlu/jW7RUxduBmCc9zcpfrN1RU+V0BfpAtG/k35zIaUpCy+U+emTVCXl6jvC4XvNzozU6mNSrX2PgRo+2KAyRxOx7Y2wPedTdHHvMdppdIzCz3faS7xOz7Xdqn/Spt09N3VIU0ercwZZ1zqFWr2hWXaRVlotDcNOdRrYYDc5ymX50x7wwp9uLbYU6d9a41F3OLqE8930jI+KDuXRJxoTt7fjX1Vd05Wp8xvCd+3oeI+DelXifjTyFcDvCc3UZy12H/SMf/RYoNFxwd5WCGM7biJfbOh7icFqiVueEHFdkqlJW7zqblItXtcaidKKzt/FzTiZQSaquMLyO/W4OiYzZDgMFzrnLVFv/uF31GkvhU3iWom4GbnCHDcBR4rqdqSJbuEdzmn2EalY2HXCrZr5M4drfzk0CdS+ZWFDfB9vYLfMk+eI7XS7pbXBd7pjEPC0y3xmduZM1pAxtxlQk9zfpbbbbbU4bs1+cKy7KIstNpb3TmUNOHz1FMm0qBL2x0RGmNPXfat1TaI+N3dJzzeR8v4oIpcEnGiOXl/N/ZV3TlZnTL/KHx3X8V9GsqvRvrBxdIQC8zcCbi0Sdq/7N/cbaANFh0f5IUbm3ELSNG9NoNlJhmuhs9NTGmszefCCSp+oc9qKlbWgUuIPxFoso5v85jImWmDVHRDMrd6+rxL9ZuT55cC+rJICJxZxw+llfVNNej8SIC+rZr7VM6xz43kXhteGnAmS+k0hWUk7yzI2j0m1e2+4Pku84g/kvqwy+MzN2A66dnWUvLf5cPFua+O36/JF5ZlF2Wh0d405FDShI/vhVtc6aUHpA+Nsacu+9Yaiww/KMyuSi3jgypyScSJ5uT93dhXdedkdcpcKtNR9eJHKL9qGBZ+05wA77lSGEtI+ZTx12azVl/DbDDE+KCIP9sm2FWw8i1SkrE7QCDXvCsxD9xRTdci7scLyoWb0LlIoMk6fsUjWF+2A6Ho2FaI25jbot/c4LbIZSB3yW832idBz6ZXrO89VleS7/FKuZ1+F+RX9CZpbrLdHDF22RHIDTJHGuYHpaOlWXXvpNIzWzzf47rQ3oku9V8GaQfLek8ZXysw4bfVQ0e0+sIy7aIsNNqbhhzqmvAOPuVOpMt1DyrUT42xpy771hqLllOY3eaaxgdV5JKIE83J+7utrzTkZHXKfEL47ioJ6VcNp0u0jxnEly2S5hiMfNc00AZDjA/yciDH+Oqx1YlgJ+duCEo3PUA7G6m5zBOUb79jO0+ZNlY7fJ7bDbeBQJN1fJTcViqj1c14zaYvBd+lTfo9FnCQtIX4m8HzHO/+pSCJIOJ3v5rnkHI7/U1ha4WmTX64TqRwg+e673WYY31S3gSxT5Dxx4zP3RNk6FMiJNr1+JmK7XZoW3weDpj8LxHaWlJgUman4zvU6Qursouy0GhvGnKop4JcFnvI5aHQ1gqFcVFj7KnLvjXaBtncPMRucy3jg6pyScSJ5uT93dZXGnKyOmX+W8F4NqRflXKIs4HetYf4klVJoo04BxpmgyHHB3n5K6P/o00Wp0J+KTehdDNAO1JtPrP1XutFb3H2CAre79DGLJq62jbm+B7JXY7jKU55EQHtOs6tPqfVQzQ7P8zRlGeJgJ+3FuYu4i8FaYt+LxeCRL9H//YJujLUoCTCcEx4D+33O0g7E4rUeOV2TN32aOc96Vv0jXYpu9TOvyT4jjS+B+qX6MigWdkfYXyPywRb2+Izd1mnbymHB1RsByxXL3Ce8LfLhN9bpy+syi7KQqO9acihfgSSyxahnW9K46LG2FOXfWu0DSL+mPcxj9+nZXxQVS6JONGcvL/b+kpDTlanzCVf21uhTofyq0Ty3RwhS4/8zohN0S7rkQbaYMjxQV56mN88bv+b2ZlvFrS/kN9dGSzShNJwgHa44vEm0TB1zS6Qfu5Q8RUq7pjBlYIKIQ1ETtoBh4YFh2l24LHPyqDO41XadNzluH2vbWs8MaGyOee7bLJBYFmL9Zs7XuNb34pLXI44fL6sGmyzHf+eq4P3jPQTehWcu4jRBFDX+nG9xE/A1n0hW7RK7nIpJOd/xjM+Mx6oX27biad5TF9LRxgXEF9zr23x+VWg5J/7TfccPj9AfKkhjn7ra3cr84VV2UVZaLM3LTlUiAFhtPD9kvIfAd5J9ZVV0Rp76rJvjbFIksda5u9WZPglLeODqnJJxIlwoK/C9pWGnKxOmd8VvntNwe8+SPlru4fyqwbubg5psXA5yRO9aXALCTPsf1tvv2809m9NssGQ4wMXHhN/ejy6dHRPSCd6UHAargkXNzHFHQ24aSclfG6vHbZO/5d9XtjvKKPo/zQhAXft3BsFBxJ/5XyHnRTuBt2iGEeSXEn6SPXtYtem41w7UoCIapDtTfz78RzvstA66CMt12+uXrTPhQtcGQTXY1XSreerC+jvEmtPeY8HzSR+NVx76RQSJip8J8VNXHjN2P0qj7a45FpDffZ/ya9OouultCFqC0b2NWQT2DyT0YusD2x7fO6nMJfnDNgkNN7GG3LbReGyUPCA5Mvb6vSFVdlFWWizNy051O+CA0Lzdw9tPnogp+1uoPC7ydoQe+qyb222QUIbXJmF2XYCYZejjVQ9Pqgyl0ScCAP6KmxfacnJ6pT5SQp/70bkm3bk+NuQftWwn2nvEfN3UXs+F6pyJ+oW2nHnT6t/Aw21wZDjAxe4+wEOW3/3PLQj5erq+RRM5444rGSMYcJzUuIfkm8TfkLhd0cPEb87w3WH4VcqdiyPM+LkLdLRroC6awxGvBD66R1Vf2uxRh3nyjlwenWK5B0eXBuDCaf+ztpGm/VbmhxzvWRzF9PGGQ8duSzovm/Nsh02kH6k/GUhNlP4utxVcYXCrYJzF6ps83yvgwF0rAyiSd3vjjJyvbRNKluQdyfFnoQN783RNyZxvCcMHtoWn6VLDF2OqfbYBD/++U8eCThng1uE357coajFF1ZlF2Whzd605FCSXPLWyo900uw0u0rZdamjgew5qg+tsacu+9ZmGwau7i23E9Tk8vcz3k/D+KDKXBJxIgzoq7B9pSUnq1Pmg8J3v/b87qgcTd7d9iH9alyHshaNzHe8Jb8KB9xp8wNWb82ztME2GHJ84AJX7m7c5olLQzpRqb6Oz8TB14yJjGhS26cYew/JtY2K1DZMg7vh/JFjG2uYNh47tnEzQ6477L9dVjKptSKjn6rebaNRx7l6TFLw+CAkxK9T3mWG1bOxlODbFv3eIOjZvw7vsJPC7a5YL7zPb3K7CMoMvq7FkiiXY1xcHb1RagZSf650bGcTFd9FnKWn2xTIK35KYsjBJ7rK5oHQL3lkeoCZRLue0cdz7He23X9FcBN0rpd3Je3e1CGe66FTbym7Julayj62WKcvrMouykKTvWnKoe6T/861yD5OpMg4OSFgyms8p3pLlWiNPXXZt7ZYRMQv9hxO/M1xm5NnTTxoGB9UmUsiToQBfRW2r7TkZHWPKZ8J3+9SxmZOrP9OOHwupF81vMgxtjxj8x3fC7elkjNmEnd1w20w5PjAhQXCbz4T2olKN+v67LrmdmsO2raiHXsnPd9zdsZEq7RDqwjcbeR7Hdvgdiq67ubmLtiZbZXwMumaEJd0Kv7sUPA+des41050rH5VLAiZHTHSDqhfgmNabAdxE5Re96st+v2voGe7cny3GSScoqkXbRVduHktvNPnnEFrO00esYpW5AcCyPQENYc3ORKhNEwcSC6iFr0Z+xPp3Hkf3zWXt3bkapp6nDRrR8RRQaffp/hSk3RFuwpuJya/3qQM2vtsAr2oi+Iz93tcSkAlj7k+Ib8SdVJ8Sk4Wfie5lIAGX1iVXZSFJnvTlENJchlL0XczCRHt1rsj6Ei8VmmPzVN/WD0doHrRGnvqsm9tsYiI37S1KfE7zb+ta8j4oOpcEnGiOOirsH2lKSerc0y5lPh7HH7l9Gfb6U9JEdccPaRflfxiDxNb9hewD2lSfKgFNhh6fOBCUgc/UAn3J3I3697zbOtzxmTo+QLv2Uv5JsVDlQ9ZKrTvusLHrfi7rhT9rug3hyJrp/hQxe+jUccncuiycd7rC7SxtUv0WzriluWQTS3g0cRn7gcaAA+m9I/5vRdsEI+O4fXYiVyz2y2+CnvTw+kvEr53kJoDJ7+PlO/Y4lL6/5puYw4JE6UMqIvuGCmDHvJbdLzk4CsiBki+4MzUuDM7/KPdlGbwfSiWdF2jqcddubZ22Xd5bgfv3RKfJZvNc/rNyPwyMxAuUqaM811/Wfs7YGPT05yDyzp8YZV2URaa7E1TDpUml/c2v+yxzzI7MfHT/vcHCZ3Nst0xCnw0t0Wxp0771mQbBmkX2177XVH5mwMNGR/UkUsiThQDfRW2r7TlZHWOKclOREsXPBoZr4n9vmn2fePfbWKza9nk0H6VSC69ZnaZRycDrha0jztU/smuOvUh5PjAheSJhQ1lOFJuG7zvdndpx+YEhbm1/WaOROFqILlwNfyeOraxWEhkegL00X/231eTTh4L7/yBqq8prlHH32TosVkRX+vheKPPbuoy/Zb6xfzO2bGgsNT2/TNmML0lsN5tpXwLedJqr2+ivVsY3DeNzcxgNauG7Tb6/90k5lh0X4B34epXa6jpytngzwy7SZancdmBv89Rj41f3O84aDfHG+d1mf/aLbTxldJvhDcL0PGFvWcU5rTc24x+fU75b6qvwxdWbRdlocXetOVQez306CpNXVRNmxT/lGMytAq0xp66cx0ttiH1UZFyfnWPD+rKJREn/EFfhe0rbTlZnWPKiKUkl1JJi6NmotSn/Fhov0rEX4IZf24H6KdbVE1ppbr0IfT4IC8jZedAcynMbqsIo/RnrKMyScYX++JLAr2vWc0wuz7epSQxoSbFH1HxGsOHmTbueLzLcpucTdiExhjcdqrnwsq8mJ0crxgjrHrXjVYdP5LiUF5SvosJ+uykX3TZgFlwOEv5djq3Ub9NMnLfMTAY572jRFtanWOAk9wBZiYGZgQKHNFzmZqJ8RdPGPsYjk1wmJ10ZkEjWoj7be1iWcD34I5rDyuQz3BigDAemwA4HfO30a7Js7HYafzFRo/vPET5drLdzZhU2m31fcK+9zM70dbThf5rJEWOJo6ui7U3YNuP+7rHFHbXxNGU9zHxbrpyX1iHXZRF3famNYfal1MuH0he8L4tfOYOhVlMbXPs0ZDraIhFUZ4ifbdpz7VkQN3jgzpzScSJ5uT9be4rbTlZnX6WG2ubuThzWuw7/VlcNn3y1frb0wkZ+Y7/QvpVw7mUNk8Hks+tmG5ua5ENljk+yEO00PuJ5AuvQcJwTkAcajDO0Kz07bKDkpkQyf9x3A4Ix+1kygiF363cjfRbnTMDgtFYAmV2gZoVzpt2QF1lTc4NNli8tu8Rvc8HG0DNTdyD6LrUiccTVlZfEzL8ZpMzc/Hi5sDJXzLJiR9P61Ugl+02yYlPKM2yA4grVt/jshq1/76pYLK60A46RmPt/7D9cJzC3DbeTfwkfoF/h/Vj7xL9+Nr+u5m4mVvC+/TYAcJ3+50f7QB7RYC2q/CFddlFWcDeeOZbPX0ek4uxpZe2Pzdm9Gef1blfVp7mJNIaZb9Ra+zRkutosY0tVu/iPtrcVzPPs71uHx8gTqCv6uwrbTlZt44pQ/tVMz48H8ttP9l+DbmJ6ozVv8GW2WAV4wOJXvqzELaGQCpzYk5rPcQBAAAgIMnLXm5CJCAQg8TvuBiGaABA7EHsAQAA5GQAdCnRyd5TEEU2f9OfWk9YvQUAABCKeUxyvBliAYGTvWT92xkQDQCIPYg9AACAnAyALsTs4je7xE2ZymkQRzZR7epDEAUAAICAJC8zMUeasfgKQsHdg/AUYgEAsQexBwAAkJMB0IWYssumVJEpkzof4sjmmHVYRmi9EAcAAICAXEkkx8chEhAIs+vhNzMAw90oAADEHgAAQE4GQDcS3amyEaLIZrsVlikmvwziAAAAEJgv9P+XnPVDJCAQG4ivXbkOogEAsQexBwAAkJMB0GUcsrZ3DKLIZk8sURyCOAAAAARmZSIxPgORgICcZAZfJqdBiQQAEHsQewAAADkZAN1EtDiFi8UzmN55LllhmRoz6yESAAAADuzsPLc7z0jnWZvyd2djifGPzjMHogMBecEMwO5DLAAg9iD2AAAAcjIAuojlNucxdfynQxzpjFgn9ZhQdB0AAIAb+5mkd5D5O3NHxdfY3+yG6EBAzAUyE4wuHoZoAEDsQewBAADkZAC0hH2d52Pn+d55zlubi2NKYY91ntedZzbElc1fnWczxAAAAMCDz0zSe4H5u/gExl2IDQRmmPjalWshGgAQexB7AAAAORkALWCIsS0z+b2EJssT/U2TFUDedp4+iAsAAAAol19MYD6U+BtzVD3aqfeKsGINwnOV0cMJQu1KABB7EHsAAAA5GQDt4Brxi07x5yVhQhwAAACohJtMII7Xa51GkzUEzb+/QIAGJTCXJi9vSurhd4gGAMQexB4AAEBOBkBLuEzpE+L3aGo5FQAAAACUhJloeJUIxhvsf1vZeZ7Q5O4Qc9EZLvkAoTGTYE9TEsNBiAgAxB6ICwAAkJMB0AKWE1+z3yxGHYF4AAAAgOoxxyHN5WXm4mazE2ScJo+2j3ae051nMUQEAnPe6tsvSt8tYZLGR53nCk3WG14E0QGA2AMAAAA5GQANxdTnf2Jt7qu1p4UQCwAAAABAd2CSv0seDybJAAAAAACQkwEAAvA/pXb25W8+iX8AAAm0dEVYdE1hdGhNTAA8bWF0aCB4bWxucz0iaHR0cDovL3d3dy53My5vcmcvMTk5OC9NYXRoL01hdGhNTCI+PG1zdHlsZSBtYXRoc2l6ZT0iMTZweCI+PG1pPiYjeDNDMTs8L21pPjxtbz46PC9tbz48bW8+JiN4QTA7PC9tbz48bWk+QTwvbWk+PG1pPkQ8L21pPjxtaT5NPC9taT48bWk+TTwvbWk+PG1vPiYjeEEwOzwvbW8+PG1pPnA8L21pPjxtaT5lPC9taT48bWk+bjwvbWk+PG1pPmE8L21pPjxtaT5sPC9taT48bWk+dDwvbWk+PG1pPnk8L21pPjxtbz4mI3hBMDs8L21vPjxtaT5wPC9taT48bWk+YTwvbWk+PG1pPnI8L21pPjxtaT5hPC9taT48bWk+bTwvbWk+PG1pPmU8L21pPjxtaT50PC9taT48bWk+ZTwvbWk+PG1pPnI8L21pPjxtbz4oPC9tbz48bWk+cDwvbWk+PG1pPm88L21pPjxtaT5zPC9taT48bWk+aTwvbWk+PG1pPnQ8L21pPjxtaT5pPC9taT48bWk+djwvbWk+PG1pPmU8L21pPjxtbz4pPC9tbz48bXNwYWNlIGxpbmVicmVhaz0ibmV3bGluZSIvPjxtaT56PC9taT48bW8+OjwvbW8+PG1vPiYjeEEwOzwvbW8+PG1pPmE8L21pPjxtaT51PC9taT48bWk+eDwvbWk+PG1pPmk8L21pPjxtaT5sPC9taT48bWk+aTwvbWk+PG1pPmE8L21pPjxtaT5yPC9taT48bWk+eTwvbWk+PG1vPiYjeEEwOzwvbW8+PG1pPnY8L21pPjxtaT5hPC9taT48bWk+cjwvbWk+PG1pPmk8L21pPjxtaT5hPC9taT48bWk+YjwvbWk+PG1pPmw8L21pPjxtaT5lPC9taT48bW8+JiN4QTA7PC9tbz48bWk+aTwvbWk+PG1pPm48L21pPjxtaT50PC9taT48bWk+cjwvbWk+PG1pPm88L21pPjxtaT5kPC9taT48bWk+dTwvbWk+PG1pPmM8L21pPjxtaT5lPC9taT48bWk+ZDwvbWk+PG1vPiYjeEEwOzwvbW8+PG1pPnQ8L21pPjxtaT5vPC9taT48bW8+JiN4QTA7PC9tbz48bWk+czwvbWk+PG1pPnA8L21pPjxtaT5sPC9taT48bWk+aTwvbWk+PG1pPnQ8L21pPjxtbz4mI3hBMDs8L21vPjxtaT5vPC9taT48bWk+YjwvbWk+PG1pPmo8L21pPjxtaT5lPC9taT48bWk+YzwvbWk+PG1pPnQ8L21pPjxtaT5pPC9taT48bWk+djwvbWk+PG1pPmU8L21pPjxtbz4uPC9tbz48bXNwYWNlIGxpbmVicmVhaz0ibmV3bGluZSIvPjxtaT4mI3gzQkM7PC9taT48bW8+OjwvbW8+PG1vPiYjeEEwOzwvbW8+PG1pPmQ8L21pPjxtaT51PC9taT48bWk+YTwvbWk+PG1pPmw8L21pPjxtbz4mI3hBMDs8L21vPjxtaT52PC9taT48bWk+YTwvbWk+PG1pPnI8L21pPjxtaT5pPC9taT48bWk+YTwvbWk+PG1pPmI8L21pPjxtaT5sPC9taT48bWk+ZTwvbWk+PG1vPiYjeEEwOzwvbW8+PG1pPm88L21pPjxtaT5yPC9taT48bW8+JiN4QTA7PC9tbz48bWk+czwvbWk+PG1pPmM8L21pPjxtaT5hPC9taT48bWk+bDwvbWk+PG1pPmU8L21pPjxtaT5kPC9taT48bW8+JiN4QTA7PC9tbz48bWk+ZDwvbWk+PG1pPnU8L21pPjxtaT5hPC9taT48bWk+bDwvbWk+PG1vPiYjeEEwOzwvbW8+PG1pPnY8L21pPjxtaT5hPC9taT48bWk+cjwvbWk+PG1pPmk8L21pPjxtaT5hPC9taT48bWk+YjwvbWk+PG1pPmw8L21pPjxtaT5lPC9taT48bW8+LjwvbW8+PG1zcGFjZSBsaW5lYnJlYWs9Im5ld2xpbmUiLz48bW8+fDwvbW8+PG1vPiYjeEI3OzwvbW8+PG1zdWI+PG1vPnw8L21vPjxtbj4yPC9tbj48L21zdWI+PG1vPjo8L21vPjxtbz4mI3hBMDs8L21vPjxtaT5FPC9taT48bWk+dTwvbWk+PG1pPmM8L21pPjxtaT5sPC9taT48bWk+aTwvbWk+PG1pPmQ8L21pPjxtaT5lPC9taT48bWk+YTwvbWk+PG1pPm48L21pPjxtaT5uPC9taT48bWk+bzwvbWk+PG1pPnI8L21pPjxtaT5tPC9taT48bXNwYWNlIGxpbmVicmVhaz0ibmV3bGluZSIvPjxtbz58PC9tbz48bW8+JiN4Qjc7PC9tbz48bXN1Yj48bW8+fDwvbW8+PG1uPjE8L21uPjwvbXN1Yj48bW8+OjwvbW8+PG1vPiYjeEEwOzwvbW8+PG1pPkw8L21pPjxtbj4xPC9tbj48bWk+bjwvbWk+PG1pPm88L21pPjxtaT5yPC9taT48bWk+bTwvbWk+PG1vPi48L21vPjxtc3BhY2UgbGluZWJyZWFrPSJuZXdsaW5lIi8+PG1pPm48L21pPjxtbz4sPC9tbz48bWk+bTwvbWk+PG1vPiYjeEEwOzwvbW8+PG1vPjo8L21vPjxtbz4mI3hBMDs8L21vPjxtaT5uPC9taT48bWk+dTwvbWk+PG1pPm08L21pPjxtaT5iPC9taT48bWk+ZTwvbWk+PG1pPnI8L21pPjxtbz4mI3hBMDs8L21vPjxtaT5vPC9taT48bWk+ZjwvbWk+PG1pPnM8L21pPjxtaT5hPC9taT48bWk+bTwvbWk+PG1pPnA8L21pPjxtaT5sPC9taT48bWk+ZTwvbWk+PG1pPnM8L21pPjxtbz4mI3hBMDs8L21vPjxtaT5hPC9taT48bWk+bjwvbWk+PG1pPmQ8L21pPjxtbz4mI3hBMDs8L21vPjxtaT5mPC9taT48bWk+ZTwvbWk+PG1pPmE8L21pPjxtaT50PC9taT48bWk+dTwvbWk+PG1pPnI8L21pPjxtaT5lPC9taT48bWk+czwvbWk+PG1vPiYjeEEwOzwvbW8+PG1pPnI8L21pPjxtaT5lPC9taT48bWk+czwvbWk+PG1pPnA8L21pPjxtaT5lPC9taT48bWk+YzwvbWk+PG1pPnQ8L21pPjxtaT5pPC9taT48bWk+djwvbWk+PG1pPmU8L21pPjxtaT5sPC9taT48bWk+eTwvbWk+PC9tc3R5bGU+PC9tYXRoPjmUxZcAAAAASUVORK5CYII=\&quot;,\&quot;slideId\&quot;:277,\&quot;accessibleText\&quot;:\&quot;rho colon space A D M M space p e n a l t y space p a r a m e t e r left parenthesis p o s i t i v e right parenthesis\\nz colon space a u x i l i a r y space v a r i a b l e space i n t r o d u c e d space t o space s p l i t space o b j e c t i v e.\\nmu colon space d u a l space v a r i a b l e space o r space s c a l e d space d u a l space v a r i a b l e.\\nvertical line times vertical line subscript 2 colon space E u c l i d e a n n o r m\\nvertical line times vertical line subscript 1 colon space L 1 n o r m.\\nn comma m space colon space n u m b e r space o f s a m p l e s space a n d space f e a t u r e s space r e s p e c t i v e l y\&quot;,\&quot;imageHeight\&quot;:160.95200000000003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A01C701-EF96-4094-AA16-5DEE2FD5C29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2334</Words>
  <Application>Microsoft Office PowerPoint</Application>
  <PresentationFormat>Custom</PresentationFormat>
  <Paragraphs>409</Paragraphs>
  <Slides>29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Segoe UI</vt:lpstr>
      <vt:lpstr>Wingdings,Sans-Serif</vt:lpstr>
      <vt:lpstr>Nunito</vt:lpstr>
      <vt:lpstr>Montserrat</vt:lpstr>
      <vt:lpstr>Klein Bold</vt:lpstr>
      <vt:lpstr>Arial</vt:lpstr>
      <vt:lpstr>Helios Bold</vt:lpstr>
      <vt:lpstr>Open Sans</vt:lpstr>
      <vt:lpstr>Helvetica</vt:lpstr>
      <vt:lpstr>Cambria Math</vt:lpstr>
      <vt:lpstr>Helios</vt:lpstr>
      <vt:lpstr>Calibri</vt:lpstr>
      <vt:lpstr>Wingdings</vt:lpstr>
      <vt:lpstr>Arial,Sans-Serif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Presentation</dc:title>
  <dc:creator>Kishore B</dc:creator>
  <cp:lastModifiedBy>Kabilan K</cp:lastModifiedBy>
  <cp:revision>6</cp:revision>
  <dcterms:created xsi:type="dcterms:W3CDTF">2006-08-16T00:00:00Z</dcterms:created>
  <dcterms:modified xsi:type="dcterms:W3CDTF">2025-10-15T13:40:32Z</dcterms:modified>
  <dc:identifier>DAGefKhATGY</dc:identifier>
</cp:coreProperties>
</file>